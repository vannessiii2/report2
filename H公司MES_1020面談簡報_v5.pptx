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2.xml" ContentType="application/vnd.openxmlformats-officedocument.drawingml.chart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3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入庫紀錄</c:v>
          </c:tx>
          <c:spPr>
            <a:solidFill>
              <a:srgbClr val="087F8C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725">
                    <a:latin typeface="Microsoft JhengHei"/>
                    <a:ea typeface="Microsoft JhengHei"/>
                    <a:cs typeface="Microsoft JhengHei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排程日前入庫</c:v>
                </c:pt>
                <c:pt idx="1">
                  <c:v>同日入庫</c:v>
                </c:pt>
                <c:pt idx="2">
                  <c:v>排程日後入庫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7611</c:v>
                </c:pt>
                <c:pt idx="1">
                  <c:v>1199</c:v>
                </c:pt>
                <c:pt idx="2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E4-4853-B5A7-95486A67C72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majorGridlines>
          <c:spPr>
            <a:ln w="9525">
              <a:solidFill>
                <a:srgbClr val="E0E8EA"/>
              </a:solidFill>
            </a:ln>
          </c:spPr>
        </c:majorGridlines>
        <c:numFmt formatCode="#,##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  <a:endParaRPr lang="zh-TW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入庫</c:v>
          </c:tx>
          <c:spPr>
            <a:ln w="23813">
              <a:solidFill>
                <a:srgbClr val="087F8C"/>
              </a:solidFill>
            </a:ln>
          </c:spPr>
          <c:marker>
            <c:symbol val="none"/>
          </c:marker>
          <c:cat>
            <c:strRef>
              <c:f>'Chart Data'!$A$2:$A$49</c:f>
              <c:strCache>
                <c:ptCount val="48"/>
                <c:pt idx="0">
                  <c:v>08-27</c:v>
                </c:pt>
                <c:pt idx="1">
                  <c:v>08-28</c:v>
                </c:pt>
                <c:pt idx="2">
                  <c:v>08-29</c:v>
                </c:pt>
                <c:pt idx="3">
                  <c:v>08-30</c:v>
                </c:pt>
                <c:pt idx="4">
                  <c:v>08-31</c:v>
                </c:pt>
                <c:pt idx="5">
                  <c:v>09-01</c:v>
                </c:pt>
                <c:pt idx="6">
                  <c:v>09-02</c:v>
                </c:pt>
                <c:pt idx="7">
                  <c:v>09-03</c:v>
                </c:pt>
                <c:pt idx="8">
                  <c:v>09-04</c:v>
                </c:pt>
                <c:pt idx="9">
                  <c:v>09-05</c:v>
                </c:pt>
                <c:pt idx="10">
                  <c:v>09-06</c:v>
                </c:pt>
                <c:pt idx="11">
                  <c:v>09-07</c:v>
                </c:pt>
                <c:pt idx="12">
                  <c:v>09-08</c:v>
                </c:pt>
                <c:pt idx="13">
                  <c:v>09-09</c:v>
                </c:pt>
                <c:pt idx="14">
                  <c:v>09-10</c:v>
                </c:pt>
                <c:pt idx="15">
                  <c:v>09-11</c:v>
                </c:pt>
                <c:pt idx="16">
                  <c:v>09-12</c:v>
                </c:pt>
                <c:pt idx="17">
                  <c:v>09-13</c:v>
                </c:pt>
                <c:pt idx="18">
                  <c:v>09-14</c:v>
                </c:pt>
                <c:pt idx="19">
                  <c:v>09-15</c:v>
                </c:pt>
                <c:pt idx="20">
                  <c:v>09-16</c:v>
                </c:pt>
                <c:pt idx="21">
                  <c:v>09-17</c:v>
                </c:pt>
                <c:pt idx="22">
                  <c:v>09-18</c:v>
                </c:pt>
                <c:pt idx="23">
                  <c:v>09-19</c:v>
                </c:pt>
                <c:pt idx="24">
                  <c:v>09-20</c:v>
                </c:pt>
                <c:pt idx="25">
                  <c:v>09-21</c:v>
                </c:pt>
                <c:pt idx="26">
                  <c:v>09-22</c:v>
                </c:pt>
                <c:pt idx="27">
                  <c:v>09-23</c:v>
                </c:pt>
                <c:pt idx="28">
                  <c:v>09-24</c:v>
                </c:pt>
                <c:pt idx="29">
                  <c:v>09-25</c:v>
                </c:pt>
                <c:pt idx="30">
                  <c:v>09-26</c:v>
                </c:pt>
                <c:pt idx="31">
                  <c:v>09-27</c:v>
                </c:pt>
                <c:pt idx="32">
                  <c:v>09-28</c:v>
                </c:pt>
                <c:pt idx="33">
                  <c:v>09-29</c:v>
                </c:pt>
                <c:pt idx="34">
                  <c:v>09-30</c:v>
                </c:pt>
                <c:pt idx="35">
                  <c:v>10-01</c:v>
                </c:pt>
                <c:pt idx="36">
                  <c:v>10-02</c:v>
                </c:pt>
                <c:pt idx="37">
                  <c:v>10-03</c:v>
                </c:pt>
                <c:pt idx="38">
                  <c:v>10-04</c:v>
                </c:pt>
                <c:pt idx="39">
                  <c:v>10-05</c:v>
                </c:pt>
                <c:pt idx="40">
                  <c:v>10-06</c:v>
                </c:pt>
                <c:pt idx="41">
                  <c:v>10-07</c:v>
                </c:pt>
                <c:pt idx="42">
                  <c:v>10-08</c:v>
                </c:pt>
                <c:pt idx="43">
                  <c:v>10-09</c:v>
                </c:pt>
                <c:pt idx="44">
                  <c:v>10-10</c:v>
                </c:pt>
                <c:pt idx="45">
                  <c:v>10-11</c:v>
                </c:pt>
                <c:pt idx="46">
                  <c:v>10-12</c:v>
                </c:pt>
                <c:pt idx="47">
                  <c:v>10-13</c:v>
                </c:pt>
              </c:strCache>
            </c:strRef>
          </c:cat>
          <c:val>
            <c:numRef>
              <c:f>'Chart Data'!$B$2:$B$49</c:f>
              <c:numCache>
                <c:formatCode>General</c:formatCode>
                <c:ptCount val="48"/>
                <c:pt idx="0">
                  <c:v>353</c:v>
                </c:pt>
                <c:pt idx="1">
                  <c:v>222</c:v>
                </c:pt>
                <c:pt idx="2">
                  <c:v>55</c:v>
                </c:pt>
                <c:pt idx="3">
                  <c:v>0</c:v>
                </c:pt>
                <c:pt idx="4">
                  <c:v>324</c:v>
                </c:pt>
                <c:pt idx="5">
                  <c:v>286</c:v>
                </c:pt>
                <c:pt idx="6">
                  <c:v>216</c:v>
                </c:pt>
                <c:pt idx="7">
                  <c:v>277</c:v>
                </c:pt>
                <c:pt idx="8">
                  <c:v>254</c:v>
                </c:pt>
                <c:pt idx="9">
                  <c:v>84</c:v>
                </c:pt>
                <c:pt idx="10">
                  <c:v>0</c:v>
                </c:pt>
                <c:pt idx="11">
                  <c:v>245</c:v>
                </c:pt>
                <c:pt idx="12">
                  <c:v>219</c:v>
                </c:pt>
                <c:pt idx="13">
                  <c:v>282</c:v>
                </c:pt>
                <c:pt idx="14">
                  <c:v>318</c:v>
                </c:pt>
                <c:pt idx="15">
                  <c:v>251</c:v>
                </c:pt>
                <c:pt idx="16">
                  <c:v>74</c:v>
                </c:pt>
                <c:pt idx="17">
                  <c:v>0</c:v>
                </c:pt>
                <c:pt idx="18">
                  <c:v>267</c:v>
                </c:pt>
                <c:pt idx="19">
                  <c:v>253</c:v>
                </c:pt>
                <c:pt idx="20">
                  <c:v>250</c:v>
                </c:pt>
                <c:pt idx="21">
                  <c:v>197</c:v>
                </c:pt>
                <c:pt idx="22">
                  <c:v>217</c:v>
                </c:pt>
                <c:pt idx="23">
                  <c:v>0</c:v>
                </c:pt>
                <c:pt idx="24">
                  <c:v>0</c:v>
                </c:pt>
                <c:pt idx="25">
                  <c:v>296</c:v>
                </c:pt>
                <c:pt idx="26">
                  <c:v>294</c:v>
                </c:pt>
                <c:pt idx="27">
                  <c:v>272</c:v>
                </c:pt>
                <c:pt idx="28">
                  <c:v>258</c:v>
                </c:pt>
                <c:pt idx="29">
                  <c:v>9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381</c:v>
                </c:pt>
                <c:pt idx="34">
                  <c:v>284</c:v>
                </c:pt>
                <c:pt idx="35">
                  <c:v>321</c:v>
                </c:pt>
                <c:pt idx="36">
                  <c:v>253</c:v>
                </c:pt>
                <c:pt idx="37">
                  <c:v>42</c:v>
                </c:pt>
                <c:pt idx="38">
                  <c:v>0</c:v>
                </c:pt>
                <c:pt idx="39">
                  <c:v>307</c:v>
                </c:pt>
                <c:pt idx="40">
                  <c:v>273</c:v>
                </c:pt>
                <c:pt idx="41">
                  <c:v>248</c:v>
                </c:pt>
                <c:pt idx="42">
                  <c:v>219</c:v>
                </c:pt>
                <c:pt idx="43">
                  <c:v>55</c:v>
                </c:pt>
                <c:pt idx="44">
                  <c:v>0</c:v>
                </c:pt>
                <c:pt idx="45">
                  <c:v>0</c:v>
                </c:pt>
                <c:pt idx="46">
                  <c:v>365</c:v>
                </c:pt>
                <c:pt idx="47">
                  <c:v>311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EAF-48EF-B29F-005BCDFD4167}"/>
            </c:ext>
          </c:extLst>
        </c:ser>
        <c:ser>
          <c:idx val="1"/>
          <c:order val="1"/>
          <c:tx>
            <c:v>入洗</c:v>
          </c:tx>
          <c:spPr>
            <a:ln w="23813">
              <a:solidFill>
                <a:srgbClr val="CE822B"/>
              </a:solidFill>
            </a:ln>
          </c:spPr>
          <c:marker>
            <c:symbol val="none"/>
          </c:marker>
          <c:cat>
            <c:strRef>
              <c:f>'Chart Data'!$C$2:$C$49</c:f>
              <c:strCache>
                <c:ptCount val="48"/>
                <c:pt idx="0">
                  <c:v>08-27</c:v>
                </c:pt>
                <c:pt idx="1">
                  <c:v>08-28</c:v>
                </c:pt>
                <c:pt idx="2">
                  <c:v>08-29</c:v>
                </c:pt>
                <c:pt idx="3">
                  <c:v>08-30</c:v>
                </c:pt>
                <c:pt idx="4">
                  <c:v>08-31</c:v>
                </c:pt>
                <c:pt idx="5">
                  <c:v>09-01</c:v>
                </c:pt>
                <c:pt idx="6">
                  <c:v>09-02</c:v>
                </c:pt>
                <c:pt idx="7">
                  <c:v>09-03</c:v>
                </c:pt>
                <c:pt idx="8">
                  <c:v>09-04</c:v>
                </c:pt>
                <c:pt idx="9">
                  <c:v>09-05</c:v>
                </c:pt>
                <c:pt idx="10">
                  <c:v>09-06</c:v>
                </c:pt>
                <c:pt idx="11">
                  <c:v>09-07</c:v>
                </c:pt>
                <c:pt idx="12">
                  <c:v>09-08</c:v>
                </c:pt>
                <c:pt idx="13">
                  <c:v>09-09</c:v>
                </c:pt>
                <c:pt idx="14">
                  <c:v>09-10</c:v>
                </c:pt>
                <c:pt idx="15">
                  <c:v>09-11</c:v>
                </c:pt>
                <c:pt idx="16">
                  <c:v>09-12</c:v>
                </c:pt>
                <c:pt idx="17">
                  <c:v>09-13</c:v>
                </c:pt>
                <c:pt idx="18">
                  <c:v>09-14</c:v>
                </c:pt>
                <c:pt idx="19">
                  <c:v>09-15</c:v>
                </c:pt>
                <c:pt idx="20">
                  <c:v>09-16</c:v>
                </c:pt>
                <c:pt idx="21">
                  <c:v>09-17</c:v>
                </c:pt>
                <c:pt idx="22">
                  <c:v>09-18</c:v>
                </c:pt>
                <c:pt idx="23">
                  <c:v>09-19</c:v>
                </c:pt>
                <c:pt idx="24">
                  <c:v>09-20</c:v>
                </c:pt>
                <c:pt idx="25">
                  <c:v>09-21</c:v>
                </c:pt>
                <c:pt idx="26">
                  <c:v>09-22</c:v>
                </c:pt>
                <c:pt idx="27">
                  <c:v>09-23</c:v>
                </c:pt>
                <c:pt idx="28">
                  <c:v>09-24</c:v>
                </c:pt>
                <c:pt idx="29">
                  <c:v>09-25</c:v>
                </c:pt>
                <c:pt idx="30">
                  <c:v>09-26</c:v>
                </c:pt>
                <c:pt idx="31">
                  <c:v>09-27</c:v>
                </c:pt>
                <c:pt idx="32">
                  <c:v>09-28</c:v>
                </c:pt>
                <c:pt idx="33">
                  <c:v>09-29</c:v>
                </c:pt>
                <c:pt idx="34">
                  <c:v>09-30</c:v>
                </c:pt>
                <c:pt idx="35">
                  <c:v>10-01</c:v>
                </c:pt>
                <c:pt idx="36">
                  <c:v>10-02</c:v>
                </c:pt>
                <c:pt idx="37">
                  <c:v>10-03</c:v>
                </c:pt>
                <c:pt idx="38">
                  <c:v>10-04</c:v>
                </c:pt>
                <c:pt idx="39">
                  <c:v>10-05</c:v>
                </c:pt>
                <c:pt idx="40">
                  <c:v>10-06</c:v>
                </c:pt>
                <c:pt idx="41">
                  <c:v>10-07</c:v>
                </c:pt>
                <c:pt idx="42">
                  <c:v>10-08</c:v>
                </c:pt>
                <c:pt idx="43">
                  <c:v>10-09</c:v>
                </c:pt>
                <c:pt idx="44">
                  <c:v>10-10</c:v>
                </c:pt>
                <c:pt idx="45">
                  <c:v>10-11</c:v>
                </c:pt>
                <c:pt idx="46">
                  <c:v>10-12</c:v>
                </c:pt>
                <c:pt idx="47">
                  <c:v>10-13</c:v>
                </c:pt>
              </c:strCache>
            </c:strRef>
          </c:cat>
          <c:val>
            <c:numRef>
              <c:f>'Chart Data'!$D$2:$D$49</c:f>
              <c:numCache>
                <c:formatCode>General</c:formatCode>
                <c:ptCount val="48"/>
                <c:pt idx="0">
                  <c:v>348</c:v>
                </c:pt>
                <c:pt idx="1">
                  <c:v>282</c:v>
                </c:pt>
                <c:pt idx="2">
                  <c:v>0</c:v>
                </c:pt>
                <c:pt idx="3">
                  <c:v>0</c:v>
                </c:pt>
                <c:pt idx="4">
                  <c:v>305</c:v>
                </c:pt>
                <c:pt idx="5">
                  <c:v>319</c:v>
                </c:pt>
                <c:pt idx="6">
                  <c:v>277</c:v>
                </c:pt>
                <c:pt idx="7">
                  <c:v>301</c:v>
                </c:pt>
                <c:pt idx="8">
                  <c:v>287</c:v>
                </c:pt>
                <c:pt idx="9">
                  <c:v>0</c:v>
                </c:pt>
                <c:pt idx="10">
                  <c:v>0</c:v>
                </c:pt>
                <c:pt idx="11">
                  <c:v>272</c:v>
                </c:pt>
                <c:pt idx="12">
                  <c:v>254</c:v>
                </c:pt>
                <c:pt idx="13">
                  <c:v>264</c:v>
                </c:pt>
                <c:pt idx="14">
                  <c:v>280</c:v>
                </c:pt>
                <c:pt idx="15">
                  <c:v>155</c:v>
                </c:pt>
                <c:pt idx="16">
                  <c:v>0</c:v>
                </c:pt>
                <c:pt idx="17">
                  <c:v>0</c:v>
                </c:pt>
                <c:pt idx="18">
                  <c:v>276</c:v>
                </c:pt>
                <c:pt idx="19">
                  <c:v>293</c:v>
                </c:pt>
                <c:pt idx="20">
                  <c:v>276</c:v>
                </c:pt>
                <c:pt idx="21">
                  <c:v>281</c:v>
                </c:pt>
                <c:pt idx="22">
                  <c:v>137</c:v>
                </c:pt>
                <c:pt idx="23">
                  <c:v>0</c:v>
                </c:pt>
                <c:pt idx="24">
                  <c:v>0</c:v>
                </c:pt>
                <c:pt idx="25">
                  <c:v>247</c:v>
                </c:pt>
                <c:pt idx="26">
                  <c:v>318</c:v>
                </c:pt>
                <c:pt idx="27">
                  <c:v>290</c:v>
                </c:pt>
                <c:pt idx="28">
                  <c:v>296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296</c:v>
                </c:pt>
                <c:pt idx="34">
                  <c:v>337</c:v>
                </c:pt>
                <c:pt idx="35">
                  <c:v>335</c:v>
                </c:pt>
                <c:pt idx="36">
                  <c:v>302</c:v>
                </c:pt>
                <c:pt idx="37">
                  <c:v>0</c:v>
                </c:pt>
                <c:pt idx="38">
                  <c:v>0</c:v>
                </c:pt>
                <c:pt idx="39">
                  <c:v>309</c:v>
                </c:pt>
                <c:pt idx="40">
                  <c:v>258</c:v>
                </c:pt>
                <c:pt idx="41">
                  <c:v>275</c:v>
                </c:pt>
                <c:pt idx="42">
                  <c:v>310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306</c:v>
                </c:pt>
                <c:pt idx="47">
                  <c:v>314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EAF-48EF-B29F-005BCDFD41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zh-TW" altLang="en-US">
                    <a:latin typeface="Microsoft JhengHei"/>
                    <a:ea typeface="Microsoft JhengHei"/>
                    <a:cs typeface="Microsoft JhengHei"/>
                  </a:rPr>
                  <a:t>單據日期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D9E5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zh-TW" altLang="en-US">
                    <a:latin typeface="Microsoft JhengHei"/>
                    <a:ea typeface="Microsoft JhengHei"/>
                    <a:cs typeface="Microsoft JhengHei"/>
                  </a:rPr>
                  <a:t>件／日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  <a:endParaRPr lang="zh-TW"/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anchorCtr="1"/>
        <a:lstStyle/>
        <a:p>
          <a:pPr>
            <a:defRPr sz="1500">
              <a:latin typeface="Microsoft JhengHei"/>
              <a:ea typeface="Microsoft JhengHei"/>
              <a:cs typeface="Microsoft JhengHei"/>
            </a:defRPr>
          </a:pPr>
          <a:endParaRPr lang="zh-TW"/>
        </a:p>
      </c:txPr>
    </c:legend>
    <c:plotVisOnly val="1"/>
    <c:dispBlanksAs val="gap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來源：H公司使用者現場流程說明，以及2026/10/14本次澄清：純紙本的主要問題是不同人員資訊更新不同步，並非原始入庫資料正確性。下列成效驗證為研究設計，尚未取得比較結果。</a:t>
            </a:r>
          </a:p>
          <a:p>
            <a:endParaRPr/>
          </a:p>
          <a:p>
            <a:r>
              <a:t>口頭說明：</a:t>
            </a:r>
          </a:p>
          <a:p>
            <a:r>
              <a:t>本研究的問題是同一筆現場作業資訊，何時能讓不同廠址、不同角色共同掌握。紙本內容可以正確，但每個人拿到更新的時間不同。MES把本次入庫與加工事件集中保存，提供共同查詢。研究要驗證的是資訊更新傳遞、各角色掌握的一致性及查詢交接負擔，而非先假定紙本容易登錄錯誤。MES指本公司的製造執行管理系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來源：H公司使用者現場流程說明，以及2026/10/14本次澄清：純紙本的主要問題是不同人員資訊更新不同步，並非原始入庫資料正確性。下列成效驗證為研究設計，尚未取得比較結果。</a:t>
            </a:r>
          </a:p>
          <a:p>
            <a:endParaRPr/>
          </a:p>
          <a:p>
            <a:r>
              <a:t>口頭說明：</a:t>
            </a:r>
          </a:p>
          <a:p>
            <a:r>
              <a:t>左圖為純紙本資訊傳遞的概念示意，不表示固定只按單一路徑傳遞。收料人員已確認到料時，中央生管和下游未必已拿到更新，原因可能是單據未送到、電話尚未回覆或訊息未轉告。右圖表示作業人員登錄後，各角色可以查同一筆已保存的MES資料。箭頭是資訊查詢，不是材料運輸，也不是3443與3445資料庫複寫。不能宣稱所有畫面自動秒級更新，需測登錄後查詢可見的時間及使用者實際掌握的時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依據：H 公司使用者於 2026/10/14 說明之現場流程，以及本次對話。公司流程為個案陳述，尚非獨立成效驗證。</a:t>
            </a:r>
          </a:p>
          <a:p>
            <a:endParaRPr/>
          </a:p>
          <a:p>
            <a:r>
              <a:t>口頭說明：</a:t>
            </a:r>
          </a:p>
          <a:p>
            <a:r>
              <a:t>盤元是供後續加工使用的成捲鋼材。為讓外部聽眾辨認角色，此處把酸洗簡述為表面處理、球化為熱處理、伸線為拉製加工。以H公司提供的酸、球、酸、伸路徑為例，同一酸洗廠會再接到球化回廠料。球化廠沒有MES同步，因此每次回酸洗都重新核對本次工單及QR／條碼，不直接沿用前一次的入庫與出貨狀態，也不推定必須更換標籤。圖為典型路徑而非所有訂單唯一固定流程。</a:t>
            </a:r>
          </a:p>
          <a:p>
            <a:r>
              <a:t>V4研究定位：每次入庫是更新跨廠共同進度的起點，研究同步時差與各角色掌握情形，不以紙本資料錯誤為建置前提。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依據：H 公司使用者於 2026/10/14 說明之現場流程，以及本次對話。公司流程為個案陳述，尚非獨立成效驗證。</a:t>
            </a:r>
          </a:p>
          <a:p>
            <a:endParaRPr/>
          </a:p>
          <a:p>
            <a:r>
              <a:t>口頭說明：</a:t>
            </a:r>
          </a:p>
          <a:p>
            <a:r>
              <a:t>中央生管同時向料場傳真抓料單，也把紙本催料單交酸洗廠。酸洗廠生管提前一天建立MES催料資料，收料人員才有資料可選，並把實際盤元標籤連結到正確工單。球化後回廠也進入同一核對串接步驟。這個作法讓各廠管理系統尚未整合時，仍能在實物流經的酸洗廠留下本次紀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來源：H公司使用者現場流程說明，以及2026/10/14本次澄清：純紙本的主要問題是不同人員資訊更新不同步，並非原始入庫資料正確性。下列成效驗證為研究設計，尚未取得比較結果。</a:t>
            </a:r>
          </a:p>
          <a:p>
            <a:endParaRPr/>
          </a:p>
          <a:p>
            <a:r>
              <a:t>口頭說明：</a:t>
            </a:r>
          </a:p>
          <a:p>
            <a:r>
              <a:t>現場同時處理今日加工、隔日預收及急件和球化回廠料，理料空間有限。除了收料核對，各廠還需要及時取得本次工單的收料與完工狀態，才能處理各自的加工安排。這是對資訊更新同步的需求，不表示紙本材質、重量或數量本身不準。8小時是收料班別，4小時是運輸窗口，兩者不能作MES提升效率的前後比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依據：H 公司使用者於 2026/10/14 說明之現場流程，以及本次對話。公司流程為個案陳述，尚非獨立成效驗證。</a:t>
            </a:r>
          </a:p>
          <a:p>
            <a:endParaRPr/>
          </a:p>
          <a:p>
            <a:r>
              <a:t>口頭說明：</a:t>
            </a:r>
          </a:p>
          <a:p>
            <a:r>
              <a:t>掃碼的價值在於讓實物身分與本次工單、製程和排程相連，而不是只把條碼存進電腦。收料人員先比對送貨單與實物，確認後留下入庫紀錄。後續人員沿這筆本次入庫資料更新入洗、洗出和出庫狀態。外廠依角色權限查詢酸洗進度，不代表外廠的系統已自動同步。完工與出庫是不同事件，仍需分開確認。</a:t>
            </a:r>
          </a:p>
          <a:p>
            <a:r>
              <a:t>同步範圍：共用酸洗廠所登錄的作業事件。現場掃碼和登錄仍需人員操作，未驗證所有角色的畫面刷新或通知機制。球化沒有MES串接，每次回酸洗重新建立本次入庫關聯。紙本核對仍保留，分析焦點為更新的傳播及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研究脈絡：使用者2026/10/14確認AR指擴增實境，曾在10/13與老師討論，後續依老師建議改以QR Code串接為研究出發點。參考聊天室「LLM＋RAG 智慧管理 MES 論文」2026/10/13討論，以及output/ar-inbound-20261012/AR開發進度與老師討論紀錄_2026-10-13.md。AR是近期研究探索，不能倒寫為既有MES最初建置時已完成的方案比較。</a:t>
            </a:r>
          </a:p>
          <a:p>
            <a:r>
              <a:t>技術依據：Google ARCore Fundamental concepts，https://developers.google.com/ar/develop/fundamentals （2026/10/14查閱），說明姿態追蹤、平面、錨點與虛實疊加。此資料用於解釋一般AR概念，不代表本原型採用ARCore，本原型紀錄為8th Wall與Three.js。DENSO WAVE What is a QR Code，https://www.denso-wave.com/en/adcd/fundamental/2dcode/qrc/index.html （同日查閱），QR為二維編碼。</a:t>
            </a:r>
          </a:p>
          <a:p>
            <a:r>
              <a:t>本頁選型結論為依本案需求的分析，非官方文件認證。QR可承載識別碼，工單與重量可存在MES資料庫，不必把所有資料編進碼內。應以單筆入庫及本次工單關聯辨識作業週期，不能只用QR文字將多次回廠資料混在一起。AR也可以搭配QR識別，不宣稱AR不能辨識物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研究脈絡：使用者2026/10/14確認AR指擴增實境，曾在10/13與老師討論，後續依老師建議改以QR Code串接為研究出發點。參考聊天室「LLM＋RAG 智慧管理 MES 論文」2026/10/13討論，以及output/ar-inbound-20261012/AR開發進度與老師討論紀錄_2026-10-13.md。AR是近期研究探索，不能倒寫為既有MES最初建置時已完成的方案比較。</a:t>
            </a:r>
          </a:p>
          <a:p>
            <a:r>
              <a:t>已知原型限制：手動卡片與影片分享不等於MES交易，v6標籤飄移由使用者回報，v7加入A-01標記後尚缺完整量化驗證。攝影機抖動、遮擋、重定位與設備校正維護列為待評估風險，不能說所有AR一定失敗，也沒有正式成本報價可支持AR一定較貴。QR方案已有現場掃碼作業基礎，對本次「入庫資料同步」問題較直接。QR仍會遇到污損、漏掃、重複碼與綁錯工單，需保留核對與異常處理。這是研究範圍收斂，並非經AR對QR隨機試驗證明技術優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來源：H公司使用者現場流程說明，以及2026/10/14本次澄清：純紙本的主要問題是不同人員資訊更新不同步，並非原始入庫資料正確性。下列成效驗證為研究設計，尚未取得比較結果。</a:t>
            </a:r>
          </a:p>
          <a:p>
            <a:endParaRPr/>
          </a:p>
          <a:p>
            <a:r>
              <a:t>口頭說明：</a:t>
            </a:r>
          </a:p>
          <a:p>
            <a:r>
              <a:t>此頁是比較情境，不是觀察到的某張急件，也不填虛構分鐘數。兩邊的收料核對結果相同，差異在後續傳遞。紙本要靠找單、詢問或回報更新，MES保存後讓授權人員各自查同一來源，不必經中央生管再轉告才能查。是否更快、少問幾次，需要配對任務或現場觀察才能得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來源：H公司使用者現場流程說明，以及2026/10/14本次澄清：純紙本的主要問題是不同人員資訊更新不同步，並非原始入庫資料正確性。下列成效驗證為研究設計，尚未取得比較結果。</a:t>
            </a:r>
          </a:p>
          <a:p>
            <a:endParaRPr/>
          </a:p>
          <a:p>
            <a:r>
              <a:t>口頭說明：</a:t>
            </a:r>
          </a:p>
          <a:p>
            <a:r>
              <a:t>公司已具有共用酸洗進度的查詢能力。中央生管可以追查急件是否到料，球化廠掌握酸洗交接，伸線A/B依客戶順序準備模具及評估交期，職代查昨日紀錄接手今日收料。希望降低逐人詢問、等待回報和各人資訊時間差。這些是預期效益，改善幅度由後續同步時差、角色最新狀態一致率與詢問次數驗證。並非系統自動排程，也未證明準時交貨率已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依據：H 公司使用者於 2026/10/14 說明之現場流程，以及本次對話。公司流程為個案陳述，尚非獨立成效驗證。</a:t>
            </a:r>
          </a:p>
          <a:p>
            <a:endParaRPr/>
          </a:p>
          <a:p>
            <a:r>
              <a:t>口頭說明：</a:t>
            </a:r>
          </a:p>
          <a:p>
            <a:r>
              <a:t>次日應加工的料，由生管在次日12:00前查核入庫狀況。急件在預排時程前兩小時查入庫單，並向收料人員確認是否真的未收到。每日收班前一小時主管檢查當日應加工料是否入洗，再完單報產量，隔日預收料要分開。職代可以查昨天收到的料與目前狀態，接續今天的收料工作。查無系統資料不能直接斷言實物沒到，仍須現場核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來源：H公司使用者現場流程說明，以及2026/10/14本次澄清：純紙本的主要問題是不同人員資訊更新不同步，並非原始入庫資料正確性。下列成效驗證為研究設計，尚未取得比較結果。</a:t>
            </a:r>
          </a:p>
          <a:p>
            <a:endParaRPr/>
          </a:p>
          <a:p>
            <a:r>
              <a:t>口頭說明：</a:t>
            </a:r>
          </a:p>
          <a:p>
            <a:r>
              <a:t>同步指各角色能取得相同本次作業狀態，不是伺服器間資料複寫。T0由觀察員記錄現場收料核對完成，T1為紙本寫好或MES伺服器保存成功，T2,r為指定角色在預先約定的相同檢查頻率下第一次取得最新狀態。兩種方式均採相同測量規則，記錄觀測頻率造成的時間誤差。另以T3,r紀錄角色實際閱讀並確認，T3-T0可評估人員掌握時間，但受工作安排影響不能全歸因系統。各裝置時鐘需校準。歷史入庫時間欄位不必然代表T0，updated_at不直接代表T1。查詢或通知日誌不足時需補觀察資料，不先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資料：3443 正式作業資料唯讀快照 2026/10/14 11:52:36（台灣），build/stats.json 與 research-stats.sql。研究期 2026/08/27–10/13。入庫依入庫單日、自主依工作日、出庫依確認出貨日。明細有效且母单未作廢。各工序總數不是同批材料，不能相減作餘料或相除作完工率。</a:t>
            </a:r>
          </a:p>
          <a:p>
            <a:endParaRPr/>
          </a:p>
          <a:p>
            <a:r>
              <a:t>口頭說明：</a:t>
            </a:r>
          </a:p>
          <a:p>
            <a:r>
              <a:t>這些是正式資料的實際記錄量，可證明系統已用於現場作業並形成研究資料基礎，不代表由MES額外增加的產量。8,832是入庫事件紀錄數，同一顆材料再次入庫可能另有紀錄。8,800入洗與7,841出庫按各自單據日期統計，不能用差額判斷餘料或用比值判斷完工率。</a:t>
            </a:r>
          </a:p>
          <a:p>
            <a:r>
              <a:t>V4：這些總數證明作業紀錄基礎，沒有測到角色取得更新時間，不能以資料量直接宣稱同步改善。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資料：3443 正式作業資料唯讀快照 2026/10/14 11:52:36（台灣），build/stats.json 與 research-stats.sql。研究期 2026/08/27–10/13。入庫依入庫單日、自主依工作日、出庫依確認出貨日。明細有效且母单未作廢。各工序總數不是同批材料，不能相減作餘料或相除作完工率。</a:t>
            </a:r>
          </a:p>
          <a:p>
            <a:endParaRPr/>
          </a:p>
          <a:p>
            <a:r>
              <a:t>口頭說明：</a:t>
            </a:r>
          </a:p>
          <a:p>
            <a:r>
              <a:t>這頁以實際資料支持收料情境的複雜性。研究期8,832筆入庫中7,611筆早於目前工單排程日期，顯示現場確實同時處理預收與当日任務。這並不等於每筆都只提前一天。267是材質ID數，215是線徑原始文字不同值數，未經標準化，不等於215種物理線徑。這些數字適合當作後續分析的情境變數，不能直接推論人員負荷或MES因果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來源：H公司使用者現場流程說明，以及2026/10/14本次澄清：純紙本的主要問題是不同人員資訊更新不同步，並非原始入庫資料正確性。下列成效驗證為研究設計，尚未取得比較結果。</a:t>
            </a:r>
          </a:p>
          <a:p>
            <a:endParaRPr/>
          </a:p>
          <a:p>
            <a:r>
              <a:t>口頭說明：</a:t>
            </a:r>
          </a:p>
          <a:p>
            <a:r>
              <a:t>主指標為資訊同步。端到端時間用T2,r-T0，另拆T1-T0與T2,r-T1。每事件、每角色為觀測單位，未收到更新的案例不可刪除，应列未同步比例及觀察截止时间。角色最新狀態一致率＝指定查核點與最新已確認事件狀態相同的有效角色觀測數／全部應查角色觀測數；查無或仍是舊狀態列未同步，不把無權查看的角色納入。這是時間版本的一致性，而非物料資料輸入正確率。可另列全角色皆一致的事件比例，但分母不得混用。查詢負擔以相同任務耗時與人員詢問次數衡量。報告樣本数、中位數、P90與分布，配對差值按相同角色和難度配對，避免把多角色同一事件當獨立樣本。P90在樣本過少時不作穩定結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來源：H公司使用者現場流程說明，以及2026/10/14本次澄清：純紙本的主要問題是不同人員資訊更新不同步，並非原始入庫資料正確性。下列成效驗證為研究設計，尚未取得比較結果。</a:t>
            </a:r>
          </a:p>
          <a:p>
            <a:endParaRPr/>
          </a:p>
          <a:p>
            <a:r>
              <a:t>口頭說明：</a:t>
            </a:r>
          </a:p>
          <a:p>
            <a:r>
              <a:t>方案A：若能取得紙本時期可靠的事件與各角色接獲更新時間，與MES期按角色、工作量、製程、急件等條件配對或分層比較，仍須說明前後期人員和工作變動。方案B：歷史資料不足時，建立两套等難度、不同工單的任務素材，由相同人員交叉使用紙本與MES，交錯先後順序減少學習效應。全程在授權測試環境或脫敏快照進行，不在正式3443重複入庫或改動現場作業。固定觀察窗口和查核節奏，記錄角色、任務、T0/T1/T2/T3、狀態版本、詢問與求助次數。這種受控測試證明的是任務資訊取得表現，不能直接宣稱已提高真實產量或交貨率。樣本數與模型由老師依試測變異討論。相關性分析可考慮工作量、角色、急件、工作經驗與製程，多角色同事件需分群處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官方資料：https://developers.cloudflare.com/cloudflare-one/networks/connectors/cloudflare-tunnel/</a:t>
            </a:r>
          </a:p>
          <a:p>
            <a:r>
              <a:t>https://owasp.org/projects/asvs</a:t>
            </a:r>
          </a:p>
          <a:p>
            <a:r>
              <a:t>本機歷史部署文件及本次容器清單。未查 Cloudflare 後台，未做滲透測試。</a:t>
            </a:r>
          </a:p>
          <a:p>
            <a:r>
              <a:t>口頭說明：因為不同廠址要共用酸洗進度，系統需要外部連線，也必須限制誰能查看或修改資料。Cloudflare Tunnel的機制是由連接器建立對外連線，但採用Tunnel本身不等於已設定Access、MFA或完整WAF保護。資料庫在圖上屬後端服務，不是直接讓使用者登入。這張圖依既有部署文件整理，本輪僅修改簡報，未對正式站做安全測試，也未驗證3445具自動備援。</a:t>
            </a:r>
          </a:p>
          <a:p>
            <a:r>
              <a:t>官方來源再次查閱2026/10/14：https://developers.cloudflare.com/cloudflare-one/networks/connectors/cloudflare-tunnel/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查閱日2026/10/14。https://owasp.org/projects/asvs</a:t>
            </a:r>
          </a:p>
          <a:p>
            <a:r>
              <a:t>https://cheatsheetseries.owasp.org/cheatsheets/Authorization_Cheat_Sheet.html</a:t>
            </a:r>
          </a:p>
          <a:p>
            <a:r>
              <a:t>https://developers.cloudflare.com/cloudflare-one/networks/connectors/cloudflare-tunnel/</a:t>
            </a:r>
          </a:p>
          <a:p>
            <a:r>
              <a:t>https://csrc.nist.gov/pubs/sp/800/82/r3/final</a:t>
            </a:r>
          </a:p>
          <a:p>
            <a:r>
              <a:t>NIST OT 原則供生產環境風險參考，本案為管理 Web，不宣稱完整 OT 認證。</a:t>
            </a:r>
          </a:p>
          <a:p>
            <a:r>
              <a:t>口頭說明：對老師的回答應區分設計依據和已完成驗證。ASVS提供Web應用安全要求，OWASP授權指引支持最小權限與每次請求檢查，Cloudflare文件說明Tunnel機制，NIST提供生產環境風險及可用性參考。這些文件都不是本系統通過安全認證的證明。需補越權測試、外部入口設定和備份還原演練結果。</a:t>
            </a:r>
          </a:p>
          <a:p>
            <a:r>
              <a:t>2026/10/14複核：https://owasp.org/projects/asvs</a:t>
            </a:r>
          </a:p>
          <a:p>
            <a:r>
              <a:t>https://cheatsheetseries.owasp.org/cheatsheets/Authorization_Cheat_Sheet.html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來源：H公司使用者現場流程說明，以及2026/10/14本次澄清：純紙本的主要問題是不同人員資訊更新不同步，並非原始入庫資料正確性。下列成效驗證為研究設計，尚未取得比較結果。</a:t>
            </a:r>
          </a:p>
          <a:p>
            <a:endParaRPr/>
          </a:p>
          <a:p>
            <a:r>
              <a:t>口頭說明：</a:t>
            </a:r>
          </a:p>
          <a:p>
            <a:r>
              <a:t>研究題目可為「多廠址協作下酸洗廠MES導入之資訊同步與作業協調成效評估」。建置起點是酸洗廠反覆接收材料並建立本次工單關聯，使派工之後的實際收料和加工狀態可查。公司目前已具共用作業紀錄能力，研究要進一步量測資訊到達各角色的時間和狀態一致性，並觀察詢問及職代交接負擔。不把紙本入庫正確性當主要缺點，也不宣稱同步等於各畫面自動即時刷新。資安仍是跨廠分享的必要條件，以既有架構和待補的測試證據說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排程依2026/10/13另一聊天室使用者的三次面談安排：先談紙本問題與入庫連結，下一次談入洗出庫，再下一次談效益。以10/20、10/27及擬定11/03呈現，後續日期和範圍仍由老師確認。</a:t>
            </a:r>
          </a:p>
          <a:p>
            <a:r>
              <a:t>10/27主題不擴大為AR追蹤或LLM/RAG，保留V4資訊同步主軸。示範時用去識別化實際紀錄或獨立展示環境，不為展示在3443重複掃碼或寫入。若當日尚無角色同步試測數據，明列未完成、原因與補量日期，不能用入庫到入洗時間代替資訊同步時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10/27交付計畫，非已完成統計。現有V4保留8/27–10/13、10/14 11:52快照，不冒稱更新至10/26。擬以8/27為起點、10/26為截止日，實際擷取時間、時區、SQL與有效條件都要另記。</a:t>
            </a:r>
          </a:p>
          <a:p>
            <a:r>
              <a:t>資料包一：按單據日期列每日有效入庫件數、重量及工單數，區分首次到廠和加工後回廠，只有可靠欄位才分類，無法判別列未知。</a:t>
            </a:r>
          </a:p>
          <a:p>
            <a:r>
              <a:t>資料包二：用入庫紀錄ID和本次工單關聯為追蹤單位，避免只按QR字串串聯多次回廠。每階段的可追溯覆蓋率須有同一母體與適用分母，不能將不同工序總數相減。入庫到入洗、洗出到出庫的時間是作業歷程時間，含等待與排程，不等於操作效率或跨廠資訊同步。截止尚未完成列右設限，缺關聯、作廢、重複或時序異常分別記錄。現有5筆入洗早於入庫、1筆日期不一致要查明，不先硬刪。</a:t>
            </a:r>
          </a:p>
          <a:p>
            <a:r>
              <a:t>資料包三：固定查核節奏與時鐘，記錄事件代碼、角色代碼、任務、T0現場核對完成、T1紀錄完成、T2角色可查見更新、T3實際確認、版本是否最新、詢問次數。包含查無、逾時與缺值，報實際有效樣本n與排除原因。初期先給原始表與中位數及分布，樣本不足不強報穩定P90或顯著效果。紙本/MES以等難度不同工單交叉操作，避免學習偏差，多角色同事件不當獨立樣本。</a:t>
            </a:r>
          </a:p>
          <a:p>
            <a:r>
              <a:t>希望老師決議：是否採同人配對任務、所需觀察角色和數量、變數控制與可接受的樣本數。資安問題持續用既有框架及設定證據補充，不能用文獻證明本系統已安全。未完成的試測明列待辦，不填估計值或虛構成果。本次未擷取新3443資料，也未變更服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來源：3443 正式 PostgreSQL 唯讀快照，2026/10/14 11:52:36（台灣）。SQL：research-stats.sql；原始彙總：stats.json。主期 2026/08/27–10/13。入庫按 inbound_documents.inbound_date；自主按 inspection_forms.work_date；出貨按 shipments.shipping_date，限 CONFIRMED。明細 ACTIVE 且未作廢，母單未作廢。各流量不是同批料，差額不是餘料。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來源：3443 正式 PostgreSQL 唯讀快照，2026/10/14 11:52:36（台灣）。SQL：research-stats.sql；原始彙總：stats.json。主期 2026/08/27–10/13。入庫按 inbound_documents.inbound_date；自主按 inspection_forms.work_date；出貨按 shipments.shipping_date，限 CONFIRMED。明細 ACTIVE 且未作廢，母單未作廢。各流量不是同批料，差額不是餘料。</a:t>
            </a:r>
          </a:p>
          <a:p>
            <a:r>
              <a:t>額外唯讀檢查：8,800筆自主資料中796筆入洗時間為整點，0筆洗出-洗入恰為2小時。沒有找到欄位名含urgent/arrival/priority者，不代表備註等不存在相關資訊。</a:t>
            </a:r>
          </a:p>
          <a:p>
            <a:r>
              <a:t>V4：本頁仅為歷史事件資料的清理依據，非紙本與MES正確性成效指標。不得用欄位完整度推估同步速度或把時間異常當紙本問題。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36FAB04-7E54-4325-882F-7F7A36D5A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F0181BE-D3B2-49C1-9CC4-81A58EFA71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230EE43-D1ED-4338-91C8-CA87ADE93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921DCC8-851B-4D84-B463-E7DCE0E9F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74712E56-5494-42F1-B93D-E8CB66549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145335D-D505-403F-AA07-67897CBAB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6EEB13D-0B64-4F53-BB20-31A735EE0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50E79F1D-08D4-4509-A7C0-0901C57DC4C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249D9C9-F4DC-4096-89E2-F1360A66D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155FADF-F579-4398-85C1-A99DC7A37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33D75531-6D8E-45D7-B610-3E48DC72F9A4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H 公司酸洗廠 MES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B5D8B2B-E185-4770-BE12-6C24F2D1FAB5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7647BB2-F9D1-4582-ABB0-C733FC848890}"/>
              </a:ext>
            </a:extLst>
          </p:cNvPr>
          <p:cNvSpPr>
            <a:spLocks noGrp="1"/>
          </p:cNvSpPr>
          <p:nvPr/>
        </p:nvSpPr>
        <p:spPr>
          <a:xfrm>
            <a:off x="495300" y="1619250"/>
            <a:ext cx="106680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4125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4125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125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酸洗廠入庫資訊同步與跨廠協作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37641E9-E4F9-4325-B686-751B7E331955}"/>
              </a:ext>
            </a:extLst>
          </p:cNvPr>
          <p:cNvSpPr>
            <a:spLocks noGrp="1"/>
          </p:cNvSpPr>
          <p:nvPr/>
        </p:nvSpPr>
        <p:spPr>
          <a:xfrm>
            <a:off x="523875" y="2857500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400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400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純紙本與 MES 比較、公司貢獻及驗證方法</a:t>
            </a:r>
          </a:p>
        </p:txBody>
      </p:sp>
    </p:spTree>
    <p:extLst>
      <p:ext uri="{BB962C8B-B14F-4D97-AF65-F5344CB8AC3E}">
        <p14:creationId xmlns:p14="http://schemas.microsoft.com/office/powerpoint/2010/main" val="222473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接點: 肘形 29">
            <a:extLst>
              <a:ext uri="{FF2B5EF4-FFF2-40B4-BE49-F238E27FC236}">
                <a16:creationId xmlns:a16="http://schemas.microsoft.com/office/drawing/2014/main" id="{D5E2975B-29B9-4ACD-9B03-73F5766D71E2}"/>
              </a:ext>
            </a:extLst>
          </p:cNvPr>
          <p:cNvCxnSpPr>
            <a:stCxn id="24" idx="2"/>
            <a:endCxn id="27" idx="0"/>
          </p:cNvCxnSpPr>
          <p:nvPr/>
        </p:nvCxnSpPr>
        <p:spPr>
          <a:xfrm>
            <a:off x="9263063" y="3419475"/>
            <a:ext cx="1652588" cy="904875"/>
          </a:xfrm>
          <a:prstGeom prst="bentConnector4">
            <a:avLst>
              <a:gd name="adj1" fmla="val 0"/>
              <a:gd name="adj2" fmla="val 50000"/>
            </a:avLst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29" name="接點: 肘形 28">
            <a:extLst>
              <a:ext uri="{FF2B5EF4-FFF2-40B4-BE49-F238E27FC236}">
                <a16:creationId xmlns:a16="http://schemas.microsoft.com/office/drawing/2014/main" id="{30C8CEB1-6D07-4238-A41C-36CBC47A3F80}"/>
              </a:ext>
            </a:extLst>
          </p:cNvPr>
          <p:cNvCxnSpPr>
            <a:stCxn id="24" idx="2"/>
            <a:endCxn id="26" idx="0"/>
          </p:cNvCxnSpPr>
          <p:nvPr/>
        </p:nvCxnSpPr>
        <p:spPr>
          <a:xfrm flipH="1">
            <a:off x="9248775" y="3419475"/>
            <a:ext cx="14288" cy="904875"/>
          </a:xfrm>
          <a:prstGeom prst="bentConnector4">
            <a:avLst>
              <a:gd name="adj1" fmla="val 0"/>
              <a:gd name="adj2" fmla="val 50000"/>
            </a:avLst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28" name="接點: 肘形 27">
            <a:extLst>
              <a:ext uri="{FF2B5EF4-FFF2-40B4-BE49-F238E27FC236}">
                <a16:creationId xmlns:a16="http://schemas.microsoft.com/office/drawing/2014/main" id="{72B6FBD4-0FE7-470F-82F2-93396C06A276}"/>
              </a:ext>
            </a:extLst>
          </p:cNvPr>
          <p:cNvCxnSpPr>
            <a:stCxn id="24" idx="2"/>
            <a:endCxn id="25" idx="0"/>
          </p:cNvCxnSpPr>
          <p:nvPr/>
        </p:nvCxnSpPr>
        <p:spPr>
          <a:xfrm flipH="1">
            <a:off x="7581900" y="3419475"/>
            <a:ext cx="1681163" cy="904875"/>
          </a:xfrm>
          <a:prstGeom prst="bentConnector4">
            <a:avLst>
              <a:gd name="adj1" fmla="val 0"/>
              <a:gd name="adj2" fmla="val 74737"/>
            </a:avLst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ABA12ECB-D3FB-40F7-B272-4D791A65D6AE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>
            <a:off x="4310063" y="3438525"/>
            <a:ext cx="0" cy="800100"/>
          </a:xfrm>
          <a:prstGeom prst="straightConnector1">
            <a:avLst/>
          </a:prstGeom>
          <a:ln w="21908">
            <a:solidFill>
              <a:srgbClr val="AF6812"/>
            </a:solidFill>
            <a:tailEnd type="triangle" w="med" len="med"/>
          </a:ln>
        </p:spPr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B546C5FB-C295-4978-9749-AB82FAA5D7F1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>
            <a:off x="2524125" y="2986088"/>
            <a:ext cx="809625" cy="0"/>
          </a:xfrm>
          <a:prstGeom prst="straightConnector1">
            <a:avLst/>
          </a:prstGeom>
          <a:ln w="21908">
            <a:solidFill>
              <a:srgbClr val="AF6812"/>
            </a:solidFill>
            <a:tailEnd type="triangle" w="med" len="med"/>
          </a:ln>
        </p:spPr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A92D0D44-9611-4DF7-8B45-1FD5E171D9D1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建置動機：讓不同廠址掌握同一筆作業進度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FBA9AE-29C5-4BCF-AED7-E8C64B44D5A8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DD7B8F5-3799-4F60-B713-ED53D876C753}"/>
              </a:ext>
            </a:extLst>
          </p:cNvPr>
          <p:cNvSpPr>
            <a:spLocks noGrp="1"/>
          </p:cNvSpPr>
          <p:nvPr/>
        </p:nvSpPr>
        <p:spPr>
          <a:xfrm>
            <a:off x="571500" y="120967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550" b="1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550" b="1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rPr>
              <a:t>純紙本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F2E67EA-0350-42E2-A717-1AE466203C5F}"/>
              </a:ext>
            </a:extLst>
          </p:cNvPr>
          <p:cNvSpPr>
            <a:spLocks noGrp="1"/>
          </p:cNvSpPr>
          <p:nvPr/>
        </p:nvSpPr>
        <p:spPr>
          <a:xfrm>
            <a:off x="571500" y="1724025"/>
            <a:ext cx="4667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95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95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催料單＋入庫單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C3170FA-973D-492A-BBF8-CF3C3E5EEAF0}"/>
              </a:ext>
            </a:extLst>
          </p:cNvPr>
          <p:cNvSpPr>
            <a:spLocks noGrp="1"/>
          </p:cNvSpPr>
          <p:nvPr/>
        </p:nvSpPr>
        <p:spPr>
          <a:xfrm>
            <a:off x="5743575" y="2667000"/>
            <a:ext cx="762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225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225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VS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72BC1E4-DB30-4240-8741-9B4AE4057D88}"/>
              </a:ext>
            </a:extLst>
          </p:cNvPr>
          <p:cNvSpPr>
            <a:spLocks noGrp="1"/>
          </p:cNvSpPr>
          <p:nvPr/>
        </p:nvSpPr>
        <p:spPr>
          <a:xfrm>
            <a:off x="6905625" y="1209675"/>
            <a:ext cx="45720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5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5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MES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48B3CC2-1EF6-4533-A09E-B4F7247DC87D}"/>
              </a:ext>
            </a:extLst>
          </p:cNvPr>
          <p:cNvSpPr>
            <a:spLocks noGrp="1"/>
          </p:cNvSpPr>
          <p:nvPr/>
        </p:nvSpPr>
        <p:spPr>
          <a:xfrm>
            <a:off x="6905625" y="1724025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95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95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共用系統＋入庫單據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11C211B-7149-4771-AECC-8FB33E05BEBE}"/>
              </a:ext>
            </a:extLst>
          </p:cNvPr>
          <p:cNvSpPr>
            <a:spLocks noGrp="1"/>
          </p:cNvSpPr>
          <p:nvPr/>
        </p:nvSpPr>
        <p:spPr>
          <a:xfrm>
            <a:off x="619125" y="2533650"/>
            <a:ext cx="1905000" cy="904875"/>
          </a:xfrm>
          <a:prstGeom prst="rect">
            <a:avLst/>
          </a:prstGeom>
          <a:solidFill>
            <a:srgbClr val="FFF3DF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收料人員</a:t>
            </a:r>
          </a:p>
          <a:p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已記錄收料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8628FC3-24E1-4B40-83A7-6A9D444D690D}"/>
              </a:ext>
            </a:extLst>
          </p:cNvPr>
          <p:cNvSpPr>
            <a:spLocks noGrp="1"/>
          </p:cNvSpPr>
          <p:nvPr/>
        </p:nvSpPr>
        <p:spPr>
          <a:xfrm>
            <a:off x="3333750" y="2533650"/>
            <a:ext cx="1952625" cy="904875"/>
          </a:xfrm>
          <a:prstGeom prst="rect">
            <a:avLst/>
          </a:prstGeom>
          <a:solidFill>
            <a:srgbClr val="FFF3DF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酸洗生管</a:t>
            </a:r>
          </a:p>
          <a:p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待取得更新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27FF5E0-9808-434A-A403-AA36D7FCF43F}"/>
              </a:ext>
            </a:extLst>
          </p:cNvPr>
          <p:cNvSpPr>
            <a:spLocks noGrp="1"/>
          </p:cNvSpPr>
          <p:nvPr/>
        </p:nvSpPr>
        <p:spPr>
          <a:xfrm>
            <a:off x="3333750" y="4238625"/>
            <a:ext cx="1952625" cy="952500"/>
          </a:xfrm>
          <a:prstGeom prst="rect">
            <a:avLst/>
          </a:prstGeom>
          <a:solidFill>
            <a:srgbClr val="FFF3DF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18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18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中央生管／下游</a:t>
            </a:r>
          </a:p>
          <a:p>
            <a:pPr algn="ctr">
              <a:buNone/>
              <a:defRPr sz="18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再等回報或詢問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BC35461-E7DA-4CD7-85E4-D8DADDFCB107}"/>
              </a:ext>
            </a:extLst>
          </p:cNvPr>
          <p:cNvSpPr>
            <a:spLocks noGrp="1"/>
          </p:cNvSpPr>
          <p:nvPr/>
        </p:nvSpPr>
        <p:spPr>
          <a:xfrm>
            <a:off x="733425" y="3790950"/>
            <a:ext cx="23336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950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950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rPr>
              <a:t>傳遞與轉告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D4C75AB-56F7-4049-82E9-49E036597FBD}"/>
              </a:ext>
            </a:extLst>
          </p:cNvPr>
          <p:cNvSpPr>
            <a:spLocks noGrp="1"/>
          </p:cNvSpPr>
          <p:nvPr/>
        </p:nvSpPr>
        <p:spPr>
          <a:xfrm>
            <a:off x="571500" y="5391150"/>
            <a:ext cx="47625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025" b="1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025" b="1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rPr>
              <a:t>各人掌握的進度可能不同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65C2FBD-A24A-490A-B93E-86692F39A5AA}"/>
              </a:ext>
            </a:extLst>
          </p:cNvPr>
          <p:cNvSpPr>
            <a:spLocks noGrp="1"/>
          </p:cNvSpPr>
          <p:nvPr/>
        </p:nvSpPr>
        <p:spPr>
          <a:xfrm>
            <a:off x="7239000" y="2486025"/>
            <a:ext cx="4048125" cy="933450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MES 本次作業紀錄</a:t>
            </a:r>
          </a:p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收料完成後登錄更新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2127721-5606-423E-A038-D3FCA39F39D2}"/>
              </a:ext>
            </a:extLst>
          </p:cNvPr>
          <p:cNvSpPr>
            <a:spLocks noGrp="1"/>
          </p:cNvSpPr>
          <p:nvPr/>
        </p:nvSpPr>
        <p:spPr>
          <a:xfrm>
            <a:off x="6829425" y="4324350"/>
            <a:ext cx="1504950" cy="84772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18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18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收料／職代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E81ED31-BA97-4AE9-80D7-9A0EBA392AAB}"/>
              </a:ext>
            </a:extLst>
          </p:cNvPr>
          <p:cNvSpPr>
            <a:spLocks noGrp="1"/>
          </p:cNvSpPr>
          <p:nvPr/>
        </p:nvSpPr>
        <p:spPr>
          <a:xfrm>
            <a:off x="8496300" y="4324350"/>
            <a:ext cx="1504950" cy="84772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18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18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中央生管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45957AD-A729-4DEA-ADE4-87E2E0D63DC8}"/>
              </a:ext>
            </a:extLst>
          </p:cNvPr>
          <p:cNvSpPr>
            <a:spLocks noGrp="1"/>
          </p:cNvSpPr>
          <p:nvPr/>
        </p:nvSpPr>
        <p:spPr>
          <a:xfrm>
            <a:off x="10163175" y="4324350"/>
            <a:ext cx="1504950" cy="84772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18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18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下游廠區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288D73B-10D6-49CC-8255-9F39A633B96D}"/>
              </a:ext>
            </a:extLst>
          </p:cNvPr>
          <p:cNvSpPr>
            <a:spLocks noGrp="1"/>
          </p:cNvSpPr>
          <p:nvPr/>
        </p:nvSpPr>
        <p:spPr>
          <a:xfrm>
            <a:off x="6896100" y="3495675"/>
            <a:ext cx="200025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8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8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依權限查詢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5156539-C45C-49A1-A8BB-5DA88ADA5B80}"/>
              </a:ext>
            </a:extLst>
          </p:cNvPr>
          <p:cNvSpPr>
            <a:spLocks noGrp="1"/>
          </p:cNvSpPr>
          <p:nvPr/>
        </p:nvSpPr>
        <p:spPr>
          <a:xfrm>
            <a:off x="6886575" y="5391150"/>
            <a:ext cx="47625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共用紀錄，仍需登錄與查閱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7034538-1E59-45FA-BAA7-9EEA7FD984B0}"/>
              </a:ext>
            </a:extLst>
          </p:cNvPr>
          <p:cNvSpPr>
            <a:spLocks noGrp="1"/>
          </p:cNvSpPr>
          <p:nvPr/>
        </p:nvSpPr>
        <p:spPr>
          <a:xfrm>
            <a:off x="495300" y="5915025"/>
            <a:ext cx="108585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紙本資料可以正確，問題在更新傳遞的時間差。MES 同步成效仍須量測。</a:t>
            </a:r>
          </a:p>
        </p:txBody>
      </p:sp>
    </p:spTree>
    <p:extLst>
      <p:ext uri="{BB962C8B-B14F-4D97-AF65-F5344CB8AC3E}">
        <p14:creationId xmlns:p14="http://schemas.microsoft.com/office/powerpoint/2010/main" val="265643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48FFF301-9568-45E3-BEB3-0B4090185537}"/>
              </a:ext>
            </a:extLst>
          </p:cNvPr>
          <p:cNvCxnSpPr>
            <a:stCxn id="15" idx="3"/>
            <a:endCxn id="16" idx="1"/>
          </p:cNvCxnSpPr>
          <p:nvPr/>
        </p:nvCxnSpPr>
        <p:spPr>
          <a:xfrm>
            <a:off x="8810625" y="2405063"/>
            <a:ext cx="428625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C74495BC-54B3-4D13-8081-6B30C0787885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5905500" y="2405063"/>
            <a:ext cx="428625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A8031CBC-4A57-4D03-BC0A-E03E70ECF5AD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3000375" y="2405063"/>
            <a:ext cx="428625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med" len="med"/>
          </a:ln>
        </p:spPr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A92D0D44-9611-4DF7-8B45-1FD5E171D9D1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酸洗廠是跨廠加工反覆經過的節點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FBA9AE-29C5-4BCF-AED7-E8C64B44D5A8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CF319BC-A576-4C4A-A89C-1F400DEC3889}"/>
              </a:ext>
            </a:extLst>
          </p:cNvPr>
          <p:cNvSpPr>
            <a:spLocks noGrp="1"/>
          </p:cNvSpPr>
          <p:nvPr/>
        </p:nvSpPr>
        <p:spPr>
          <a:xfrm>
            <a:off x="523875" y="120015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02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H 公司典型加工路徑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AE12A63-A4FB-4FF0-9704-B375339993AF}"/>
              </a:ext>
            </a:extLst>
          </p:cNvPr>
          <p:cNvSpPr>
            <a:spLocks noGrp="1"/>
          </p:cNvSpPr>
          <p:nvPr/>
        </p:nvSpPr>
        <p:spPr>
          <a:xfrm>
            <a:off x="523875" y="1857375"/>
            <a:ext cx="2476500" cy="10953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酸洗①</a:t>
            </a:r>
          </a:p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表面處理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DD16E4F-2BAA-4178-A226-9D2C303DB4C3}"/>
              </a:ext>
            </a:extLst>
          </p:cNvPr>
          <p:cNvSpPr>
            <a:spLocks noGrp="1"/>
          </p:cNvSpPr>
          <p:nvPr/>
        </p:nvSpPr>
        <p:spPr>
          <a:xfrm>
            <a:off x="3429000" y="1857375"/>
            <a:ext cx="2476500" cy="10953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球化</a:t>
            </a:r>
          </a:p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熱處理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5D0051A-8EF5-4352-81D6-590FB9DAC9FA}"/>
              </a:ext>
            </a:extLst>
          </p:cNvPr>
          <p:cNvSpPr>
            <a:spLocks noGrp="1"/>
          </p:cNvSpPr>
          <p:nvPr/>
        </p:nvSpPr>
        <p:spPr>
          <a:xfrm>
            <a:off x="6334125" y="1857375"/>
            <a:ext cx="2476500" cy="10953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酸洗②</a:t>
            </a:r>
          </a:p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再次表面處理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8D40FC2-A408-48C4-9491-58C739266994}"/>
              </a:ext>
            </a:extLst>
          </p:cNvPr>
          <p:cNvSpPr>
            <a:spLocks noGrp="1"/>
          </p:cNvSpPr>
          <p:nvPr/>
        </p:nvSpPr>
        <p:spPr>
          <a:xfrm>
            <a:off x="9239250" y="1857375"/>
            <a:ext cx="2476500" cy="10953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伸線 A／B</a:t>
            </a:r>
          </a:p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拉製加工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6C3CC95-3225-4B5F-B3A2-89B8DB697493}"/>
              </a:ext>
            </a:extLst>
          </p:cNvPr>
          <p:cNvSpPr>
            <a:spLocks noGrp="1"/>
          </p:cNvSpPr>
          <p:nvPr/>
        </p:nvSpPr>
        <p:spPr>
          <a:xfrm>
            <a:off x="619125" y="3276600"/>
            <a:ext cx="233362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首次入庫</a:t>
            </a:r>
          </a:p>
          <a:p>
            <a:pPr>
              <a:buNone/>
              <a:def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串接本次工單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5B63A78-90F1-4CF4-ADAD-E498A1EF7348}"/>
              </a:ext>
            </a:extLst>
          </p:cNvPr>
          <p:cNvSpPr>
            <a:spLocks noGrp="1"/>
          </p:cNvSpPr>
          <p:nvPr/>
        </p:nvSpPr>
        <p:spPr>
          <a:xfrm>
            <a:off x="3476625" y="3295650"/>
            <a:ext cx="24765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尚無 MES 同步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E72C260-383F-41FF-B5D6-C3420C0E13A7}"/>
              </a:ext>
            </a:extLst>
          </p:cNvPr>
          <p:cNvSpPr>
            <a:spLocks noGrp="1"/>
          </p:cNvSpPr>
          <p:nvPr/>
        </p:nvSpPr>
        <p:spPr>
          <a:xfrm>
            <a:off x="6381750" y="3276600"/>
            <a:ext cx="271462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回廠再次入庫</a:t>
            </a:r>
          </a:p>
          <a:p>
            <a:pPr>
              <a:buNone/>
              <a:def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重新串接本次工單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383606D-7270-405B-BBAC-84344075AFBE}"/>
              </a:ext>
            </a:extLst>
          </p:cNvPr>
          <p:cNvSpPr>
            <a:spLocks noGrp="1"/>
          </p:cNvSpPr>
          <p:nvPr/>
        </p:nvSpPr>
        <p:spPr>
          <a:xfrm>
            <a:off x="9334500" y="3295650"/>
            <a:ext cx="2333625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各廠址接續加工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E7417E8-E5F6-46F1-AF98-9ECD9FA7D09E}"/>
              </a:ext>
            </a:extLst>
          </p:cNvPr>
          <p:cNvSpPr>
            <a:spLocks noGrp="1"/>
          </p:cNvSpPr>
          <p:nvPr/>
        </p:nvSpPr>
        <p:spPr>
          <a:xfrm>
            <a:off x="523875" y="4629150"/>
            <a:ext cx="110490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4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4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每次進入酸洗廠，都能建立本次跨廠可查的起點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09F39AF-A33C-4F15-ACC5-D30F6F756497}"/>
              </a:ext>
            </a:extLst>
          </p:cNvPr>
          <p:cNvSpPr>
            <a:spLocks noGrp="1"/>
          </p:cNvSpPr>
          <p:nvPr/>
        </p:nvSpPr>
        <p:spPr>
          <a:xfrm>
            <a:off x="495300" y="5915025"/>
            <a:ext cx="10810875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①、②為同一酸洗廠的不同次作業。實際順序依工單調整，所有入庫均須重新串接。</a:t>
            </a:r>
          </a:p>
        </p:txBody>
      </p:sp>
    </p:spTree>
    <p:extLst>
      <p:ext uri="{BB962C8B-B14F-4D97-AF65-F5344CB8AC3E}">
        <p14:creationId xmlns:p14="http://schemas.microsoft.com/office/powerpoint/2010/main" val="265643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1976A6C2-7163-4F60-A64C-7C401B006D50}"/>
              </a:ext>
            </a:extLst>
          </p:cNvPr>
          <p:cNvCxnSpPr>
            <a:stCxn id="23" idx="1"/>
            <a:endCxn id="22" idx="3"/>
          </p:cNvCxnSpPr>
          <p:nvPr/>
        </p:nvCxnSpPr>
        <p:spPr>
          <a:xfrm flipH="1">
            <a:off x="7734300" y="4976813"/>
            <a:ext cx="1457325" cy="0"/>
          </a:xfrm>
          <a:prstGeom prst="straightConnector1">
            <a:avLst/>
          </a:prstGeom>
          <a:ln w="21908">
            <a:solidFill>
              <a:srgbClr val="237A42"/>
            </a:solidFill>
            <a:tailEnd type="triangle" w="med" len="med"/>
          </a:ln>
        </p:spPr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ACD406AC-E6A5-4CF5-BE64-50E6EB4FFE08}"/>
              </a:ext>
            </a:extLst>
          </p:cNvPr>
          <p:cNvCxnSpPr>
            <a:stCxn id="21" idx="2"/>
            <a:endCxn id="22" idx="0"/>
          </p:cNvCxnSpPr>
          <p:nvPr/>
        </p:nvCxnSpPr>
        <p:spPr>
          <a:xfrm>
            <a:off x="6096000" y="3705225"/>
            <a:ext cx="0" cy="72390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26" name="接點: 肘形 25">
            <a:extLst>
              <a:ext uri="{FF2B5EF4-FFF2-40B4-BE49-F238E27FC236}">
                <a16:creationId xmlns:a16="http://schemas.microsoft.com/office/drawing/2014/main" id="{633E3ECA-B5FA-4354-9C17-FB943CEEB06B}"/>
              </a:ext>
            </a:extLst>
          </p:cNvPr>
          <p:cNvCxnSpPr>
            <a:stCxn id="20" idx="2"/>
            <a:endCxn id="22" idx="1"/>
          </p:cNvCxnSpPr>
          <p:nvPr/>
        </p:nvCxnSpPr>
        <p:spPr>
          <a:xfrm>
            <a:off x="2095500" y="3705225"/>
            <a:ext cx="2362200" cy="1271588"/>
          </a:xfrm>
          <a:prstGeom prst="bentConnector5">
            <a:avLst>
              <a:gd name="adj1" fmla="val 0"/>
              <a:gd name="adj2" fmla="val 17978"/>
              <a:gd name="adj3" fmla="val 90323"/>
            </a:avLst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724E65CE-B6B3-456E-A156-7ABD954FEC87}"/>
              </a:ext>
            </a:extLst>
          </p:cNvPr>
          <p:cNvCxnSpPr>
            <a:stCxn id="19" idx="2"/>
            <a:endCxn id="21" idx="0"/>
          </p:cNvCxnSpPr>
          <p:nvPr/>
        </p:nvCxnSpPr>
        <p:spPr>
          <a:xfrm>
            <a:off x="6096000" y="1838325"/>
            <a:ext cx="0" cy="857250"/>
          </a:xfrm>
          <a:prstGeom prst="straightConnector1">
            <a:avLst/>
          </a:prstGeom>
          <a:ln w="21908">
            <a:solidFill>
              <a:srgbClr val="AF6812"/>
            </a:solidFill>
            <a:tailEnd type="triangle" w="med" len="med"/>
          </a:ln>
        </p:spPr>
      </p:cxnSp>
      <p:cxnSp>
        <p:nvCxnSpPr>
          <p:cNvPr id="24" name="接點: 肘形 23">
            <a:extLst>
              <a:ext uri="{FF2B5EF4-FFF2-40B4-BE49-F238E27FC236}">
                <a16:creationId xmlns:a16="http://schemas.microsoft.com/office/drawing/2014/main" id="{2F860234-114E-42D6-9D62-C73923EF4E7C}"/>
              </a:ext>
            </a:extLst>
          </p:cNvPr>
          <p:cNvCxnSpPr>
            <a:stCxn id="19" idx="1"/>
            <a:endCxn id="20" idx="0"/>
          </p:cNvCxnSpPr>
          <p:nvPr/>
        </p:nvCxnSpPr>
        <p:spPr>
          <a:xfrm flipH="1">
            <a:off x="2095500" y="1514475"/>
            <a:ext cx="2362200" cy="1181100"/>
          </a:xfrm>
          <a:prstGeom prst="bentConnector2">
            <a:avLst/>
          </a:prstGeom>
          <a:ln w="21908">
            <a:solidFill>
              <a:srgbClr val="AF6812"/>
            </a:solidFill>
            <a:tailEnd type="triangle" w="med" len="med"/>
          </a:ln>
        </p:spPr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C5A31292-235A-4422-B83A-41CA630D57CF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兩份紙本派工在酸洗廠入庫時接起來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9965FD-39F7-4C79-8A6C-4115D8B481F3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CC9390C-F745-435B-96E0-E34845612494}"/>
              </a:ext>
            </a:extLst>
          </p:cNvPr>
          <p:cNvSpPr>
            <a:spLocks noGrp="1"/>
          </p:cNvSpPr>
          <p:nvPr/>
        </p:nvSpPr>
        <p:spPr>
          <a:xfrm>
            <a:off x="4457700" y="1190625"/>
            <a:ext cx="3276600" cy="647700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2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中央生管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5666C73-5C3A-4E02-B547-D68DB52A7B6D}"/>
              </a:ext>
            </a:extLst>
          </p:cNvPr>
          <p:cNvSpPr>
            <a:spLocks noGrp="1"/>
          </p:cNvSpPr>
          <p:nvPr/>
        </p:nvSpPr>
        <p:spPr>
          <a:xfrm>
            <a:off x="666750" y="2695575"/>
            <a:ext cx="2857500" cy="1009650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料場</a:t>
            </a:r>
          </a:p>
          <a:p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依抓料單備料、送料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FCC84C4-61E3-44B4-8C8C-ACC9C9AC8186}"/>
              </a:ext>
            </a:extLst>
          </p:cNvPr>
          <p:cNvSpPr>
            <a:spLocks noGrp="1"/>
          </p:cNvSpPr>
          <p:nvPr/>
        </p:nvSpPr>
        <p:spPr>
          <a:xfrm>
            <a:off x="4457700" y="2695575"/>
            <a:ext cx="3276600" cy="1009650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酸洗廠生管</a:t>
            </a:r>
          </a:p>
          <a:p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提前一天建立 MES 催料單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7485295-1E87-45CD-AB26-BA3A33EA740A}"/>
              </a:ext>
            </a:extLst>
          </p:cNvPr>
          <p:cNvSpPr>
            <a:spLocks noGrp="1"/>
          </p:cNvSpPr>
          <p:nvPr/>
        </p:nvSpPr>
        <p:spPr>
          <a:xfrm>
            <a:off x="4457700" y="4429125"/>
            <a:ext cx="3276600" cy="10953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酸洗廠收料人員</a:t>
            </a:r>
          </a:p>
          <a:p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核對實物並串接本次工單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F056641-BEB2-4F87-A68F-9495DE9A4B9D}"/>
              </a:ext>
            </a:extLst>
          </p:cNvPr>
          <p:cNvSpPr>
            <a:spLocks noGrp="1"/>
          </p:cNvSpPr>
          <p:nvPr/>
        </p:nvSpPr>
        <p:spPr>
          <a:xfrm>
            <a:off x="9191625" y="4429125"/>
            <a:ext cx="2476500" cy="10953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球化廠回廠料</a:t>
            </a:r>
          </a:p>
          <a:p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尚無 MES 同步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5759FB0-2C8A-40D9-B61F-9C9B3D5DB659}"/>
              </a:ext>
            </a:extLst>
          </p:cNvPr>
          <p:cNvSpPr>
            <a:spLocks noGrp="1"/>
          </p:cNvSpPr>
          <p:nvPr/>
        </p:nvSpPr>
        <p:spPr>
          <a:xfrm>
            <a:off x="714375" y="1990725"/>
            <a:ext cx="30003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7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7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rPr>
              <a:t>抓料單（傳真）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9902416-DC5B-4010-9BAB-BC07D4FC8405}"/>
              </a:ext>
            </a:extLst>
          </p:cNvPr>
          <p:cNvSpPr>
            <a:spLocks noGrp="1"/>
          </p:cNvSpPr>
          <p:nvPr/>
        </p:nvSpPr>
        <p:spPr>
          <a:xfrm>
            <a:off x="5238750" y="1990725"/>
            <a:ext cx="319087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7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7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rPr>
              <a:t>催料單（紙本）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0E896DE-C407-49D0-9CF5-152EEEA10825}"/>
              </a:ext>
            </a:extLst>
          </p:cNvPr>
          <p:cNvSpPr>
            <a:spLocks noGrp="1"/>
          </p:cNvSpPr>
          <p:nvPr/>
        </p:nvSpPr>
        <p:spPr>
          <a:xfrm>
            <a:off x="714375" y="4152900"/>
            <a:ext cx="280987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800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800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實物＋送貨單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BCFC6D5-62B2-44C3-94C8-D8146DF537AC}"/>
              </a:ext>
            </a:extLst>
          </p:cNvPr>
          <p:cNvSpPr>
            <a:spLocks noGrp="1"/>
          </p:cNvSpPr>
          <p:nvPr/>
        </p:nvSpPr>
        <p:spPr>
          <a:xfrm>
            <a:off x="8572500" y="3895725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875" b="1">
                <a:solidFill>
                  <a:srgbClr val="237A4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875" b="1">
                <a:solidFill>
                  <a:srgbClr val="237A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37A42"/>
                </a:solidFill>
                <a:latin typeface="Microsoft JhengHei"/>
                <a:ea typeface="Microsoft JhengHei"/>
                <a:cs typeface="Microsoft JhengHei"/>
              </a:rPr>
              <a:t>再次入庫串接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E95F1A6-A746-4C05-B6A9-78C19BC414C9}"/>
              </a:ext>
            </a:extLst>
          </p:cNvPr>
          <p:cNvSpPr>
            <a:spLocks noGrp="1"/>
          </p:cNvSpPr>
          <p:nvPr/>
        </p:nvSpPr>
        <p:spPr>
          <a:xfrm>
            <a:off x="495300" y="5915025"/>
            <a:ext cx="10810875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原紙本流程保留。酸洗廠人工建單及核對，並非中央生管或球化廠自動匯入。</a:t>
            </a:r>
          </a:p>
        </p:txBody>
      </p:sp>
    </p:spTree>
    <p:extLst>
      <p:ext uri="{BB962C8B-B14F-4D97-AF65-F5344CB8AC3E}">
        <p14:creationId xmlns:p14="http://schemas.microsoft.com/office/powerpoint/2010/main" val="1633993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接點: 肘形 17">
            <a:extLst>
              <a:ext uri="{FF2B5EF4-FFF2-40B4-BE49-F238E27FC236}">
                <a16:creationId xmlns:a16="http://schemas.microsoft.com/office/drawing/2014/main" id="{E9060437-846A-4AB2-B68F-CA84FC4D36E3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 flipV="1">
            <a:off x="3857625" y="3619500"/>
            <a:ext cx="1000125" cy="1524000"/>
          </a:xfrm>
          <a:prstGeom prst="bentConnector3">
            <a:avLst>
              <a:gd name="adj1" fmla="val 50000"/>
            </a:avLst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17" name="接點: 肘形 16">
            <a:extLst>
              <a:ext uri="{FF2B5EF4-FFF2-40B4-BE49-F238E27FC236}">
                <a16:creationId xmlns:a16="http://schemas.microsoft.com/office/drawing/2014/main" id="{5DBE9612-8778-43E0-9917-B5550321CAF2}"/>
              </a:ext>
            </a:extLst>
          </p:cNvPr>
          <p:cNvCxnSpPr>
            <a:stCxn id="13" idx="3"/>
            <a:endCxn id="15" idx="1"/>
          </p:cNvCxnSpPr>
          <p:nvPr/>
        </p:nvCxnSpPr>
        <p:spPr>
          <a:xfrm>
            <a:off x="3857625" y="3571875"/>
            <a:ext cx="1000125" cy="47625"/>
          </a:xfrm>
          <a:prstGeom prst="bentConnector3">
            <a:avLst>
              <a:gd name="adj1" fmla="val 50000"/>
            </a:avLst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C6D6248D-41D4-4A8D-BC07-7551660B2BB3}"/>
              </a:ext>
            </a:extLst>
          </p:cNvPr>
          <p:cNvCxnSpPr>
            <a:stCxn id="12" idx="3"/>
            <a:endCxn id="15" idx="1"/>
          </p:cNvCxnSpPr>
          <p:nvPr/>
        </p:nvCxnSpPr>
        <p:spPr>
          <a:xfrm>
            <a:off x="3857625" y="2000250"/>
            <a:ext cx="1000125" cy="1619250"/>
          </a:xfrm>
          <a:prstGeom prst="bentConnector3">
            <a:avLst>
              <a:gd name="adj1" fmla="val 50000"/>
            </a:avLst>
          </a:prstGeom>
          <a:ln w="21908">
            <a:solidFill>
              <a:srgbClr val="087F8C"/>
            </a:solidFill>
            <a:tailEnd type="triangle" w="med" len="med"/>
          </a:ln>
        </p:spPr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A92D0D44-9611-4DF7-8B45-1FD5E171D9D1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現場任務交錯，更新還要傳到不同廠址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FBA9AE-29C5-4BCF-AED7-E8C64B44D5A8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49E8273-4354-407A-9AC5-9AF51BEB0896}"/>
              </a:ext>
            </a:extLst>
          </p:cNvPr>
          <p:cNvSpPr>
            <a:spLocks noGrp="1"/>
          </p:cNvSpPr>
          <p:nvPr/>
        </p:nvSpPr>
        <p:spPr>
          <a:xfrm>
            <a:off x="571500" y="1476375"/>
            <a:ext cx="3286125" cy="1047750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今日應加工料</a:t>
            </a:r>
          </a:p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需要確認可否入洗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C9658BA-2DAF-4825-9830-AD7E68E41239}"/>
              </a:ext>
            </a:extLst>
          </p:cNvPr>
          <p:cNvSpPr>
            <a:spLocks noGrp="1"/>
          </p:cNvSpPr>
          <p:nvPr/>
        </p:nvSpPr>
        <p:spPr>
          <a:xfrm>
            <a:off x="571500" y="3048000"/>
            <a:ext cx="3286125" cy="1047750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隔日預收料</a:t>
            </a:r>
          </a:p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需與今日任務分開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C8165F-4BC8-4554-8151-DC9895AB0B98}"/>
              </a:ext>
            </a:extLst>
          </p:cNvPr>
          <p:cNvSpPr>
            <a:spLocks noGrp="1"/>
          </p:cNvSpPr>
          <p:nvPr/>
        </p:nvSpPr>
        <p:spPr>
          <a:xfrm>
            <a:off x="571500" y="4619625"/>
            <a:ext cx="3286125" cy="1047750"/>
          </a:xfrm>
          <a:prstGeom prst="rect">
            <a:avLst/>
          </a:prstGeom>
          <a:solidFill>
            <a:srgbClr val="FFF3DF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急件／球化回廠料</a:t>
            </a:r>
          </a:p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要重新確認加工任務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61722FB-8238-4EDE-B1C3-9AF9C1750F5D}"/>
              </a:ext>
            </a:extLst>
          </p:cNvPr>
          <p:cNvSpPr>
            <a:spLocks noGrp="1"/>
          </p:cNvSpPr>
          <p:nvPr/>
        </p:nvSpPr>
        <p:spPr>
          <a:xfrm>
            <a:off x="4857750" y="2524125"/>
            <a:ext cx="3095625" cy="2190750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同一收料現場</a:t>
            </a:r>
          </a:p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理料空間有限</a:t>
            </a:r>
          </a:p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盤元規格與工單並存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3D94411-CFDA-4DF2-BE19-65828C9F73A6}"/>
              </a:ext>
            </a:extLst>
          </p:cNvPr>
          <p:cNvSpPr>
            <a:spLocks noGrp="1"/>
          </p:cNvSpPr>
          <p:nvPr/>
        </p:nvSpPr>
        <p:spPr>
          <a:xfrm>
            <a:off x="8763000" y="1666875"/>
            <a:ext cx="280987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收料要回答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74DDA28-5F92-43E9-BFF7-C688D1467856}"/>
              </a:ext>
            </a:extLst>
          </p:cNvPr>
          <p:cNvSpPr>
            <a:spLocks noGrp="1"/>
          </p:cNvSpPr>
          <p:nvPr/>
        </p:nvSpPr>
        <p:spPr>
          <a:xfrm>
            <a:off x="8763000" y="2457450"/>
            <a:ext cx="2857500" cy="2428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1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這次收到哪張工單？</a:t>
            </a:r>
          </a:p>
          <a:p>
            <a:pPr>
              <a:buNone/>
              <a:defRPr sz="21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今天還是明天加工？</a:t>
            </a:r>
          </a:p>
          <a:p>
            <a:pPr>
              <a:buNone/>
              <a:defRPr sz="21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哪些人尚未收到更新？</a:t>
            </a:r>
          </a:p>
          <a:p>
            <a:pPr>
              <a:buNone/>
              <a:defRPr sz="21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急件要通知誰？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FA715D2-7EC9-4011-8682-F4E8F4ED4D02}"/>
              </a:ext>
            </a:extLst>
          </p:cNvPr>
          <p:cNvSpPr>
            <a:spLocks noGrp="1"/>
          </p:cNvSpPr>
          <p:nvPr/>
        </p:nvSpPr>
        <p:spPr>
          <a:xfrm>
            <a:off x="495300" y="5915025"/>
            <a:ext cx="10810875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作業需求：及時完成今日任務並交接下游，避免非預期滯留占用空間。</a:t>
            </a:r>
          </a:p>
        </p:txBody>
      </p:sp>
    </p:spTree>
    <p:extLst>
      <p:ext uri="{BB962C8B-B14F-4D97-AF65-F5344CB8AC3E}">
        <p14:creationId xmlns:p14="http://schemas.microsoft.com/office/powerpoint/2010/main" val="265643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1C7D13A0-33A9-406E-9F71-8EE1E89C0681}"/>
              </a:ext>
            </a:extLst>
          </p:cNvPr>
          <p:cNvCxnSpPr>
            <a:stCxn id="21" idx="3"/>
            <a:endCxn id="22" idx="1"/>
          </p:cNvCxnSpPr>
          <p:nvPr/>
        </p:nvCxnSpPr>
        <p:spPr>
          <a:xfrm>
            <a:off x="8810625" y="5338763"/>
            <a:ext cx="428625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ECCBF91D-2738-43C7-9186-3BAC44F119FF}"/>
              </a:ext>
            </a:extLst>
          </p:cNvPr>
          <p:cNvCxnSpPr>
            <a:stCxn id="20" idx="3"/>
            <a:endCxn id="21" idx="1"/>
          </p:cNvCxnSpPr>
          <p:nvPr/>
        </p:nvCxnSpPr>
        <p:spPr>
          <a:xfrm>
            <a:off x="5905500" y="5338763"/>
            <a:ext cx="428625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8B3C69DC-944E-491E-AFB5-DC45D8249C1C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>
            <a:off x="3000375" y="5338763"/>
            <a:ext cx="428625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18" name="接點: 肘形 17">
            <a:extLst>
              <a:ext uri="{FF2B5EF4-FFF2-40B4-BE49-F238E27FC236}">
                <a16:creationId xmlns:a16="http://schemas.microsoft.com/office/drawing/2014/main" id="{15C7472D-0862-4199-A3E6-FDB20F61313C}"/>
              </a:ext>
            </a:extLst>
          </p:cNvPr>
          <p:cNvCxnSpPr>
            <a:stCxn id="14" idx="3"/>
            <a:endCxn id="17" idx="1"/>
          </p:cNvCxnSpPr>
          <p:nvPr/>
        </p:nvCxnSpPr>
        <p:spPr>
          <a:xfrm>
            <a:off x="8239125" y="3119438"/>
            <a:ext cx="1047750" cy="4763"/>
          </a:xfrm>
          <a:prstGeom prst="bentConnector3">
            <a:avLst>
              <a:gd name="adj1" fmla="val 50000"/>
            </a:avLst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46D0C5EF-8D11-4CFE-A983-1BD0ED81EEEA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 flipV="1">
            <a:off x="3714750" y="3119438"/>
            <a:ext cx="809625" cy="800100"/>
          </a:xfrm>
          <a:prstGeom prst="bentConnector3">
            <a:avLst>
              <a:gd name="adj1" fmla="val 50000"/>
            </a:avLst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D847B0CB-DD7F-4958-943B-610F2CCEAD17}"/>
              </a:ext>
            </a:extLst>
          </p:cNvPr>
          <p:cNvCxnSpPr>
            <a:stCxn id="12" idx="3"/>
            <a:endCxn id="14" idx="1"/>
          </p:cNvCxnSpPr>
          <p:nvPr/>
        </p:nvCxnSpPr>
        <p:spPr>
          <a:xfrm>
            <a:off x="3714750" y="2062163"/>
            <a:ext cx="809625" cy="1057275"/>
          </a:xfrm>
          <a:prstGeom prst="bentConnector3">
            <a:avLst>
              <a:gd name="adj1" fmla="val 50000"/>
            </a:avLst>
          </a:prstGeom>
          <a:ln w="21908">
            <a:solidFill>
              <a:srgbClr val="087F8C"/>
            </a:solidFill>
            <a:tailEnd type="triangle" w="med" len="med"/>
          </a:ln>
        </p:spPr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A92D0D44-9611-4DF7-8B45-1FD5E171D9D1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目前做法：入庫串接後，共用本次作業紀錄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FBA9AE-29C5-4BCF-AED7-E8C64B44D5A8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5711527-8717-4902-A90E-B27B6EDF39BF}"/>
              </a:ext>
            </a:extLst>
          </p:cNvPr>
          <p:cNvSpPr>
            <a:spLocks noGrp="1"/>
          </p:cNvSpPr>
          <p:nvPr/>
        </p:nvSpPr>
        <p:spPr>
          <a:xfrm>
            <a:off x="523875" y="1476375"/>
            <a:ext cx="3190875" cy="11715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實際盤元</a:t>
            </a:r>
          </a:p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QR／條碼＋送貨單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CF74B92-4749-4E6C-8F34-D6351CBC690A}"/>
              </a:ext>
            </a:extLst>
          </p:cNvPr>
          <p:cNvSpPr>
            <a:spLocks noGrp="1"/>
          </p:cNvSpPr>
          <p:nvPr/>
        </p:nvSpPr>
        <p:spPr>
          <a:xfrm>
            <a:off x="523875" y="3333750"/>
            <a:ext cx="3190875" cy="11715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本次催料單</a:t>
            </a:r>
          </a:p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工單、製程、排程日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D4EF381-5223-4A03-9002-267BF9956AAD}"/>
              </a:ext>
            </a:extLst>
          </p:cNvPr>
          <p:cNvSpPr>
            <a:spLocks noGrp="1"/>
          </p:cNvSpPr>
          <p:nvPr/>
        </p:nvSpPr>
        <p:spPr>
          <a:xfrm>
            <a:off x="4524375" y="2286000"/>
            <a:ext cx="3714750" cy="16668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收料核對並串接</a:t>
            </a:r>
          </a:p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材質、線徑、重量、訂單</a:t>
            </a:r>
          </a:p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建立本次入庫紀錄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5FCC039-AF6A-4610-95FF-CA1BEFD495EC}"/>
              </a:ext>
            </a:extLst>
          </p:cNvPr>
          <p:cNvSpPr>
            <a:spLocks noGrp="1"/>
          </p:cNvSpPr>
          <p:nvPr/>
        </p:nvSpPr>
        <p:spPr>
          <a:xfrm>
            <a:off x="9286875" y="2514600"/>
            <a:ext cx="2381250" cy="1219200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授權人員</a:t>
            </a:r>
          </a:p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查同一筆更新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623255A-E522-4E9E-8269-49C85ACC90B8}"/>
              </a:ext>
            </a:extLst>
          </p:cNvPr>
          <p:cNvSpPr>
            <a:spLocks noGrp="1"/>
          </p:cNvSpPr>
          <p:nvPr/>
        </p:nvSpPr>
        <p:spPr>
          <a:xfrm>
            <a:off x="523875" y="4886325"/>
            <a:ext cx="2476500" cy="9048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入庫</a:t>
            </a:r>
          </a:p>
          <a:p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已收料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7CCE0AE-4849-492D-AEE0-8C37AF8B4226}"/>
              </a:ext>
            </a:extLst>
          </p:cNvPr>
          <p:cNvSpPr>
            <a:spLocks noGrp="1"/>
          </p:cNvSpPr>
          <p:nvPr/>
        </p:nvSpPr>
        <p:spPr>
          <a:xfrm>
            <a:off x="3429000" y="4886325"/>
            <a:ext cx="2476500" cy="9048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入洗</a:t>
            </a:r>
          </a:p>
          <a:p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開始加工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F51D06-B369-43C9-8D7A-5A90B24D9C6E}"/>
              </a:ext>
            </a:extLst>
          </p:cNvPr>
          <p:cNvSpPr>
            <a:spLocks noGrp="1"/>
          </p:cNvSpPr>
          <p:nvPr/>
        </p:nvSpPr>
        <p:spPr>
          <a:xfrm>
            <a:off x="6334125" y="4886325"/>
            <a:ext cx="2476500" cy="9048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洗出</a:t>
            </a:r>
          </a:p>
          <a:p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酸洗完工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10DE2A2-A9F7-458B-B3EA-BE602C6EE264}"/>
              </a:ext>
            </a:extLst>
          </p:cNvPr>
          <p:cNvSpPr>
            <a:spLocks noGrp="1"/>
          </p:cNvSpPr>
          <p:nvPr/>
        </p:nvSpPr>
        <p:spPr>
          <a:xfrm>
            <a:off x="9239250" y="4886325"/>
            <a:ext cx="2476500" cy="9048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出庫</a:t>
            </a:r>
          </a:p>
          <a:p>
            <a:pPr algn="ctr">
              <a:buNone/>
              <a:def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掃碼出貨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59BB1E0-50D1-4BE8-840B-19EC7BD08CB3}"/>
              </a:ext>
            </a:extLst>
          </p:cNvPr>
          <p:cNvSpPr>
            <a:spLocks noGrp="1"/>
          </p:cNvSpPr>
          <p:nvPr/>
        </p:nvSpPr>
        <p:spPr>
          <a:xfrm>
            <a:off x="495300" y="5915025"/>
            <a:ext cx="10810875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每次回廠建立本次關聯並保留歷史。四個狀態各有意義，不能把入庫或入洗當作完工。</a:t>
            </a:r>
          </a:p>
        </p:txBody>
      </p:sp>
    </p:spTree>
    <p:extLst>
      <p:ext uri="{BB962C8B-B14F-4D97-AF65-F5344CB8AC3E}">
        <p14:creationId xmlns:p14="http://schemas.microsoft.com/office/powerpoint/2010/main" val="265643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91398CAD-BE09-46C8-83CF-413336C13AE1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>
            <a:off x="9286875" y="2762250"/>
            <a:ext cx="0" cy="714375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BC837B9F-A3D3-40E0-BFD1-45F0C89C276B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>
            <a:off x="2905125" y="2762250"/>
            <a:ext cx="0" cy="714375"/>
          </a:xfrm>
          <a:prstGeom prst="straightConnector1">
            <a:avLst/>
          </a:prstGeom>
          <a:ln w="21908">
            <a:solidFill>
              <a:srgbClr val="AF6812"/>
            </a:solidFill>
            <a:tailEnd type="triangle" w="med" len="med"/>
          </a:ln>
        </p:spPr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A92D0D44-9611-4DF7-8B45-1FD5E171D9D1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AR 與 QR Code：入庫串接的用途比較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FBA9AE-29C5-4BCF-AED7-E8C64B44D5A8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27AEEC0-0C56-45A4-BC32-71E4400DE6F8}"/>
              </a:ext>
            </a:extLst>
          </p:cNvPr>
          <p:cNvSpPr>
            <a:spLocks noGrp="1"/>
          </p:cNvSpPr>
          <p:nvPr/>
        </p:nvSpPr>
        <p:spPr>
          <a:xfrm>
            <a:off x="619125" y="1190625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550" b="1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550" b="1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rPr>
              <a:t>AR 擴增實境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2AAE141-EB74-402E-B463-ABB16B1A4A36}"/>
              </a:ext>
            </a:extLst>
          </p:cNvPr>
          <p:cNvSpPr>
            <a:spLocks noGrp="1"/>
          </p:cNvSpPr>
          <p:nvPr/>
        </p:nvSpPr>
        <p:spPr>
          <a:xfrm>
            <a:off x="6905625" y="1190625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5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5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QR Code／條碼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C1E8E32-1835-47D3-AF15-34773641B42F}"/>
              </a:ext>
            </a:extLst>
          </p:cNvPr>
          <p:cNvSpPr>
            <a:spLocks noGrp="1"/>
          </p:cNvSpPr>
          <p:nvPr/>
        </p:nvSpPr>
        <p:spPr>
          <a:xfrm>
            <a:off x="5772150" y="2857500"/>
            <a:ext cx="7429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00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00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VS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B583976-C148-433C-B20C-16439ECBE8F5}"/>
              </a:ext>
            </a:extLst>
          </p:cNvPr>
          <p:cNvSpPr>
            <a:spLocks noGrp="1"/>
          </p:cNvSpPr>
          <p:nvPr/>
        </p:nvSpPr>
        <p:spPr>
          <a:xfrm>
            <a:off x="619125" y="2047875"/>
            <a:ext cx="4572000" cy="714375"/>
          </a:xfrm>
          <a:prstGeom prst="rect">
            <a:avLst/>
          </a:prstGeom>
          <a:solidFill>
            <a:srgbClr val="FFF3DF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現場相機畫面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4C46E7C-3FD2-431E-ADD6-2CE880B73CC8}"/>
              </a:ext>
            </a:extLst>
          </p:cNvPr>
          <p:cNvSpPr>
            <a:spLocks noGrp="1"/>
          </p:cNvSpPr>
          <p:nvPr/>
        </p:nvSpPr>
        <p:spPr>
          <a:xfrm>
            <a:off x="619125" y="3476625"/>
            <a:ext cx="4572000" cy="1047750"/>
          </a:xfrm>
          <a:prstGeom prst="rect">
            <a:avLst/>
          </a:prstGeom>
          <a:solidFill>
            <a:srgbClr val="FFF3DF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空間定位與追蹤</a:t>
            </a:r>
          </a:p>
          <a:p>
            <a: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在畫面疊加資料卡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65B1DC5-A4B4-45E4-9436-9EC0FD21157F}"/>
              </a:ext>
            </a:extLst>
          </p:cNvPr>
          <p:cNvSpPr>
            <a:spLocks noGrp="1"/>
          </p:cNvSpPr>
          <p:nvPr/>
        </p:nvSpPr>
        <p:spPr>
          <a:xfrm>
            <a:off x="7000875" y="2047875"/>
            <a:ext cx="4572000" cy="7143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掃描盤元上的識別碼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2720858-E3FF-445F-9430-717CCC9644AC}"/>
              </a:ext>
            </a:extLst>
          </p:cNvPr>
          <p:cNvSpPr>
            <a:spLocks noGrp="1"/>
          </p:cNvSpPr>
          <p:nvPr/>
        </p:nvSpPr>
        <p:spPr>
          <a:xfrm>
            <a:off x="7000875" y="3476625"/>
            <a:ext cx="4572000" cy="1047750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對應本次入庫紀錄</a:t>
            </a:r>
          </a:p>
          <a:p>
            <a: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查工單、重量與作業狀態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FE2E82B-8C23-44E0-927E-2FAFD4725E31}"/>
              </a:ext>
            </a:extLst>
          </p:cNvPr>
          <p:cNvSpPr>
            <a:spLocks noGrp="1"/>
          </p:cNvSpPr>
          <p:nvPr/>
        </p:nvSpPr>
        <p:spPr>
          <a:xfrm>
            <a:off x="619125" y="4886325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0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rPr>
              <a:t>本次原型：手動放置標籤</a:t>
            </a:r>
          </a:p>
          <a:p>
            <a:pPr>
              <a:defRPr sz="20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rPr>
              <a:t>尚未建立正式入庫綁定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A9DCC4A-045F-40FD-BBE1-4780E36CC38D}"/>
              </a:ext>
            </a:extLst>
          </p:cNvPr>
          <p:cNvSpPr>
            <a:spLocks noGrp="1"/>
          </p:cNvSpPr>
          <p:nvPr/>
        </p:nvSpPr>
        <p:spPr>
          <a:xfrm>
            <a:off x="7000875" y="4886325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025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本階段：建立物料與資料關聯</a:t>
            </a:r>
          </a:p>
          <a:p>
            <a:pPr>
              <a:defRPr sz="2025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延伸入洗、出庫及跨廠查詢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28D664E-5FB6-43C2-816B-84E035C79C15}"/>
              </a:ext>
            </a:extLst>
          </p:cNvPr>
          <p:cNvSpPr>
            <a:spLocks noGrp="1"/>
          </p:cNvSpPr>
          <p:nvPr/>
        </p:nvSpPr>
        <p:spPr>
          <a:xfrm>
            <a:off x="495300" y="5905500"/>
            <a:ext cx="11144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AR 著重現場資訊呈現，QR Code 提供識別入口。兩者可以結合，研究先處理入庫資料串接。</a:t>
            </a:r>
          </a:p>
        </p:txBody>
      </p:sp>
    </p:spTree>
    <p:extLst>
      <p:ext uri="{BB962C8B-B14F-4D97-AF65-F5344CB8AC3E}">
        <p14:creationId xmlns:p14="http://schemas.microsoft.com/office/powerpoint/2010/main" val="265643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EBD2A2CB-B2C3-42C9-ACEF-2065D412B8A6}"/>
              </a:ext>
            </a:extLst>
          </p:cNvPr>
          <p:cNvCxnSpPr>
            <a:stCxn id="12" idx="3"/>
            <a:endCxn id="14" idx="0"/>
          </p:cNvCxnSpPr>
          <p:nvPr/>
        </p:nvCxnSpPr>
        <p:spPr>
          <a:xfrm flipH="1">
            <a:off x="9167813" y="1690688"/>
            <a:ext cx="1443038" cy="1357313"/>
          </a:xfrm>
          <a:prstGeom prst="bentConnector4">
            <a:avLst/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78223E4D-2F13-4BA6-A210-198163BAC67C}"/>
              </a:ext>
            </a:extLst>
          </p:cNvPr>
          <p:cNvCxnSpPr>
            <a:stCxn id="12" idx="1"/>
            <a:endCxn id="13" idx="0"/>
          </p:cNvCxnSpPr>
          <p:nvPr/>
        </p:nvCxnSpPr>
        <p:spPr>
          <a:xfrm>
            <a:off x="1581150" y="1690688"/>
            <a:ext cx="1443038" cy="1357313"/>
          </a:xfrm>
          <a:prstGeom prst="bentConnector4">
            <a:avLst/>
          </a:prstGeom>
          <a:ln w="21908">
            <a:solidFill>
              <a:srgbClr val="AF6812"/>
            </a:solidFill>
            <a:tailEnd type="triangle" w="med" len="med"/>
          </a:ln>
        </p:spPr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A92D0D44-9611-4DF7-8B45-1FD5E171D9D1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本階段選用 QR Code 的理由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FBA9AE-29C5-4BCF-AED7-E8C64B44D5A8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73B906B-B024-4089-9BB1-8AD8C980906C}"/>
              </a:ext>
            </a:extLst>
          </p:cNvPr>
          <p:cNvSpPr>
            <a:spLocks noGrp="1"/>
          </p:cNvSpPr>
          <p:nvPr/>
        </p:nvSpPr>
        <p:spPr>
          <a:xfrm>
            <a:off x="1809750" y="1238250"/>
            <a:ext cx="8572500" cy="9048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2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defRPr sz="22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公司需求</a:t>
            </a:r>
          </a:p>
          <a:p>
            <a:pPr algn="ctr">
              <a:defRPr sz="22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本次盤元入庫連結工單，讓各廠查到最新進度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E7549B2-700C-49A9-AF44-A96BC85A1AC4}"/>
              </a:ext>
            </a:extLst>
          </p:cNvPr>
          <p:cNvSpPr>
            <a:spLocks noGrp="1"/>
          </p:cNvSpPr>
          <p:nvPr/>
        </p:nvSpPr>
        <p:spPr>
          <a:xfrm>
            <a:off x="571500" y="3048000"/>
            <a:ext cx="4905375" cy="1333500"/>
          </a:xfrm>
          <a:prstGeom prst="rect">
            <a:avLst/>
          </a:prstGeom>
          <a:solidFill>
            <a:srgbClr val="FFF3DF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AR 延伸工作</a:t>
            </a:r>
          </a:p>
          <a:p>
            <a: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定位穩定、遮擋與移動追蹤</a:t>
            </a:r>
          </a:p>
          <a:p>
            <a: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物料身分綁定及維護評估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1F8D69E-3F62-46DA-A1D2-14C01B0BE03C}"/>
              </a:ext>
            </a:extLst>
          </p:cNvPr>
          <p:cNvSpPr>
            <a:spLocks noGrp="1"/>
          </p:cNvSpPr>
          <p:nvPr/>
        </p:nvSpPr>
        <p:spPr>
          <a:xfrm>
            <a:off x="6715125" y="3048000"/>
            <a:ext cx="4905375" cy="1333500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QR Code 研究範圍</a:t>
            </a:r>
          </a:p>
          <a:p>
            <a: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核對盤元並串接本次入庫</a:t>
            </a:r>
          </a:p>
          <a:p>
            <a: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沿用掃碼，量測資訊同步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215B5E7-005B-4F21-9EFB-B773254136D5}"/>
              </a:ext>
            </a:extLst>
          </p:cNvPr>
          <p:cNvSpPr>
            <a:spLocks noGrp="1"/>
          </p:cNvSpPr>
          <p:nvPr/>
        </p:nvSpPr>
        <p:spPr>
          <a:xfrm>
            <a:off x="619125" y="4724400"/>
            <a:ext cx="48101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0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rPr>
              <a:t>原型曾回報標籤飄移</a:t>
            </a:r>
          </a:p>
          <a:p>
            <a:pPr>
              <a:defRPr sz="20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rPr>
              <a:t>可靠性與建置成本仍待驗證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3405FF2-D21D-4F71-8CCC-29AF83F476F4}"/>
              </a:ext>
            </a:extLst>
          </p:cNvPr>
          <p:cNvSpPr>
            <a:spLocks noGrp="1"/>
          </p:cNvSpPr>
          <p:nvPr/>
        </p:nvSpPr>
        <p:spPr>
          <a:xfrm>
            <a:off x="6762750" y="4724400"/>
            <a:ext cx="48101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025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依 10/13 討論後的老師建議</a:t>
            </a:r>
          </a:p>
          <a:p>
            <a:pPr>
              <a:defRPr sz="2025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優先驗證現有作業的串接效益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2406435-CB55-44D9-A6F5-742FFE483091}"/>
              </a:ext>
            </a:extLst>
          </p:cNvPr>
          <p:cNvSpPr>
            <a:spLocks noGrp="1"/>
          </p:cNvSpPr>
          <p:nvPr/>
        </p:nvSpPr>
        <p:spPr>
          <a:xfrm>
            <a:off x="495300" y="5905500"/>
            <a:ext cx="11144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AR 保留為後續研究。QR 仍需標籤可讀、人工核對及例外處理，尚無兩方案成本或成功率比較。</a:t>
            </a:r>
          </a:p>
        </p:txBody>
      </p:sp>
    </p:spTree>
    <p:extLst>
      <p:ext uri="{BB962C8B-B14F-4D97-AF65-F5344CB8AC3E}">
        <p14:creationId xmlns:p14="http://schemas.microsoft.com/office/powerpoint/2010/main" val="265643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接點: 肘形 25">
            <a:extLst>
              <a:ext uri="{FF2B5EF4-FFF2-40B4-BE49-F238E27FC236}">
                <a16:creationId xmlns:a16="http://schemas.microsoft.com/office/drawing/2014/main" id="{2841BDA5-DE33-41EF-A5C9-6F19695FA620}"/>
              </a:ext>
            </a:extLst>
          </p:cNvPr>
          <p:cNvCxnSpPr>
            <a:stCxn id="22" idx="2"/>
            <a:endCxn id="24" idx="0"/>
          </p:cNvCxnSpPr>
          <p:nvPr/>
        </p:nvCxnSpPr>
        <p:spPr>
          <a:xfrm>
            <a:off x="9286875" y="3143250"/>
            <a:ext cx="1214438" cy="1000125"/>
          </a:xfrm>
          <a:prstGeom prst="bentConnector4">
            <a:avLst>
              <a:gd name="adj1" fmla="val 0"/>
              <a:gd name="adj2" fmla="val 50000"/>
            </a:avLst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25" name="接點: 肘形 24">
            <a:extLst>
              <a:ext uri="{FF2B5EF4-FFF2-40B4-BE49-F238E27FC236}">
                <a16:creationId xmlns:a16="http://schemas.microsoft.com/office/drawing/2014/main" id="{58142DFA-9E7B-4E98-8DFA-9F1E1A0B32EB}"/>
              </a:ext>
            </a:extLst>
          </p:cNvPr>
          <p:cNvCxnSpPr>
            <a:stCxn id="22" idx="2"/>
            <a:endCxn id="23" idx="0"/>
          </p:cNvCxnSpPr>
          <p:nvPr/>
        </p:nvCxnSpPr>
        <p:spPr>
          <a:xfrm flipH="1">
            <a:off x="8072438" y="3143250"/>
            <a:ext cx="1214438" cy="1000125"/>
          </a:xfrm>
          <a:prstGeom prst="bentConnector4">
            <a:avLst>
              <a:gd name="adj1" fmla="val 0"/>
              <a:gd name="adj2" fmla="val 50000"/>
            </a:avLst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A364034E-78E9-4745-B635-7BC2E6BC7C05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>
            <a:off x="3000375" y="4333875"/>
            <a:ext cx="0" cy="514350"/>
          </a:xfrm>
          <a:prstGeom prst="straightConnector1">
            <a:avLst/>
          </a:prstGeom>
          <a:ln w="21908">
            <a:solidFill>
              <a:srgbClr val="AF6812"/>
            </a:solidFill>
            <a:tailEnd type="triangle" w="med" len="med"/>
          </a:ln>
        </p:spPr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0FA393E3-5784-4F0D-B3F2-E6C044C9C1CE}"/>
              </a:ext>
            </a:extLst>
          </p:cNvPr>
          <p:cNvCxnSpPr>
            <a:stCxn id="17" idx="2"/>
            <a:endCxn id="18" idx="0"/>
          </p:cNvCxnSpPr>
          <p:nvPr/>
        </p:nvCxnSpPr>
        <p:spPr>
          <a:xfrm>
            <a:off x="3000375" y="3143250"/>
            <a:ext cx="0" cy="504825"/>
          </a:xfrm>
          <a:prstGeom prst="straightConnector1">
            <a:avLst/>
          </a:prstGeom>
          <a:ln w="21908">
            <a:solidFill>
              <a:srgbClr val="AF6812"/>
            </a:solidFill>
            <a:tailEnd type="triangle" w="med" len="med"/>
          </a:ln>
        </p:spPr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7B80A4E1-B431-4345-9C48-A335D9D2A100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VS 情境：同一筆急件已收料，其他人知道了嗎？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5B508F2-D552-44EF-9555-705303EF41BF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55E4788-A72E-4BA5-998A-CFCC0B8A2687}"/>
              </a:ext>
            </a:extLst>
          </p:cNvPr>
          <p:cNvSpPr>
            <a:spLocks noGrp="1"/>
          </p:cNvSpPr>
          <p:nvPr/>
        </p:nvSpPr>
        <p:spPr>
          <a:xfrm>
            <a:off x="523875" y="1123950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02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情境示意：收料人員已完成同一筆急件的收料核對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B5A676F-B060-4013-B572-074FB3748074}"/>
              </a:ext>
            </a:extLst>
          </p:cNvPr>
          <p:cNvSpPr>
            <a:spLocks noGrp="1"/>
          </p:cNvSpPr>
          <p:nvPr/>
        </p:nvSpPr>
        <p:spPr>
          <a:xfrm>
            <a:off x="714375" y="1809750"/>
            <a:ext cx="4381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475" b="1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475" b="1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rPr>
              <a:t>純紙本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D26BB8C-495B-414B-9856-C78D6BB496EB}"/>
              </a:ext>
            </a:extLst>
          </p:cNvPr>
          <p:cNvSpPr>
            <a:spLocks noGrp="1"/>
          </p:cNvSpPr>
          <p:nvPr/>
        </p:nvSpPr>
        <p:spPr>
          <a:xfrm>
            <a:off x="5762625" y="3105150"/>
            <a:ext cx="666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8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8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VS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8B6945D-452B-43D9-8039-E6342BFF854C}"/>
              </a:ext>
            </a:extLst>
          </p:cNvPr>
          <p:cNvSpPr>
            <a:spLocks noGrp="1"/>
          </p:cNvSpPr>
          <p:nvPr/>
        </p:nvSpPr>
        <p:spPr>
          <a:xfrm>
            <a:off x="7000875" y="1809750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4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4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MES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3216F53-467E-4A8C-B9A3-D95B798A019B}"/>
              </a:ext>
            </a:extLst>
          </p:cNvPr>
          <p:cNvSpPr>
            <a:spLocks noGrp="1"/>
          </p:cNvSpPr>
          <p:nvPr/>
        </p:nvSpPr>
        <p:spPr>
          <a:xfrm>
            <a:off x="714375" y="2457450"/>
            <a:ext cx="4572000" cy="685800"/>
          </a:xfrm>
          <a:prstGeom prst="rect">
            <a:avLst/>
          </a:prstGeom>
          <a:solidFill>
            <a:srgbClr val="FFF3DF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收料人員已記錄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ED0ABA-32B4-4164-9869-709D31AC7BC6}"/>
              </a:ext>
            </a:extLst>
          </p:cNvPr>
          <p:cNvSpPr>
            <a:spLocks noGrp="1"/>
          </p:cNvSpPr>
          <p:nvPr/>
        </p:nvSpPr>
        <p:spPr>
          <a:xfrm>
            <a:off x="714375" y="3648075"/>
            <a:ext cx="4572000" cy="685800"/>
          </a:xfrm>
          <a:prstGeom prst="rect">
            <a:avLst/>
          </a:prstGeom>
          <a:solidFill>
            <a:srgbClr val="FFF3DF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中央生管仍需找單或詢問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9DFEDC2-8BA0-43A5-BF6F-0FC97A37EC4A}"/>
              </a:ext>
            </a:extLst>
          </p:cNvPr>
          <p:cNvSpPr>
            <a:spLocks noGrp="1"/>
          </p:cNvSpPr>
          <p:nvPr/>
        </p:nvSpPr>
        <p:spPr>
          <a:xfrm>
            <a:off x="714375" y="4848225"/>
            <a:ext cx="4572000" cy="685800"/>
          </a:xfrm>
          <a:prstGeom prst="rect">
            <a:avLst/>
          </a:prstGeom>
          <a:solidFill>
            <a:srgbClr val="FFF3DF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下游等待本次進度回覆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8C49F21-251C-41A8-9970-5E0A72A1F846}"/>
              </a:ext>
            </a:extLst>
          </p:cNvPr>
          <p:cNvSpPr>
            <a:spLocks noGrp="1"/>
          </p:cNvSpPr>
          <p:nvPr/>
        </p:nvSpPr>
        <p:spPr>
          <a:xfrm>
            <a:off x="7000875" y="2457450"/>
            <a:ext cx="4572000" cy="685800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收料人員完成 MES 登錄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BBAA773-9F94-4FEB-A096-1C09FFC1B98C}"/>
              </a:ext>
            </a:extLst>
          </p:cNvPr>
          <p:cNvSpPr>
            <a:spLocks noGrp="1"/>
          </p:cNvSpPr>
          <p:nvPr/>
        </p:nvSpPr>
        <p:spPr>
          <a:xfrm>
            <a:off x="7000875" y="4143375"/>
            <a:ext cx="2143125" cy="12858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中央生管</a:t>
            </a:r>
          </a:p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查本次入庫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FC4C03B-B4B9-4F97-A783-504AB5548891}"/>
              </a:ext>
            </a:extLst>
          </p:cNvPr>
          <p:cNvSpPr>
            <a:spLocks noGrp="1"/>
          </p:cNvSpPr>
          <p:nvPr/>
        </p:nvSpPr>
        <p:spPr>
          <a:xfrm>
            <a:off x="9429750" y="4143375"/>
            <a:ext cx="2143125" cy="12858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下游廠區</a:t>
            </a:r>
          </a:p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查同一進度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3BDA3BB-1A6D-4DDF-B845-88FD4DC02700}"/>
              </a:ext>
            </a:extLst>
          </p:cNvPr>
          <p:cNvSpPr>
            <a:spLocks noGrp="1"/>
          </p:cNvSpPr>
          <p:nvPr/>
        </p:nvSpPr>
        <p:spPr>
          <a:xfrm>
            <a:off x="495300" y="5915025"/>
            <a:ext cx="108585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比較焦點：多久能取得更新、各角色看到的狀態是否一致，以及需要多少次詢問。</a:t>
            </a:r>
          </a:p>
        </p:txBody>
      </p:sp>
    </p:spTree>
    <p:extLst>
      <p:ext uri="{BB962C8B-B14F-4D97-AF65-F5344CB8AC3E}">
        <p14:creationId xmlns:p14="http://schemas.microsoft.com/office/powerpoint/2010/main" val="1179111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接點: 肘形 13">
            <a:extLst>
              <a:ext uri="{FF2B5EF4-FFF2-40B4-BE49-F238E27FC236}">
                <a16:creationId xmlns:a16="http://schemas.microsoft.com/office/drawing/2014/main" id="{E62A660F-925E-46DD-A131-2A6D5549EA94}"/>
              </a:ext>
            </a:extLst>
          </p:cNvPr>
          <p:cNvCxnSpPr>
            <a:stCxn id="6" idx="3"/>
            <a:endCxn id="10" idx="1"/>
          </p:cNvCxnSpPr>
          <p:nvPr/>
        </p:nvCxnSpPr>
        <p:spPr>
          <a:xfrm>
            <a:off x="7572375" y="3328988"/>
            <a:ext cx="1000125" cy="1709738"/>
          </a:xfrm>
          <a:prstGeom prst="bentConnector3">
            <a:avLst>
              <a:gd name="adj1" fmla="val 50000"/>
            </a:avLst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13" name="接點: 肘形 12">
            <a:extLst>
              <a:ext uri="{FF2B5EF4-FFF2-40B4-BE49-F238E27FC236}">
                <a16:creationId xmlns:a16="http://schemas.microsoft.com/office/drawing/2014/main" id="{000E8C5A-0373-4E41-BFE2-F2C0CA1E024C}"/>
              </a:ext>
            </a:extLst>
          </p:cNvPr>
          <p:cNvCxnSpPr>
            <a:stCxn id="6" idx="1"/>
            <a:endCxn id="9" idx="3"/>
          </p:cNvCxnSpPr>
          <p:nvPr/>
        </p:nvCxnSpPr>
        <p:spPr>
          <a:xfrm flipH="1">
            <a:off x="3333750" y="3328988"/>
            <a:ext cx="762000" cy="1709738"/>
          </a:xfrm>
          <a:prstGeom prst="bentConnector3">
            <a:avLst>
              <a:gd name="adj1" fmla="val 50000"/>
            </a:avLst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12" name="接點: 肘形 11">
            <a:extLst>
              <a:ext uri="{FF2B5EF4-FFF2-40B4-BE49-F238E27FC236}">
                <a16:creationId xmlns:a16="http://schemas.microsoft.com/office/drawing/2014/main" id="{37A2C979-D264-4B7E-B1D8-03BDF56D6369}"/>
              </a:ext>
            </a:extLst>
          </p:cNvPr>
          <p:cNvCxnSpPr>
            <a:stCxn id="6" idx="3"/>
            <a:endCxn id="8" idx="1"/>
          </p:cNvCxnSpPr>
          <p:nvPr/>
        </p:nvCxnSpPr>
        <p:spPr>
          <a:xfrm flipV="1">
            <a:off x="7572375" y="2133600"/>
            <a:ext cx="1000125" cy="1195388"/>
          </a:xfrm>
          <a:prstGeom prst="bentConnector3">
            <a:avLst>
              <a:gd name="adj1" fmla="val 50000"/>
            </a:avLst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11" name="接點: 肘形 10">
            <a:extLst>
              <a:ext uri="{FF2B5EF4-FFF2-40B4-BE49-F238E27FC236}">
                <a16:creationId xmlns:a16="http://schemas.microsoft.com/office/drawing/2014/main" id="{72AE99E4-3330-4195-B1AC-036B72EBA537}"/>
              </a:ext>
            </a:extLst>
          </p:cNvPr>
          <p:cNvCxnSpPr>
            <a:stCxn id="6" idx="1"/>
            <a:endCxn id="7" idx="3"/>
          </p:cNvCxnSpPr>
          <p:nvPr/>
        </p:nvCxnSpPr>
        <p:spPr>
          <a:xfrm flipH="1" flipV="1">
            <a:off x="3333750" y="2133600"/>
            <a:ext cx="762000" cy="1195388"/>
          </a:xfrm>
          <a:prstGeom prst="bentConnector3">
            <a:avLst>
              <a:gd name="adj1" fmla="val 50000"/>
            </a:avLst>
          </a:prstGeom>
          <a:ln w="21908">
            <a:solidFill>
              <a:srgbClr val="087F8C"/>
            </a:solidFill>
            <a:tailEnd type="triangle" w="med" len="med"/>
          </a:ln>
        </p:spPr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98D1D614-1FDD-4A13-A0B4-070B92D30C25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公司貢獻：各角色共用進度，支持各自的排程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1ADB2C5-0099-4BD8-A470-0D6516AF4464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AE6C49-2BE8-407B-84C9-CB5EC126E3A0}"/>
              </a:ext>
            </a:extLst>
          </p:cNvPr>
          <p:cNvSpPr>
            <a:spLocks noGrp="1"/>
          </p:cNvSpPr>
          <p:nvPr/>
        </p:nvSpPr>
        <p:spPr>
          <a:xfrm>
            <a:off x="4095750" y="2533650"/>
            <a:ext cx="3476625" cy="15906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MES 共用進度</a:t>
            </a:r>
          </a:p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本次入庫、入洗</a:t>
            </a:r>
          </a:p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洗出、出庫紀錄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0674777-A7B2-4B1E-B124-9FF3E20CA7ED}"/>
              </a:ext>
            </a:extLst>
          </p:cNvPr>
          <p:cNvSpPr>
            <a:spLocks noGrp="1"/>
          </p:cNvSpPr>
          <p:nvPr/>
        </p:nvSpPr>
        <p:spPr>
          <a:xfrm>
            <a:off x="571500" y="1381125"/>
            <a:ext cx="2762250" cy="1504950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中央生管</a:t>
            </a:r>
          </a:p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確認急件到料</a:t>
            </a:r>
          </a:p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調整跨廠加工順序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16DD6B3-7D52-4F9A-8CAA-30909E93249F}"/>
              </a:ext>
            </a:extLst>
          </p:cNvPr>
          <p:cNvSpPr>
            <a:spLocks noGrp="1"/>
          </p:cNvSpPr>
          <p:nvPr/>
        </p:nvSpPr>
        <p:spPr>
          <a:xfrm>
            <a:off x="8572500" y="1381125"/>
            <a:ext cx="2952750" cy="1504950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球化廠</a:t>
            </a:r>
          </a:p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掌握酸洗交接狀態</a:t>
            </a:r>
          </a:p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協調接續加工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B89E383-BF1B-4FA3-ABB9-3C01E8C8A52F}"/>
              </a:ext>
            </a:extLst>
          </p:cNvPr>
          <p:cNvSpPr>
            <a:spLocks noGrp="1"/>
          </p:cNvSpPr>
          <p:nvPr/>
        </p:nvSpPr>
        <p:spPr>
          <a:xfrm>
            <a:off x="571500" y="4286250"/>
            <a:ext cx="2762250" cy="1504950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收料職代</a:t>
            </a:r>
          </a:p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查昨日已收料</a:t>
            </a:r>
          </a:p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避免只靠口頭交接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AF73E67-AE7C-4541-87B6-997D64558B21}"/>
              </a:ext>
            </a:extLst>
          </p:cNvPr>
          <p:cNvSpPr>
            <a:spLocks noGrp="1"/>
          </p:cNvSpPr>
          <p:nvPr/>
        </p:nvSpPr>
        <p:spPr>
          <a:xfrm>
            <a:off x="8572500" y="4286250"/>
            <a:ext cx="2952750" cy="1504950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伸線廠 A／B</a:t>
            </a:r>
          </a:p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提早準備模具</a:t>
            </a:r>
          </a:p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評估客戶交貨時程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3E6C24B-C7B7-4168-8172-8C9328195068}"/>
              </a:ext>
            </a:extLst>
          </p:cNvPr>
          <p:cNvSpPr>
            <a:spLocks noGrp="1"/>
          </p:cNvSpPr>
          <p:nvPr/>
        </p:nvSpPr>
        <p:spPr>
          <a:xfrm>
            <a:off x="495300" y="5915025"/>
            <a:ext cx="108585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已有共用查詢能力。少等多久、少問幾次，以及角色更新是否一致，交由實測驗證。</a:t>
            </a:r>
          </a:p>
        </p:txBody>
      </p:sp>
    </p:spTree>
    <p:extLst>
      <p:ext uri="{BB962C8B-B14F-4D97-AF65-F5344CB8AC3E}">
        <p14:creationId xmlns:p14="http://schemas.microsoft.com/office/powerpoint/2010/main" val="735645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D1D4211-BC78-4D4D-8678-C9B6F63401ED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MES 如何支援急件追查與每日交接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113B86D-DFD9-419E-9547-930C417EE3A1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F608642-0B6A-4A2E-8049-F9DDEF668338}"/>
              </a:ext>
            </a:extLst>
          </p:cNvPr>
          <p:cNvGraphicFramePr/>
          <p:nvPr/>
        </p:nvGraphicFramePr>
        <p:xfrm>
          <a:off x="495300" y="1762125"/>
          <a:ext cx="11201400" cy="3000376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9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0094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查核對象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時點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負責人與動作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0094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次日應加工料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次日 12:00前查核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生管查是否尚未入庫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0094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急件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預排時程前兩小時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生管查入庫單據並向入庫人員確認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094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當日應加工料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加工期間到收班前兩小時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主管核對入洗，再完單報產量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84384335-5455-4D4A-82FA-6B96E932131F}"/>
              </a:ext>
            </a:extLst>
          </p:cNvPr>
          <p:cNvSpPr>
            <a:spLocks noGrp="1"/>
          </p:cNvSpPr>
          <p:nvPr/>
        </p:nvSpPr>
        <p:spPr>
          <a:xfrm>
            <a:off x="523875" y="5143500"/>
            <a:ext cx="110966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3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3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人員請假時，職代可查昨日紀錄接續收料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42CC4F0-0F14-4021-AE02-B892ADC0048B}"/>
              </a:ext>
            </a:extLst>
          </p:cNvPr>
          <p:cNvSpPr>
            <a:spLocks noGrp="1"/>
          </p:cNvSpPr>
          <p:nvPr/>
        </p:nvSpPr>
        <p:spPr>
          <a:xfrm>
            <a:off x="495300" y="5915025"/>
            <a:ext cx="10810875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查無紀錄仍須向現場確認。這些為人工作業制度，不表示系統已自動提醒或自動排程。</a:t>
            </a:r>
          </a:p>
        </p:txBody>
      </p:sp>
    </p:spTree>
    <p:extLst>
      <p:ext uri="{BB962C8B-B14F-4D97-AF65-F5344CB8AC3E}">
        <p14:creationId xmlns:p14="http://schemas.microsoft.com/office/powerpoint/2010/main" val="1511236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49241014-3075-47C1-83DA-7DADA8D95830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>
            <a:off x="6905625" y="2281238"/>
            <a:ext cx="1238250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2C16E421-165A-48C8-B35C-55C15784CF8B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>
            <a:off x="3095625" y="2281238"/>
            <a:ext cx="1238250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med" len="med"/>
          </a:ln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31B02AED-8CD2-46AC-95F1-62B6AC95059B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資料同步要量測到「其他角色取得更新」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7F25CCD-7697-4A47-A727-F250F4597CE1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4C68B0B-B106-4DB1-A56A-DA5495935DBA}"/>
              </a:ext>
            </a:extLst>
          </p:cNvPr>
          <p:cNvSpPr>
            <a:spLocks noGrp="1"/>
          </p:cNvSpPr>
          <p:nvPr/>
        </p:nvSpPr>
        <p:spPr>
          <a:xfrm>
            <a:off x="523875" y="1685925"/>
            <a:ext cx="2571750" cy="119062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T0</a:t>
            </a:r>
          </a:p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現場核對完成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8338C3F-7910-4213-AC80-1910752B7B55}"/>
              </a:ext>
            </a:extLst>
          </p:cNvPr>
          <p:cNvSpPr>
            <a:spLocks noGrp="1"/>
          </p:cNvSpPr>
          <p:nvPr/>
        </p:nvSpPr>
        <p:spPr>
          <a:xfrm>
            <a:off x="4333875" y="1685925"/>
            <a:ext cx="2571750" cy="119062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T1</a:t>
            </a:r>
          </a:p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紀錄完成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66E54D6-EF84-4F7F-8051-51E05998CE9C}"/>
              </a:ext>
            </a:extLst>
          </p:cNvPr>
          <p:cNvSpPr>
            <a:spLocks noGrp="1"/>
          </p:cNvSpPr>
          <p:nvPr/>
        </p:nvSpPr>
        <p:spPr>
          <a:xfrm>
            <a:off x="8143875" y="1685925"/>
            <a:ext cx="3524250" cy="119062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T2,r</a:t>
            </a:r>
          </a:p>
          <a:p>
            <a:pPr algn="ctr">
              <a:buNone/>
              <a:def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角色 r 查見最新狀態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40816F5-C58B-4E66-84A2-506D7C589090}"/>
              </a:ext>
            </a:extLst>
          </p:cNvPr>
          <p:cNvSpPr>
            <a:spLocks noGrp="1"/>
          </p:cNvSpPr>
          <p:nvPr/>
        </p:nvSpPr>
        <p:spPr>
          <a:xfrm>
            <a:off x="4191000" y="3086100"/>
            <a:ext cx="319087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紙本：寫入單據</a:t>
            </a:r>
          </a:p>
          <a:p>
            <a:pPr>
              <a:buNone/>
              <a:def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MES：伺服器保存成功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6322D14-50F8-47A7-ABF4-4FC3F35945E5}"/>
              </a:ext>
            </a:extLst>
          </p:cNvPr>
          <p:cNvSpPr>
            <a:spLocks noGrp="1"/>
          </p:cNvSpPr>
          <p:nvPr/>
        </p:nvSpPr>
        <p:spPr>
          <a:xfrm>
            <a:off x="8334375" y="3086100"/>
            <a:ext cx="319087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採相同查詢檢查頻率</a:t>
            </a:r>
          </a:p>
          <a:p>
            <a:pPr>
              <a:buNone/>
              <a:def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各角色分別記錄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3500709-F142-4AD1-AB92-659A385AB367}"/>
              </a:ext>
            </a:extLst>
          </p:cNvPr>
          <p:cNvSpPr>
            <a:spLocks noGrp="1"/>
          </p:cNvSpPr>
          <p:nvPr/>
        </p:nvSpPr>
        <p:spPr>
          <a:xfrm>
            <a:off x="523875" y="4286250"/>
            <a:ext cx="27622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登錄延遲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A539670-0E89-4BDB-88DB-AA9A26C7EDD7}"/>
              </a:ext>
            </a:extLst>
          </p:cNvPr>
          <p:cNvSpPr>
            <a:spLocks noGrp="1"/>
          </p:cNvSpPr>
          <p:nvPr/>
        </p:nvSpPr>
        <p:spPr>
          <a:xfrm>
            <a:off x="523875" y="4819650"/>
            <a:ext cx="28575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4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4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T1 − T0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D4C1DDF-8AA0-45DF-88F8-796DC8BB6BCC}"/>
              </a:ext>
            </a:extLst>
          </p:cNvPr>
          <p:cNvSpPr>
            <a:spLocks noGrp="1"/>
          </p:cNvSpPr>
          <p:nvPr/>
        </p:nvSpPr>
        <p:spPr>
          <a:xfrm>
            <a:off x="4324350" y="4286250"/>
            <a:ext cx="32385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資訊可取得延遲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DD5F1D6-4EE3-4223-8219-A1AF8A0D2C26}"/>
              </a:ext>
            </a:extLst>
          </p:cNvPr>
          <p:cNvSpPr>
            <a:spLocks noGrp="1"/>
          </p:cNvSpPr>
          <p:nvPr/>
        </p:nvSpPr>
        <p:spPr>
          <a:xfrm>
            <a:off x="4324350" y="4819650"/>
            <a:ext cx="33337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4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4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T2,r − T1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41C4A07-A507-488B-B160-DC2A32086944}"/>
              </a:ext>
            </a:extLst>
          </p:cNvPr>
          <p:cNvSpPr>
            <a:spLocks noGrp="1"/>
          </p:cNvSpPr>
          <p:nvPr/>
        </p:nvSpPr>
        <p:spPr>
          <a:xfrm>
            <a:off x="8124825" y="4286250"/>
            <a:ext cx="35242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端到端同步時間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F60ECB4-6352-4CC3-8C27-9C42EE0A35C6}"/>
              </a:ext>
            </a:extLst>
          </p:cNvPr>
          <p:cNvSpPr>
            <a:spLocks noGrp="1"/>
          </p:cNvSpPr>
          <p:nvPr/>
        </p:nvSpPr>
        <p:spPr>
          <a:xfrm>
            <a:off x="8124825" y="4819650"/>
            <a:ext cx="3429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4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4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T2,r − T0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5EAFB11-28B1-4058-BE4A-84436EC3AEFC}"/>
              </a:ext>
            </a:extLst>
          </p:cNvPr>
          <p:cNvSpPr>
            <a:spLocks noGrp="1"/>
          </p:cNvSpPr>
          <p:nvPr/>
        </p:nvSpPr>
        <p:spPr>
          <a:xfrm>
            <a:off x="495300" y="5915025"/>
            <a:ext cx="108585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另記角色實際確認時間 T3,r，區分「已可查見」與「人員已掌握」。現有資料不足以直接算出全部指標。</a:t>
            </a:r>
          </a:p>
        </p:txBody>
      </p:sp>
    </p:spTree>
    <p:extLst>
      <p:ext uri="{BB962C8B-B14F-4D97-AF65-F5344CB8AC3E}">
        <p14:creationId xmlns:p14="http://schemas.microsoft.com/office/powerpoint/2010/main" val="1567451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972E77F5-1027-42E6-AB0E-E094755367A1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MES 已留下可供查詢與研究的作業紀錄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73844D3-EAAA-48BB-BC53-F489AADD39D8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CD6CEE-2045-4020-B542-1A68E2A28523}"/>
              </a:ext>
            </a:extLst>
          </p:cNvPr>
          <p:cNvSpPr>
            <a:spLocks noGrp="1"/>
          </p:cNvSpPr>
          <p:nvPr/>
        </p:nvSpPr>
        <p:spPr>
          <a:xfrm>
            <a:off x="571500" y="1857375"/>
            <a:ext cx="3571875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57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57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7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8,832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3FFA4AC-8FA5-49C9-943F-D1D9E3F5ABE6}"/>
              </a:ext>
            </a:extLst>
          </p:cNvPr>
          <p:cNvSpPr>
            <a:spLocks noGrp="1"/>
          </p:cNvSpPr>
          <p:nvPr/>
        </p:nvSpPr>
        <p:spPr>
          <a:xfrm>
            <a:off x="619125" y="3000375"/>
            <a:ext cx="357187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有效入庫紀錄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471B55-EB20-4437-A263-34C8E58EE0A8}"/>
              </a:ext>
            </a:extLst>
          </p:cNvPr>
          <p:cNvSpPr>
            <a:spLocks noGrp="1"/>
          </p:cNvSpPr>
          <p:nvPr/>
        </p:nvSpPr>
        <p:spPr>
          <a:xfrm>
            <a:off x="4524375" y="1857375"/>
            <a:ext cx="3571875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57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57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7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8,800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D8825E4-E257-4AD5-9EC7-91CEC2C65DDA}"/>
              </a:ext>
            </a:extLst>
          </p:cNvPr>
          <p:cNvSpPr>
            <a:spLocks noGrp="1"/>
          </p:cNvSpPr>
          <p:nvPr/>
        </p:nvSpPr>
        <p:spPr>
          <a:xfrm>
            <a:off x="4572000" y="3000375"/>
            <a:ext cx="357187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自主入洗紀錄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7406244-E9EF-49DD-A0AB-37E31A0D6F91}"/>
              </a:ext>
            </a:extLst>
          </p:cNvPr>
          <p:cNvSpPr>
            <a:spLocks noGrp="1"/>
          </p:cNvSpPr>
          <p:nvPr/>
        </p:nvSpPr>
        <p:spPr>
          <a:xfrm>
            <a:off x="8477250" y="1857375"/>
            <a:ext cx="3571875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57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57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7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7,841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3ED37F1-0EC5-4785-91B2-F5A51EF66C4B}"/>
              </a:ext>
            </a:extLst>
          </p:cNvPr>
          <p:cNvSpPr>
            <a:spLocks noGrp="1"/>
          </p:cNvSpPr>
          <p:nvPr/>
        </p:nvSpPr>
        <p:spPr>
          <a:xfrm>
            <a:off x="8524875" y="3000375"/>
            <a:ext cx="3571875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已確認出庫明細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D40F2B9-C381-40F9-B0DF-4E98AA675B53}"/>
              </a:ext>
            </a:extLst>
          </p:cNvPr>
          <p:cNvSpPr>
            <a:spLocks noGrp="1"/>
          </p:cNvSpPr>
          <p:nvPr/>
        </p:nvSpPr>
        <p:spPr>
          <a:xfrm>
            <a:off x="523875" y="1143000"/>
            <a:ext cx="11049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2026/08/27–10/13，共 48 個日曆日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A5B3F3-4CF2-461D-AAB1-1DFBB8B98000}"/>
              </a:ext>
            </a:extLst>
          </p:cNvPr>
          <p:cNvSpPr>
            <a:spLocks noGrp="1"/>
          </p:cNvSpPr>
          <p:nvPr/>
        </p:nvSpPr>
        <p:spPr>
          <a:xfrm>
            <a:off x="523875" y="419100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40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40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18,683,984 kg 入庫重量　　575 張確認出貨單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4C5E626-82C8-4F95-8FE9-CAC821D18149}"/>
              </a:ext>
            </a:extLst>
          </p:cNvPr>
          <p:cNvSpPr>
            <a:spLocks noGrp="1"/>
          </p:cNvSpPr>
          <p:nvPr/>
        </p:nvSpPr>
        <p:spPr>
          <a:xfrm>
            <a:off x="523875" y="4991100"/>
            <a:ext cx="11049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1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37 天有入庫紀錄，31 天有入洗紀錄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932512A-680E-4B5D-8290-12910E1831FE}"/>
              </a:ext>
            </a:extLst>
          </p:cNvPr>
          <p:cNvSpPr>
            <a:spLocks noGrp="1"/>
          </p:cNvSpPr>
          <p:nvPr/>
        </p:nvSpPr>
        <p:spPr>
          <a:xfrm>
            <a:off x="495300" y="5915025"/>
            <a:ext cx="10810875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8/27–10/13，10/14 11:52 唯讀快照。各工序非同批料，總數不可相減當餘料。</a:t>
            </a:r>
          </a:p>
        </p:txBody>
      </p:sp>
    </p:spTree>
    <p:extLst>
      <p:ext uri="{BB962C8B-B14F-4D97-AF65-F5344CB8AC3E}">
        <p14:creationId xmlns:p14="http://schemas.microsoft.com/office/powerpoint/2010/main" val="39260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962201D-7F8B-4E54-B008-2E7CFF615A9C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實際入庫資料呈現預收與多規格情境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4C0FD19-325A-4CA2-BFE8-86B97E35B827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47FF8780-4526-47F0-B9D2-7E0F5FE8E0AE}"/>
              </a:ext>
            </a:extLst>
          </p:cNvPr>
          <p:cNvGraphicFramePr/>
          <p:nvPr/>
        </p:nvGraphicFramePr>
        <p:xfrm>
          <a:off x="428625" y="1476375"/>
          <a:ext cx="714375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335A2DDB-DA53-4BE0-81BB-2CD76173A9A4}"/>
              </a:ext>
            </a:extLst>
          </p:cNvPr>
          <p:cNvSpPr>
            <a:spLocks noGrp="1"/>
          </p:cNvSpPr>
          <p:nvPr/>
        </p:nvSpPr>
        <p:spPr>
          <a:xfrm>
            <a:off x="8429625" y="1619250"/>
            <a:ext cx="300037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4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4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267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E20AB5E-FB19-45D7-9F5F-C419CB65420C}"/>
              </a:ext>
            </a:extLst>
          </p:cNvPr>
          <p:cNvSpPr>
            <a:spLocks noGrp="1"/>
          </p:cNvSpPr>
          <p:nvPr/>
        </p:nvSpPr>
        <p:spPr>
          <a:xfrm>
            <a:off x="8429625" y="2476500"/>
            <a:ext cx="300037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95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95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材質 ID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E0E3998-D1FE-4D1E-B06C-3A6A0BEECD05}"/>
              </a:ext>
            </a:extLst>
          </p:cNvPr>
          <p:cNvSpPr>
            <a:spLocks noGrp="1"/>
          </p:cNvSpPr>
          <p:nvPr/>
        </p:nvSpPr>
        <p:spPr>
          <a:xfrm>
            <a:off x="8429625" y="3381375"/>
            <a:ext cx="300037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4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4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215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39EF322-1ED6-4988-B8D2-5A7B0673B49A}"/>
              </a:ext>
            </a:extLst>
          </p:cNvPr>
          <p:cNvSpPr>
            <a:spLocks noGrp="1"/>
          </p:cNvSpPr>
          <p:nvPr/>
        </p:nvSpPr>
        <p:spPr>
          <a:xfrm>
            <a:off x="8429625" y="4267200"/>
            <a:ext cx="300037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95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95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線徑文字值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7845616-984F-4042-9C35-0CD9081A7794}"/>
              </a:ext>
            </a:extLst>
          </p:cNvPr>
          <p:cNvSpPr>
            <a:spLocks noGrp="1"/>
          </p:cNvSpPr>
          <p:nvPr/>
        </p:nvSpPr>
        <p:spPr>
          <a:xfrm>
            <a:off x="495300" y="598170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42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42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8,832 筆中 7,611 筆早於目前排程日。排程可修改，不能全視為隔日預收。</a:t>
            </a:r>
          </a:p>
        </p:txBody>
      </p:sp>
    </p:spTree>
    <p:extLst>
      <p:ext uri="{BB962C8B-B14F-4D97-AF65-F5344CB8AC3E}">
        <p14:creationId xmlns:p14="http://schemas.microsoft.com/office/powerpoint/2010/main" val="1091822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A3763CC-D795-4C23-B288-9D9E077BC000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研究指標：同步時差、最新狀態一致與查詢負擔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EDD2687-83C8-42D1-8289-B99C4EF9F0F5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9FFD750-CF08-4EF2-BADD-0A95073CE2C6}"/>
              </a:ext>
            </a:extLst>
          </p:cNvPr>
          <p:cNvGraphicFramePr/>
          <p:nvPr/>
        </p:nvGraphicFramePr>
        <p:xfrm>
          <a:off x="495300" y="1476375"/>
          <a:ext cx="11201400" cy="3714750"/>
        </p:xfrm>
        <a:graphic>
          <a:graphicData uri="http://schemas.openxmlformats.org/drawingml/2006/table">
            <a:tbl>
              <a:tblPr/>
              <a:tblGrid>
                <a:gridCol w="347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要驗證的改善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如何量測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比較結果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更新傳得更快嗎？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T2,r − T0，按角色／事件統計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中位數、P90、配對差值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各角色掌握同一進度嗎？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固定查核點比對最新狀態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角色最新狀態一致率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能少靠逐人追問嗎？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完成同一查詢任務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耗時、詢問次數、完成率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職代能接續昨日工作嗎？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查昨日已收與待接事項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接手耗時、求助次數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41701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5F6DB6F9-0B61-4D05-9322-A435DA8A5517}"/>
              </a:ext>
            </a:extLst>
          </p:cNvPr>
          <p:cNvCxnSpPr>
            <a:stCxn id="14" idx="2"/>
            <a:endCxn id="18" idx="3"/>
          </p:cNvCxnSpPr>
          <p:nvPr/>
        </p:nvCxnSpPr>
        <p:spPr>
          <a:xfrm>
            <a:off x="9286875" y="4391025"/>
            <a:ext cx="276225" cy="1052513"/>
          </a:xfrm>
          <a:prstGeom prst="bentConnector4">
            <a:avLst/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19" name="接點: 肘形 18">
            <a:extLst>
              <a:ext uri="{FF2B5EF4-FFF2-40B4-BE49-F238E27FC236}">
                <a16:creationId xmlns:a16="http://schemas.microsoft.com/office/drawing/2014/main" id="{3CA8B4B2-409C-48FB-97CB-E48DE567B0BD}"/>
              </a:ext>
            </a:extLst>
          </p:cNvPr>
          <p:cNvCxnSpPr>
            <a:stCxn id="13" idx="2"/>
            <a:endCxn id="18" idx="1"/>
          </p:cNvCxnSpPr>
          <p:nvPr/>
        </p:nvCxnSpPr>
        <p:spPr>
          <a:xfrm flipH="1">
            <a:off x="2628900" y="4391025"/>
            <a:ext cx="276225" cy="1052513"/>
          </a:xfrm>
          <a:prstGeom prst="bentConnector4">
            <a:avLst/>
          </a:prstGeom>
          <a:ln w="21908">
            <a:solidFill>
              <a:srgbClr val="AF6812"/>
            </a:solidFill>
            <a:tailEnd type="triangle" w="med" len="med"/>
          </a:ln>
        </p:spPr>
      </p:cxn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F5E9A0A9-CC96-4F69-BA2D-44E030ADB130}"/>
              </a:ext>
            </a:extLst>
          </p:cNvPr>
          <p:cNvCxnSpPr>
            <a:stCxn id="12" idx="3"/>
            <a:endCxn id="14" idx="0"/>
          </p:cNvCxnSpPr>
          <p:nvPr/>
        </p:nvCxnSpPr>
        <p:spPr>
          <a:xfrm>
            <a:off x="8477250" y="1700213"/>
            <a:ext cx="809625" cy="1195388"/>
          </a:xfrm>
          <a:prstGeom prst="bentConnector2">
            <a:avLst/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377935A0-1747-458F-83D6-B5A3CAF88CF7}"/>
              </a:ext>
            </a:extLst>
          </p:cNvPr>
          <p:cNvCxnSpPr>
            <a:stCxn id="12" idx="1"/>
            <a:endCxn id="13" idx="0"/>
          </p:cNvCxnSpPr>
          <p:nvPr/>
        </p:nvCxnSpPr>
        <p:spPr>
          <a:xfrm flipH="1">
            <a:off x="2905125" y="1700213"/>
            <a:ext cx="809625" cy="1195388"/>
          </a:xfrm>
          <a:prstGeom prst="bentConnector2">
            <a:avLst/>
          </a:prstGeom>
          <a:ln w="21908">
            <a:solidFill>
              <a:srgbClr val="AF6812"/>
            </a:solidFill>
            <a:tailEnd type="triangle" w="med" len="med"/>
          </a:ln>
        </p:spPr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A92D0D44-9611-4DF7-8B45-1FD5E171D9D1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驗證設計：同一任務，比較兩種資訊取得方式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FBA9AE-29C5-4BCF-AED7-E8C64B44D5A8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4B7AFC5-BE0C-4D01-8AA4-19538FD8978E}"/>
              </a:ext>
            </a:extLst>
          </p:cNvPr>
          <p:cNvSpPr>
            <a:spLocks noGrp="1"/>
          </p:cNvSpPr>
          <p:nvPr/>
        </p:nvSpPr>
        <p:spPr>
          <a:xfrm>
            <a:off x="3714750" y="1266825"/>
            <a:ext cx="4762500" cy="8667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建立等難度任務</a:t>
            </a:r>
          </a:p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查到料、查完工、職代接手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0AD3477-5C90-4EA4-891C-5C269A711EED}"/>
              </a:ext>
            </a:extLst>
          </p:cNvPr>
          <p:cNvSpPr>
            <a:spLocks noGrp="1"/>
          </p:cNvSpPr>
          <p:nvPr/>
        </p:nvSpPr>
        <p:spPr>
          <a:xfrm>
            <a:off x="619125" y="2895600"/>
            <a:ext cx="4572000" cy="1495425"/>
          </a:xfrm>
          <a:prstGeom prst="rect">
            <a:avLst/>
          </a:prstGeom>
          <a:solidFill>
            <a:srgbClr val="FFF3DF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純紙本組</a:t>
            </a:r>
          </a:p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催料單＋入庫單</a:t>
            </a:r>
          </a:p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依既有詢問／回報方式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E95BE8-9E39-4F2F-A6AB-C8E32180C268}"/>
              </a:ext>
            </a:extLst>
          </p:cNvPr>
          <p:cNvSpPr>
            <a:spLocks noGrp="1"/>
          </p:cNvSpPr>
          <p:nvPr/>
        </p:nvSpPr>
        <p:spPr>
          <a:xfrm>
            <a:off x="7000875" y="2895600"/>
            <a:ext cx="4572000" cy="149542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MES 組</a:t>
            </a:r>
          </a:p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共用系統＋入庫單</a:t>
            </a:r>
          </a:p>
          <a:p>
            <a:pPr algn="ctr">
              <a:buNone/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依權限查本次紀錄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CAA7D0B-86C8-4683-AA4A-8981B3192734}"/>
              </a:ext>
            </a:extLst>
          </p:cNvPr>
          <p:cNvSpPr>
            <a:spLocks noGrp="1"/>
          </p:cNvSpPr>
          <p:nvPr/>
        </p:nvSpPr>
        <p:spPr>
          <a:xfrm>
            <a:off x="5734050" y="3295650"/>
            <a:ext cx="79057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00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00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VS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B39678B-ACD7-4066-894A-DC28C18E852B}"/>
              </a:ext>
            </a:extLst>
          </p:cNvPr>
          <p:cNvSpPr>
            <a:spLocks noGrp="1"/>
          </p:cNvSpPr>
          <p:nvPr/>
        </p:nvSpPr>
        <p:spPr>
          <a:xfrm>
            <a:off x="2857500" y="5057775"/>
            <a:ext cx="6477000" cy="77152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同一套觀測規則</a:t>
            </a:r>
          </a:p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記錄時間、狀態版本、詢問與求助次數</a:t>
            </a:r>
          </a:p>
        </p:txBody>
      </p:sp>
    </p:spTree>
    <p:extLst>
      <p:ext uri="{BB962C8B-B14F-4D97-AF65-F5344CB8AC3E}">
        <p14:creationId xmlns:p14="http://schemas.microsoft.com/office/powerpoint/2010/main" val="2656438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CF2B2F75-A374-4906-88EF-95E340E5224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8667750" y="2262188"/>
            <a:ext cx="857250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88C6E432-9AE7-4B30-8E88-D1D5A392F2D2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5667375" y="2262188"/>
            <a:ext cx="857250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FBC67F46-6AA6-432A-94FD-43FC4475C215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2619375" y="2262188"/>
            <a:ext cx="857250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med" len="med"/>
          </a:ln>
        </p:spPr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5DA9E727-152F-4CCC-9D49-BE75F2F71D82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跨廠查詢需要帳號權限與安全連線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F1F6897-F176-46BE-89EF-77F38ABF306E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24F12EE-0B7A-4C4E-944B-3C3B9FD11E08}"/>
              </a:ext>
            </a:extLst>
          </p:cNvPr>
          <p:cNvSpPr>
            <a:spLocks noGrp="1"/>
          </p:cNvSpPr>
          <p:nvPr/>
        </p:nvSpPr>
        <p:spPr>
          <a:xfrm>
            <a:off x="523875" y="1714500"/>
            <a:ext cx="2095500" cy="10953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/>
          <a:lstStyle>
            <a:defPPr algn="ctr"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授權使用者</a:t>
            </a:r>
          </a:p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瀏覽器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CFEB5CA-7180-4454-B5E7-C1863EEA5DD8}"/>
              </a:ext>
            </a:extLst>
          </p:cNvPr>
          <p:cNvSpPr>
            <a:spLocks noGrp="1"/>
          </p:cNvSpPr>
          <p:nvPr/>
        </p:nvSpPr>
        <p:spPr>
          <a:xfrm>
            <a:off x="3476625" y="1714500"/>
            <a:ext cx="2190750" cy="10953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/>
          <a:lstStyle>
            <a:defPPr algn="ctr"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Cloudflare</a:t>
            </a:r>
          </a:p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外部連線入口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FACA9C9-6A93-422B-9A86-08F1EB3C15FC}"/>
              </a:ext>
            </a:extLst>
          </p:cNvPr>
          <p:cNvSpPr>
            <a:spLocks noGrp="1"/>
          </p:cNvSpPr>
          <p:nvPr/>
        </p:nvSpPr>
        <p:spPr>
          <a:xfrm>
            <a:off x="6524625" y="1714500"/>
            <a:ext cx="2143125" cy="10953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/>
          <a:lstStyle>
            <a:defPPr algn="ctr"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 MES</a:t>
            </a:r>
          </a:p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API 權限檢查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249B5D3-5340-4C81-9F05-0556EFFE2A6E}"/>
              </a:ext>
            </a:extLst>
          </p:cNvPr>
          <p:cNvSpPr>
            <a:spLocks noGrp="1"/>
          </p:cNvSpPr>
          <p:nvPr/>
        </p:nvSpPr>
        <p:spPr>
          <a:xfrm>
            <a:off x="9525000" y="1714500"/>
            <a:ext cx="2143125" cy="1095375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114300" tIns="114300" rIns="114300" bIns="114300" anchor="ctr"/>
          <a:lstStyle>
            <a:defPPr algn="ctr"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PostgreSQL</a:t>
            </a:r>
          </a:p>
          <a:p>
            <a:pPr algn="ctr">
              <a:buNone/>
              <a:def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正式作業紀錄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69FEE6F-F098-47E6-9428-F2669D9C6DBB}"/>
              </a:ext>
            </a:extLst>
          </p:cNvPr>
          <p:cNvSpPr>
            <a:spLocks noGrp="1"/>
          </p:cNvSpPr>
          <p:nvPr/>
        </p:nvSpPr>
        <p:spPr>
          <a:xfrm>
            <a:off x="2762250" y="2047875"/>
            <a:ext cx="809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00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500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HTTPS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5729A4F-0A3A-43E6-A4FA-244FCCED4DFA}"/>
              </a:ext>
            </a:extLst>
          </p:cNvPr>
          <p:cNvSpPr>
            <a:spLocks noGrp="1"/>
          </p:cNvSpPr>
          <p:nvPr/>
        </p:nvSpPr>
        <p:spPr>
          <a:xfrm>
            <a:off x="5762625" y="2047875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00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500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Tunnel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B63D9B4-A6BE-4698-8B5D-89531FDE7A78}"/>
              </a:ext>
            </a:extLst>
          </p:cNvPr>
          <p:cNvSpPr>
            <a:spLocks noGrp="1"/>
          </p:cNvSpPr>
          <p:nvPr/>
        </p:nvSpPr>
        <p:spPr>
          <a:xfrm>
            <a:off x="523875" y="3238500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網域：haihwa-mes.vannesses.com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F97D21B-BF04-44A9-812A-0B1955A28624}"/>
              </a:ext>
            </a:extLst>
          </p:cNvPr>
          <p:cNvSpPr>
            <a:spLocks noGrp="1"/>
          </p:cNvSpPr>
          <p:nvPr/>
        </p:nvSpPr>
        <p:spPr>
          <a:xfrm>
            <a:off x="523875" y="3943350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已記載的措施：帳號角色、登入期限、作業紀錄與復原歷程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ED19E54-EA89-40D4-8CF0-8A18AF8555BD}"/>
              </a:ext>
            </a:extLst>
          </p:cNvPr>
          <p:cNvSpPr>
            <a:spLocks noGrp="1"/>
          </p:cNvSpPr>
          <p:nvPr/>
        </p:nvSpPr>
        <p:spPr>
          <a:xfrm>
            <a:off x="523875" y="4552950"/>
            <a:ext cx="10858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0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AF6812"/>
                </a:solidFill>
                <a:latin typeface="Microsoft JhengHei"/>
                <a:ea typeface="Microsoft JhengHei"/>
                <a:cs typeface="Microsoft JhengHei"/>
              </a:rPr>
              <a:t>待核對：Access／MFA／WAF、來源站驗證、資料範圍隔離</a:t>
            </a:r>
          </a:p>
        </p:txBody>
      </p:sp>
    </p:spTree>
    <p:extLst>
      <p:ext uri="{BB962C8B-B14F-4D97-AF65-F5344CB8AC3E}">
        <p14:creationId xmlns:p14="http://schemas.microsoft.com/office/powerpoint/2010/main" val="9691196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E38E89A-C9D1-46CA-8DF6-C82AC7B5228A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資安書面依據與驗證證據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1587589-9DE3-436C-A0C8-539D9D8BAD35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057B2C3-53E4-43FB-8509-01685E554426}"/>
              </a:ext>
            </a:extLst>
          </p:cNvPr>
          <p:cNvGraphicFramePr/>
          <p:nvPr/>
        </p:nvGraphicFramePr>
        <p:xfrm>
          <a:off x="495300" y="1524000"/>
          <a:ext cx="11201400" cy="361950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8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依據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支持的措施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本系統仍需提出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OWASP ASVS 5.0.0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Web 安全驗證框架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逐項測試與結果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OWASP 授權指引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最小權限、每次請求檢查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越權與資料範圍測試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Cloudflare 官方文件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Tunnel 連線機制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實際設定與入口查核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NIST SP 800-82 Rev.3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生產環境可用性與風險管理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備份還原與故障復原證據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E8673F5A-F1DA-4795-BD4E-3CF9457C3A88}"/>
              </a:ext>
            </a:extLst>
          </p:cNvPr>
          <p:cNvSpPr>
            <a:spLocks noGrp="1"/>
          </p:cNvSpPr>
          <p:nvPr/>
        </p:nvSpPr>
        <p:spPr>
          <a:xfrm>
            <a:off x="495300" y="5915025"/>
            <a:ext cx="10810875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文獻提供檢查依據，安全程度仍須由實際設定與測試證據支持。</a:t>
            </a:r>
          </a:p>
        </p:txBody>
      </p:sp>
    </p:spTree>
    <p:extLst>
      <p:ext uri="{BB962C8B-B14F-4D97-AF65-F5344CB8AC3E}">
        <p14:creationId xmlns:p14="http://schemas.microsoft.com/office/powerpoint/2010/main" val="10035520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A92D0D44-9611-4DF7-8B45-1FD5E171D9D1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研究主張：讓現場資料更新成為跨廠區的共同依據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FBA9AE-29C5-4BCF-AED7-E8C64B44D5A8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BC1993B-1C47-4F74-B706-8B0FA2D1D7C3}"/>
              </a:ext>
            </a:extLst>
          </p:cNvPr>
          <p:cNvSpPr>
            <a:spLocks noGrp="1"/>
          </p:cNvSpPr>
          <p:nvPr/>
        </p:nvSpPr>
        <p:spPr>
          <a:xfrm>
            <a:off x="523875" y="1419225"/>
            <a:ext cx="10763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3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3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建置動機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F740387-47EC-4E39-B876-6744C3363DD2}"/>
              </a:ext>
            </a:extLst>
          </p:cNvPr>
          <p:cNvSpPr>
            <a:spLocks noGrp="1"/>
          </p:cNvSpPr>
          <p:nvPr/>
        </p:nvSpPr>
        <p:spPr>
          <a:xfrm>
            <a:off x="523875" y="2047875"/>
            <a:ext cx="110490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775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775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紙本派工雖然可以布達所有指示，但各廠取得更新的時間卻不同。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49078DB-7339-4BC6-8B21-DD2BAA302E61}"/>
              </a:ext>
            </a:extLst>
          </p:cNvPr>
          <p:cNvSpPr>
            <a:spLocks noGrp="1"/>
          </p:cNvSpPr>
          <p:nvPr/>
        </p:nvSpPr>
        <p:spPr>
          <a:xfrm>
            <a:off x="523875" y="3267075"/>
            <a:ext cx="10763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3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3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公司貢獻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6B39A85-893A-4256-A2C4-229235AA970D}"/>
              </a:ext>
            </a:extLst>
          </p:cNvPr>
          <p:cNvSpPr>
            <a:spLocks noGrp="1"/>
          </p:cNvSpPr>
          <p:nvPr/>
        </p:nvSpPr>
        <p:spPr>
          <a:xfrm>
            <a:off x="523875" y="3876675"/>
            <a:ext cx="110490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40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40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將酸洗廠當節點，讓每次入庫與加工進度形成共用紀錄，</a:t>
            </a:r>
          </a:p>
          <a:p>
            <a:pPr>
              <a:buNone/>
              <a:defRPr sz="240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支持中央生管、下製程廠區及職代掌握即時任務訊息。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6FEB5AE-51DD-4CF1-9B3A-A92DA552B750}"/>
              </a:ext>
            </a:extLst>
          </p:cNvPr>
          <p:cNvSpPr>
            <a:spLocks noGrp="1"/>
          </p:cNvSpPr>
          <p:nvPr/>
        </p:nvSpPr>
        <p:spPr>
          <a:xfrm>
            <a:off x="523875" y="5381625"/>
            <a:ext cx="1104900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論文驗證：同步是否更快、各角色是否更一致、追問是否更少</a:t>
            </a:r>
          </a:p>
        </p:txBody>
      </p:sp>
    </p:spTree>
    <p:extLst>
      <p:ext uri="{BB962C8B-B14F-4D97-AF65-F5344CB8AC3E}">
        <p14:creationId xmlns:p14="http://schemas.microsoft.com/office/powerpoint/2010/main" val="2656438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5F675B2C-1C29-4129-BEBD-2900A78892E6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7715250" y="1952625"/>
            <a:ext cx="809625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med" len="med"/>
          </a:ln>
        </p:spPr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FB765B23-EE79-461A-B439-7AA9FDC5ADE4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3714750" y="1952625"/>
            <a:ext cx="809625" cy="0"/>
          </a:xfrm>
          <a:prstGeom prst="straightConnector1">
            <a:avLst/>
          </a:prstGeom>
          <a:ln w="21908">
            <a:solidFill>
              <a:srgbClr val="087F8C"/>
            </a:solidFill>
            <a:tailEnd type="triangle" w="med" len="med"/>
          </a:ln>
        </p:spPr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A92D0D44-9611-4DF7-8B45-1FD5E171D9D1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10/27 預告：入洗、出庫如何接續入庫紀錄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FBA9AE-29C5-4BCF-AED7-E8C64B44D5A8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9BA4BCE-29F5-47F3-B88D-66F9DB87D268}"/>
              </a:ext>
            </a:extLst>
          </p:cNvPr>
          <p:cNvSpPr>
            <a:spLocks noGrp="1"/>
          </p:cNvSpPr>
          <p:nvPr/>
        </p:nvSpPr>
        <p:spPr>
          <a:xfrm>
            <a:off x="523875" y="1333500"/>
            <a:ext cx="3190875" cy="1238250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10/20</a:t>
            </a:r>
          </a:p>
          <a:p>
            <a: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入庫連結</a:t>
            </a:r>
          </a:p>
          <a:p>
            <a: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盤元與本次工單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DA2E0B-CF82-4F59-AC89-BC3FA8393FAF}"/>
              </a:ext>
            </a:extLst>
          </p:cNvPr>
          <p:cNvSpPr>
            <a:spLocks noGrp="1"/>
          </p:cNvSpPr>
          <p:nvPr/>
        </p:nvSpPr>
        <p:spPr>
          <a:xfrm>
            <a:off x="4524375" y="1333500"/>
            <a:ext cx="3190875" cy="1238250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10/27</a:t>
            </a:r>
          </a:p>
          <a:p>
            <a: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製程串接</a:t>
            </a:r>
          </a:p>
          <a:p>
            <a: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入洗、洗出、出庫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96BC090-7635-46E0-BC51-9D2ABDA671FC}"/>
              </a:ext>
            </a:extLst>
          </p:cNvPr>
          <p:cNvSpPr>
            <a:spLocks noGrp="1"/>
          </p:cNvSpPr>
          <p:nvPr/>
        </p:nvSpPr>
        <p:spPr>
          <a:xfrm>
            <a:off x="8524875" y="1333500"/>
            <a:ext cx="3190875" cy="1238250"/>
          </a:xfrm>
          <a:prstGeom prst="rect">
            <a:avLst/>
          </a:prstGeom>
          <a:solidFill>
            <a:srgbClr val="E9F4F5"/>
          </a:solidFill>
          <a:ln w="9525">
            <a:solidFill>
              <a:srgbClr val="9FC4CB"/>
            </a:solidFill>
          </a:ln>
        </p:spPr>
        <p:txBody>
          <a:bodyPr lIns="95250" tIns="95250" rIns="95250" bIns="95250" anchor="ctr">
            <a:noAutofit/>
          </a:bodyPr>
          <a:lstStyle>
            <a:def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11/03（擬）</a:t>
            </a:r>
          </a:p>
          <a:p>
            <a: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效益評估方法</a:t>
            </a:r>
          </a:p>
          <a:p>
            <a:pPr algn="ctr">
              <a:def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同步與查詢負擔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216CEAD-9CA2-4161-8A5C-8C836B5D6C0B}"/>
              </a:ext>
            </a:extLst>
          </p:cNvPr>
          <p:cNvSpPr>
            <a:spLocks noGrp="1"/>
          </p:cNvSpPr>
          <p:nvPr/>
        </p:nvSpPr>
        <p:spPr>
          <a:xfrm>
            <a:off x="523875" y="3076575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4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4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10/27 帶給老師看的證據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97B55AB-6A68-4CCD-B9E1-EA1698EB10DB}"/>
              </a:ext>
            </a:extLst>
          </p:cNvPr>
          <p:cNvSpPr>
            <a:spLocks noGrp="1"/>
          </p:cNvSpPr>
          <p:nvPr/>
        </p:nvSpPr>
        <p:spPr>
          <a:xfrm>
            <a:off x="523875" y="3848100"/>
            <a:ext cx="5048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2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2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一條實際作業歷程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4DDC04F-2DEF-4B93-8BD8-94B4943FF376}"/>
              </a:ext>
            </a:extLst>
          </p:cNvPr>
          <p:cNvSpPr>
            <a:spLocks noGrp="1"/>
          </p:cNvSpPr>
          <p:nvPr/>
        </p:nvSpPr>
        <p:spPr>
          <a:xfrm>
            <a:off x="523875" y="4438650"/>
            <a:ext cx="51435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去識別化盤元案例</a:t>
            </a:r>
          </a:p>
          <a:p>
            <a:pPr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本次入庫、入洗、洗出、出庫時間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56E9AF5-67DE-453C-A8E6-BE2AE8CE5647}"/>
              </a:ext>
            </a:extLst>
          </p:cNvPr>
          <p:cNvSpPr>
            <a:spLocks noGrp="1"/>
          </p:cNvSpPr>
          <p:nvPr/>
        </p:nvSpPr>
        <p:spPr>
          <a:xfrm>
            <a:off x="6477000" y="3848100"/>
            <a:ext cx="5238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2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2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一份可重算的統計與試測紀錄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700F5D7-2229-447E-92D6-3B24E7FA7381}"/>
              </a:ext>
            </a:extLst>
          </p:cNvPr>
          <p:cNvSpPr>
            <a:spLocks noGrp="1"/>
          </p:cNvSpPr>
          <p:nvPr/>
        </p:nvSpPr>
        <p:spPr>
          <a:xfrm>
            <a:off x="6477000" y="4438650"/>
            <a:ext cx="5238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同批入庫的後續狀態分布</a:t>
            </a:r>
          </a:p>
          <a:p>
            <a:pPr>
              <a:def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各角色查見更新時間及詢問次數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86659AA-6CAD-46A3-AA07-461A247521DE}"/>
              </a:ext>
            </a:extLst>
          </p:cNvPr>
          <p:cNvSpPr>
            <a:spLocks noGrp="1"/>
          </p:cNvSpPr>
          <p:nvPr/>
        </p:nvSpPr>
        <p:spPr>
          <a:xfrm>
            <a:off x="495300" y="5905500"/>
            <a:ext cx="11144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預告工作，尚非完成成果。歷程時間反映作業經過，角色何時取得更新須另行觀察。</a:t>
            </a:r>
          </a:p>
        </p:txBody>
      </p:sp>
    </p:spTree>
    <p:extLst>
      <p:ext uri="{BB962C8B-B14F-4D97-AF65-F5344CB8AC3E}">
        <p14:creationId xmlns:p14="http://schemas.microsoft.com/office/powerpoint/2010/main" val="2656438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A92D0D44-9611-4DF7-8B45-1FD5E171D9D1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10/27 擬提交的數據與討論問題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FBA9AE-29C5-4BCF-AED7-E8C64B44D5A8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2795F144-B0CF-49F1-A9E3-ADC5724E02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87179284"/>
              </p:ext>
            </p:extLst>
          </p:nvPr>
        </p:nvGraphicFramePr>
        <p:xfrm>
          <a:off x="495300" y="1381125"/>
          <a:ext cx="11201400" cy="3476624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91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資料包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擬帶到面談的內容</a:t>
                      </a:r>
                    </a:p>
                  </a:txBody>
                  <a:tcPr>
                    <a:lnL w="9525" cap="flat" cmpd="sng" algn="ctr">
                      <a:solidFill>
                        <a:srgbClr val="D0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取得方式</a:t>
                      </a:r>
                    </a:p>
                  </a:txBody>
                  <a:tcPr>
                    <a:lnL w="9525" cap="flat" cmpd="sng" algn="ctr">
                      <a:solidFill>
                        <a:srgbClr val="D0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作業量與觀察母體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ap="flat" cmpd="sng" algn="ctr">
                      <a:solidFill>
                        <a:srgbClr val="D0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每日入庫件數、重量、工單數</a:t>
                      </a:r>
                    </a:p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期間、有效條件與排除筆數</a:t>
                      </a:r>
                    </a:p>
                  </a:txBody>
                  <a:tcPr>
                    <a:lnL w="9525" cap="flat" cmpd="sng" algn="ctr">
                      <a:solidFill>
                        <a:srgbClr val="D0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0DEE2"/>
                      </a:solidFill>
                    </a:lnR>
                    <a:lnT w="9525" cap="flat" cmpd="sng" algn="ctr">
                      <a:solidFill>
                        <a:srgbClr val="D0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75" b="0" dirty="0" err="1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mes</a:t>
                      </a:r>
                      <a:r>
                        <a:rPr lang="zh-TW" altLang="en-US" sz="1875" b="0" dirty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系統</a:t>
                      </a:r>
                      <a:r>
                        <a:rPr sz="1875" b="0" dirty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</a:t>
                      </a:r>
                      <a:r>
                        <a:rPr sz="1875" b="0" dirty="0" err="1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唯讀快照</a:t>
                      </a:r>
                      <a:endParaRPr sz="1875" b="0" dirty="0">
                        <a:solidFill>
                          <a:srgbClr val="163647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  <a:p>
                      <a:r>
                        <a:rPr sz="1875" b="0" dirty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8/27 </a:t>
                      </a:r>
                      <a:r>
                        <a:rPr sz="1875" b="0" dirty="0" err="1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起至截止日</a:t>
                      </a:r>
                      <a:endParaRPr sz="1875" b="0" dirty="0">
                        <a:solidFill>
                          <a:srgbClr val="163647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>
                    <a:lnL w="9525" cap="flat" cmpd="sng" algn="ctr">
                      <a:solidFill>
                        <a:srgbClr val="D0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0DEE2"/>
                      </a:solidFill>
                    </a:lnR>
                    <a:lnT w="9525" cap="flat" cmpd="sng" algn="ctr">
                      <a:solidFill>
                        <a:srgbClr val="D0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同批製程串接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ap="flat" cmpd="sng" algn="ctr">
                      <a:solidFill>
                        <a:srgbClr val="D0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 dirty="0" err="1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入庫後已入洗／洗出／出庫</a:t>
                      </a:r>
                      <a:endParaRPr sz="1875" b="0" dirty="0">
                        <a:solidFill>
                          <a:srgbClr val="163647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  <a:p>
                      <a:r>
                        <a:rPr sz="1875" b="0" dirty="0" err="1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未完成、未串接與異常另列</a:t>
                      </a:r>
                      <a:endParaRPr sz="1875" b="0" dirty="0">
                        <a:solidFill>
                          <a:srgbClr val="163647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>
                    <a:lnL w="9525" cap="flat" cmpd="sng" algn="ctr">
                      <a:solidFill>
                        <a:srgbClr val="D0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0DEE2"/>
                      </a:solidFill>
                    </a:lnR>
                    <a:lnT w="9525" cap="flat" cmpd="sng" algn="ctr">
                      <a:solidFill>
                        <a:srgbClr val="D0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 dirty="0" err="1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以本次入庫紀錄追蹤</a:t>
                      </a:r>
                      <a:endParaRPr sz="1875" b="0" dirty="0">
                        <a:solidFill>
                          <a:srgbClr val="163647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  <a:p>
                      <a:r>
                        <a:rPr sz="1875" b="0" dirty="0" err="1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附去識別化歷程</a:t>
                      </a:r>
                      <a:endParaRPr sz="1875" b="0" dirty="0">
                        <a:solidFill>
                          <a:srgbClr val="163647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>
                    <a:lnL w="9525" cap="flat" cmpd="sng" algn="ctr">
                      <a:solidFill>
                        <a:srgbClr val="D0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0DEE2"/>
                      </a:solidFill>
                    </a:lnR>
                    <a:lnT w="9525" cap="flat" cmpd="sng" algn="ctr">
                      <a:solidFill>
                        <a:srgbClr val="D0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資訊同步小規模試測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ap="flat" cmpd="sng" algn="ctr">
                      <a:solidFill>
                        <a:srgbClr val="D0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T0、T1、各角色 T2／T3</a:t>
                      </a:r>
                    </a:p>
                    <a:p>
                      <a:r>
                        <a:rPr sz="1875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最新狀態、詢問次數、有效樣本數</a:t>
                      </a:r>
                    </a:p>
                  </a:txBody>
                  <a:tcPr>
                    <a:lnL w="9525" cap="flat" cmpd="sng" algn="ctr">
                      <a:solidFill>
                        <a:srgbClr val="D0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0DEE2"/>
                      </a:solidFill>
                    </a:lnR>
                    <a:lnT w="9525" cap="flat" cmpd="sng" algn="ctr">
                      <a:solidFill>
                        <a:srgbClr val="D0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 dirty="0" err="1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現場觀察或配對任務</a:t>
                      </a:r>
                      <a:endParaRPr sz="1875" b="0" dirty="0">
                        <a:solidFill>
                          <a:srgbClr val="163647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  <a:p>
                      <a:r>
                        <a:rPr sz="1875" b="0" dirty="0" err="1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缺值與未同步不刪除</a:t>
                      </a:r>
                      <a:endParaRPr sz="1875" b="0" dirty="0">
                        <a:solidFill>
                          <a:srgbClr val="163647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>
                    <a:lnL w="9525" cap="flat" cmpd="sng" algn="ctr">
                      <a:solidFill>
                        <a:srgbClr val="D0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0DEE2"/>
                      </a:solidFill>
                    </a:lnR>
                    <a:lnT w="9525" cap="flat" cmpd="sng" algn="ctr">
                      <a:solidFill>
                        <a:srgbClr val="D0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8218F584-0F43-4BE0-94EB-A80FC0C81858}"/>
              </a:ext>
            </a:extLst>
          </p:cNvPr>
          <p:cNvSpPr>
            <a:spLocks noGrp="1"/>
          </p:cNvSpPr>
          <p:nvPr/>
        </p:nvSpPr>
        <p:spPr>
          <a:xfrm>
            <a:off x="523875" y="5191125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87F8C"/>
                </a:solidFill>
                <a:latin typeface="Microsoft JhengHei"/>
                <a:ea typeface="Microsoft JhengHei"/>
                <a:cs typeface="Microsoft JhengHei"/>
              </a:rPr>
              <a:t>請老師確認：比較基準、抽樣規則，以及同步指標是否適合作為論文主軸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F335BA8-3137-494D-A1D0-64BB6F45CFFA}"/>
              </a:ext>
            </a:extLst>
          </p:cNvPr>
          <p:cNvSpPr>
            <a:spLocks noGrp="1"/>
          </p:cNvSpPr>
          <p:nvPr/>
        </p:nvSpPr>
        <p:spPr>
          <a:xfrm>
            <a:off x="495300" y="5905500"/>
            <a:ext cx="11144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擬於 10/26 截止取樣，實際截止時間另註。僅報實際取得資料，缺乏紙本基準時討論受控比較。</a:t>
            </a:r>
          </a:p>
        </p:txBody>
      </p:sp>
    </p:spTree>
    <p:extLst>
      <p:ext uri="{BB962C8B-B14F-4D97-AF65-F5344CB8AC3E}">
        <p14:creationId xmlns:p14="http://schemas.microsoft.com/office/powerpoint/2010/main" val="2656438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EA7826E2-4564-4F3B-A568-27F0496E948F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附錄：每日入庫與入洗紀錄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310D02E-17CC-496B-BA07-90C1E921F994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A783A3B2-D90B-4167-BD54-2FA97F7ACB14}"/>
              </a:ext>
            </a:extLst>
          </p:cNvPr>
          <p:cNvGraphicFramePr/>
          <p:nvPr/>
        </p:nvGraphicFramePr>
        <p:xfrm>
          <a:off x="619125" y="1428750"/>
          <a:ext cx="10858500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C8094B85-5475-4F49-947E-AE30E15CBD94}"/>
              </a:ext>
            </a:extLst>
          </p:cNvPr>
          <p:cNvSpPr>
            <a:spLocks noGrp="1"/>
          </p:cNvSpPr>
          <p:nvPr/>
        </p:nvSpPr>
        <p:spPr>
          <a:xfrm>
            <a:off x="495300" y="598170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42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42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入庫峰值為 9/29 的 381 件。零筆代表查詢條件下無紀錄，停工原因需另核對。</a:t>
            </a:r>
          </a:p>
        </p:txBody>
      </p:sp>
    </p:spTree>
    <p:extLst>
      <p:ext uri="{BB962C8B-B14F-4D97-AF65-F5344CB8AC3E}">
        <p14:creationId xmlns:p14="http://schemas.microsoft.com/office/powerpoint/2010/main" val="18606639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7A056BC8-F970-45E4-9DC1-9E4FD18240D4}"/>
              </a:ext>
            </a:extLst>
          </p:cNvPr>
          <p:cNvSpPr>
            <a:spLocks noGrp="1"/>
          </p:cNvSpPr>
          <p:nvPr/>
        </p:nvSpPr>
        <p:spPr>
          <a:xfrm>
            <a:off x="495300" y="3048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63647"/>
                </a:solidFill>
                <a:latin typeface="Microsoft JhengHei"/>
                <a:ea typeface="Microsoft JhengHei"/>
                <a:cs typeface="Microsoft JhengHei"/>
              </a:rPr>
              <a:t>附錄：既有事件資料的時間欄位檢查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B77EDEB-E7E1-44A8-8A48-10E89B56A274}"/>
              </a:ext>
            </a:extLst>
          </p:cNvPr>
          <p:cNvSpPr>
            <a:spLocks noGrp="1"/>
          </p:cNvSpPr>
          <p:nvPr/>
        </p:nvSpPr>
        <p:spPr>
          <a:xfrm>
            <a:off x="11334750" y="6438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F29C5DF-8423-4235-AC57-401CD933BE52}"/>
              </a:ext>
            </a:extLst>
          </p:cNvPr>
          <p:cNvGraphicFramePr/>
          <p:nvPr/>
        </p:nvGraphicFramePr>
        <p:xfrm>
          <a:off x="495300" y="1476375"/>
          <a:ext cx="11201400" cy="371475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33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本次檢查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結果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可解釋範圍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>
                      <a:solidFill>
                        <a:srgbClr val="D0DEE2"/>
                      </a:solidFill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1636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入庫缺工單關聯／QR／有效重量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各 0 筆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欄位完整，未等同實物正確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材質／線徑／訂單欄位空白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各 0 筆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8,832 筆入庫資料的關聯檢查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入洗早於入庫時間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 筆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先查補登、修正與時間語意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0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入庫時間日期與單據日不同</a:t>
                      </a:r>
                    </a:p>
                  </a:txBody>
                  <a:tcPr>
                    <a:lnL w="9525">
                      <a:solidFill>
                        <a:srgbClr val="D0DEE2"/>
                      </a:solidFill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 筆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64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時序分析須說明排除規則</a:t>
                      </a:r>
                    </a:p>
                  </a:txBody>
                  <a:tcPr>
                    <a:lnL w="9525" cmpd="sng">
                      <a:solidFill>
                        <a:srgbClr val="D0DEE2"/>
                      </a:solidFill>
                      <a:prstDash val="solid"/>
                    </a:lnL>
                    <a:lnR w="9525">
                      <a:solidFill>
                        <a:srgbClr val="D0DEE2"/>
                      </a:solidFill>
                    </a:lnR>
                    <a:lnT w="9525" cmpd="sng">
                      <a:solidFill>
                        <a:srgbClr val="D0DEE2"/>
                      </a:solidFill>
                      <a:prstDash val="solid"/>
                    </a:lnT>
                    <a:lnB w="9525">
                      <a:solidFill>
                        <a:srgbClr val="D0DEE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8B00248F-3B03-4F1C-89FD-A1A3D2CE097E}"/>
              </a:ext>
            </a:extLst>
          </p:cNvPr>
          <p:cNvSpPr>
            <a:spLocks noGrp="1"/>
          </p:cNvSpPr>
          <p:nvPr/>
        </p:nvSpPr>
        <p:spPr>
          <a:xfrm>
            <a:off x="495300" y="5915025"/>
            <a:ext cx="10810875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buNone/>
              <a:def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5707C"/>
                </a:solidFill>
                <a:latin typeface="Microsoft JhengHei"/>
                <a:ea typeface="Microsoft JhengHei"/>
                <a:cs typeface="Microsoft JhengHei"/>
              </a:rPr>
              <a:t>資料完整不等於實物正確。5 筆時序異常與 1 筆日期差異須查明後再分析。</a:t>
            </a:r>
          </a:p>
        </p:txBody>
      </p:sp>
    </p:spTree>
    <p:extLst>
      <p:ext uri="{BB962C8B-B14F-4D97-AF65-F5344CB8AC3E}">
        <p14:creationId xmlns:p14="http://schemas.microsoft.com/office/powerpoint/2010/main" val="121592187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2486</Words>
  <Application>Microsoft Office PowerPoint</Application>
  <DocSecurity>0</DocSecurity>
  <PresentationFormat>寬螢幕</PresentationFormat>
  <Paragraphs>444</Paragraphs>
  <Slides>23</Slides>
  <Notes>23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26" baseType="lpstr">
      <vt:lpstr>Microsoft JhengHei</vt:lpstr>
      <vt:lpstr>Aptos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hwa hai</cp:lastModifiedBy>
  <cp:revision>1</cp:revision>
  <dcterms:created xsi:type="dcterms:W3CDTF">2026-10-14T07:40:36Z</dcterms:created>
  <dcterms:modified xsi:type="dcterms:W3CDTF">2026-10-14T07:52:26Z</dcterms:modified>
</cp:coreProperties>
</file>
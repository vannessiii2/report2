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8bf8fe69aa4967" /><Relationship Type="http://schemas.openxmlformats.org/officeDocument/2006/relationships/extended-properties" Target="/docProps/app.xml" Id="Rfc8f0a71475746d4" /><Relationship Type="http://schemas.openxmlformats.org/officeDocument/2006/relationships/officeDocument" Target="/ppt/presentation.xml" Id="R8b15356ce1b94a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9eadc02ff74fb6"/>
  </p:sldMasterIdLst>
  <p:notesMasterIdLst>
    <p:notesMasterId xmlns:r="http://schemas.openxmlformats.org/officeDocument/2006/relationships" r:id="R2aa44bb301914d25"/>
  </p:notesMasterIdLst>
  <p:sldIdLst>
    <p:sldId xmlns:r="http://schemas.openxmlformats.org/officeDocument/2006/relationships" id="256" r:id="R369d95be909c4203"/>
    <p:sldId xmlns:r="http://schemas.openxmlformats.org/officeDocument/2006/relationships" id="257" r:id="R82e59e5f60ce4324"/>
    <p:sldId xmlns:r="http://schemas.openxmlformats.org/officeDocument/2006/relationships" id="258" r:id="Rc3a36a7f61b14c50"/>
    <p:sldId xmlns:r="http://schemas.openxmlformats.org/officeDocument/2006/relationships" id="259" r:id="Rb91aea0eba1b4651"/>
    <p:sldId xmlns:r="http://schemas.openxmlformats.org/officeDocument/2006/relationships" id="260" r:id="R04557ff2b8d94dd6"/>
    <p:sldId xmlns:r="http://schemas.openxmlformats.org/officeDocument/2006/relationships" id="261" r:id="Rdbed2c626c734ec5"/>
    <p:sldId xmlns:r="http://schemas.openxmlformats.org/officeDocument/2006/relationships" id="262" r:id="R4c7491a035024fd9"/>
    <p:sldId xmlns:r="http://schemas.openxmlformats.org/officeDocument/2006/relationships" id="263" r:id="Ra463f3d28d0d437e"/>
    <p:sldId xmlns:r="http://schemas.openxmlformats.org/officeDocument/2006/relationships" id="264" r:id="R72051e1fe31f4386"/>
    <p:sldId xmlns:r="http://schemas.openxmlformats.org/officeDocument/2006/relationships" id="265" r:id="R921a57e34773432f"/>
    <p:sldId xmlns:r="http://schemas.openxmlformats.org/officeDocument/2006/relationships" id="266" r:id="R42d6f16d90314fa3"/>
    <p:sldId xmlns:r="http://schemas.openxmlformats.org/officeDocument/2006/relationships" id="267" r:id="R0879d511dcac437f"/>
    <p:sldId xmlns:r="http://schemas.openxmlformats.org/officeDocument/2006/relationships" id="268" r:id="Rfd5dcc638d984fac"/>
    <p:sldId xmlns:r="http://schemas.openxmlformats.org/officeDocument/2006/relationships" id="269" r:id="R2106bdb752124e7e"/>
    <p:sldId xmlns:r="http://schemas.openxmlformats.org/officeDocument/2006/relationships" id="270" r:id="R68418e0d5b974bdb"/>
    <p:sldId xmlns:r="http://schemas.openxmlformats.org/officeDocument/2006/relationships" id="271" r:id="R711d7fb3f3c04bf1"/>
    <p:sldId xmlns:r="http://schemas.openxmlformats.org/officeDocument/2006/relationships" id="272" r:id="Rdd06c7b7296f4b34"/>
    <p:sldId xmlns:r="http://schemas.openxmlformats.org/officeDocument/2006/relationships" id="273" r:id="R9ae9fe85b9274e20"/>
    <p:sldId xmlns:r="http://schemas.openxmlformats.org/officeDocument/2006/relationships" id="274" r:id="Rf17a074689444977"/>
    <p:sldId xmlns:r="http://schemas.openxmlformats.org/officeDocument/2006/relationships" id="275" r:id="Re1e22e30994a456f"/>
    <p:sldId xmlns:r="http://schemas.openxmlformats.org/officeDocument/2006/relationships" id="276" r:id="R80709311f6f64fc0"/>
    <p:sldId xmlns:r="http://schemas.openxmlformats.org/officeDocument/2006/relationships" id="277" r:id="R3c1f2dbc688a4653"/>
    <p:sldId xmlns:r="http://schemas.openxmlformats.org/officeDocument/2006/relationships" id="278" r:id="Rdb35b4010b7a4713"/>
    <p:sldId xmlns:r="http://schemas.openxmlformats.org/officeDocument/2006/relationships" id="279" r:id="R335e855ab545443b"/>
    <p:sldId xmlns:r="http://schemas.openxmlformats.org/officeDocument/2006/relationships" id="280" r:id="Rd82af82ab28a4b9d"/>
    <p:sldId xmlns:r="http://schemas.openxmlformats.org/officeDocument/2006/relationships" id="281" r:id="Rc0646ee1572d47dd"/>
    <p:sldId xmlns:r="http://schemas.openxmlformats.org/officeDocument/2006/relationships" id="282" r:id="R7ffa1c936db74f4d"/>
    <p:sldId xmlns:r="http://schemas.openxmlformats.org/officeDocument/2006/relationships" id="283" r:id="R337571731725418d"/>
    <p:sldId xmlns:r="http://schemas.openxmlformats.org/officeDocument/2006/relationships" id="284" r:id="Rabd6c64a81a644b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064643e63349d3" /><Relationship Type="http://schemas.openxmlformats.org/officeDocument/2006/relationships/slideMaster" Target="/ppt/slideMasters/slideMaster1.xml" Id="Raf9eadc02ff74fb6" /><Relationship Type="http://schemas.openxmlformats.org/officeDocument/2006/relationships/notesMaster" Target="/ppt/notesMasters/notesMaster1.xml" Id="R2aa44bb301914d25" /><Relationship Type="http://schemas.openxmlformats.org/officeDocument/2006/relationships/presProps" Target="/ppt/presProps.xml" Id="R91504084cd874093" /><Relationship Type="http://schemas.openxmlformats.org/officeDocument/2006/relationships/viewProps" Target="/ppt/viewProps.xml" Id="R6912d56d02864a00" /><Relationship Type="http://schemas.openxmlformats.org/officeDocument/2006/relationships/tableStyles" Target="/ppt/tableStyles.xml" Id="Raa694af1d93147be" /><Relationship Type="http://schemas.openxmlformats.org/officeDocument/2006/relationships/slide" Target="/ppt/slides/slide1.xml" Id="R369d95be909c4203" /><Relationship Type="http://schemas.openxmlformats.org/officeDocument/2006/relationships/slide" Target="/ppt/slides/slide2.xml" Id="R82e59e5f60ce4324" /><Relationship Type="http://schemas.openxmlformats.org/officeDocument/2006/relationships/slide" Target="/ppt/slides/slide3.xml" Id="Rc3a36a7f61b14c50" /><Relationship Type="http://schemas.openxmlformats.org/officeDocument/2006/relationships/slide" Target="/ppt/slides/slide4.xml" Id="Rb91aea0eba1b4651" /><Relationship Type="http://schemas.openxmlformats.org/officeDocument/2006/relationships/slide" Target="/ppt/slides/slide5.xml" Id="R04557ff2b8d94dd6" /><Relationship Type="http://schemas.openxmlformats.org/officeDocument/2006/relationships/slide" Target="/ppt/slides/slide6.xml" Id="Rdbed2c626c734ec5" /><Relationship Type="http://schemas.openxmlformats.org/officeDocument/2006/relationships/slide" Target="/ppt/slides/slide7.xml" Id="R4c7491a035024fd9" /><Relationship Type="http://schemas.openxmlformats.org/officeDocument/2006/relationships/slide" Target="/ppt/slides/slide8.xml" Id="Ra463f3d28d0d437e" /><Relationship Type="http://schemas.openxmlformats.org/officeDocument/2006/relationships/slide" Target="/ppt/slides/slide9.xml" Id="R72051e1fe31f4386" /><Relationship Type="http://schemas.openxmlformats.org/officeDocument/2006/relationships/slide" Target="/ppt/slides/slide10.xml" Id="R921a57e34773432f" /><Relationship Type="http://schemas.openxmlformats.org/officeDocument/2006/relationships/slide" Target="/ppt/slides/slide11.xml" Id="R42d6f16d90314fa3" /><Relationship Type="http://schemas.openxmlformats.org/officeDocument/2006/relationships/slide" Target="/ppt/slides/slide12.xml" Id="R0879d511dcac437f" /><Relationship Type="http://schemas.openxmlformats.org/officeDocument/2006/relationships/slide" Target="/ppt/slides/slide13.xml" Id="Rfd5dcc638d984fac" /><Relationship Type="http://schemas.openxmlformats.org/officeDocument/2006/relationships/slide" Target="/ppt/slides/slide14.xml" Id="R2106bdb752124e7e" /><Relationship Type="http://schemas.openxmlformats.org/officeDocument/2006/relationships/slide" Target="/ppt/slides/slide15.xml" Id="R68418e0d5b974bdb" /><Relationship Type="http://schemas.openxmlformats.org/officeDocument/2006/relationships/slide" Target="/ppt/slides/slide16.xml" Id="R711d7fb3f3c04bf1" /><Relationship Type="http://schemas.openxmlformats.org/officeDocument/2006/relationships/slide" Target="/ppt/slides/slide17.xml" Id="Rdd06c7b7296f4b34" /><Relationship Type="http://schemas.openxmlformats.org/officeDocument/2006/relationships/slide" Target="/ppt/slides/slide18.xml" Id="R9ae9fe85b9274e20" /><Relationship Type="http://schemas.openxmlformats.org/officeDocument/2006/relationships/slide" Target="/ppt/slides/slide19.xml" Id="Rf17a074689444977" /><Relationship Type="http://schemas.openxmlformats.org/officeDocument/2006/relationships/slide" Target="/ppt/slides/slide20.xml" Id="Re1e22e30994a456f" /><Relationship Type="http://schemas.openxmlformats.org/officeDocument/2006/relationships/slide" Target="/ppt/slides/slide21.xml" Id="R80709311f6f64fc0" /><Relationship Type="http://schemas.openxmlformats.org/officeDocument/2006/relationships/slide" Target="/ppt/slides/slide22.xml" Id="R3c1f2dbc688a4653" /><Relationship Type="http://schemas.openxmlformats.org/officeDocument/2006/relationships/slide" Target="/ppt/slides/slide23.xml" Id="Rdb35b4010b7a4713" /><Relationship Type="http://schemas.openxmlformats.org/officeDocument/2006/relationships/slide" Target="/ppt/slides/slide24.xml" Id="R335e855ab545443b" /><Relationship Type="http://schemas.openxmlformats.org/officeDocument/2006/relationships/slide" Target="/ppt/slides/slide25.xml" Id="Rd82af82ab28a4b9d" /><Relationship Type="http://schemas.openxmlformats.org/officeDocument/2006/relationships/slide" Target="/ppt/slides/slide26.xml" Id="Rc0646ee1572d47dd" /><Relationship Type="http://schemas.openxmlformats.org/officeDocument/2006/relationships/slide" Target="/ppt/slides/slide27.xml" Id="R7ffa1c936db74f4d" /><Relationship Type="http://schemas.openxmlformats.org/officeDocument/2006/relationships/slide" Target="/ppt/slides/slide28.xml" Id="R337571731725418d" /><Relationship Type="http://schemas.openxmlformats.org/officeDocument/2006/relationships/slide" Target="/ppt/slides/slide29.xml" Id="Rabd6c64a81a644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ececa807ef41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b840038e743e3" /><Relationship Type="http://schemas.openxmlformats.org/officeDocument/2006/relationships/notesMaster" Target="/ppt/notesMasters/notesMaster1.xml" Id="Rcf147f869e024f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b9a634fcdb4a23" /><Relationship Type="http://schemas.openxmlformats.org/officeDocument/2006/relationships/notesMaster" Target="/ppt/notesMasters/notesMaster1.xml" Id="Rf75cca60f0e64b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7b9b2f0df94772" /><Relationship Type="http://schemas.openxmlformats.org/officeDocument/2006/relationships/notesMaster" Target="/ppt/notesMasters/notesMaster1.xml" Id="R2b459ea826e3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91d2acbc9a481d" /><Relationship Type="http://schemas.openxmlformats.org/officeDocument/2006/relationships/notesMaster" Target="/ppt/notesMasters/notesMaster1.xml" Id="Rfbc4e69ba0214e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98879370ba4fb7" /><Relationship Type="http://schemas.openxmlformats.org/officeDocument/2006/relationships/notesMaster" Target="/ppt/notesMasters/notesMaster1.xml" Id="R4342176074e547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12548a20a24f9a" /><Relationship Type="http://schemas.openxmlformats.org/officeDocument/2006/relationships/notesMaster" Target="/ppt/notesMasters/notesMaster1.xml" Id="R74ba15e5b0b64b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066b52e06d4bc2" /><Relationship Type="http://schemas.openxmlformats.org/officeDocument/2006/relationships/notesMaster" Target="/ppt/notesMasters/notesMaster1.xml" Id="Rda8b5df1f076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d36e47094343de" /><Relationship Type="http://schemas.openxmlformats.org/officeDocument/2006/relationships/notesMaster" Target="/ppt/notesMasters/notesMaster1.xml" Id="R44cb9146a5d64f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cdc3a4d7dd400d" /><Relationship Type="http://schemas.openxmlformats.org/officeDocument/2006/relationships/notesMaster" Target="/ppt/notesMasters/notesMaster1.xml" Id="Rfb07dd00a74f43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b9fc820ff34b35" /><Relationship Type="http://schemas.openxmlformats.org/officeDocument/2006/relationships/notesMaster" Target="/ppt/notesMasters/notesMaster1.xml" Id="Rf3dd8d7988d24f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f0f756898c4073" /><Relationship Type="http://schemas.openxmlformats.org/officeDocument/2006/relationships/notesMaster" Target="/ppt/notesMasters/notesMaster1.xml" Id="R71219ea6632746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7b49c8e25f47b0" /><Relationship Type="http://schemas.openxmlformats.org/officeDocument/2006/relationships/notesMaster" Target="/ppt/notesMasters/notesMaster1.xml" Id="R54dfc9017b0d4d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28e6e422b94061" /><Relationship Type="http://schemas.openxmlformats.org/officeDocument/2006/relationships/notesMaster" Target="/ppt/notesMasters/notesMaster1.xml" Id="R559ccbbffe4a40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5e8911cbab429e" /><Relationship Type="http://schemas.openxmlformats.org/officeDocument/2006/relationships/notesMaster" Target="/ppt/notesMasters/notesMaster1.xml" Id="Ra49721db5fda4e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da3ed4917f48e4" /><Relationship Type="http://schemas.openxmlformats.org/officeDocument/2006/relationships/notesMaster" Target="/ppt/notesMasters/notesMaster1.xml" Id="Rc44a41c2dcd844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1ee0f619554656" /><Relationship Type="http://schemas.openxmlformats.org/officeDocument/2006/relationships/notesMaster" Target="/ppt/notesMasters/notesMaster1.xml" Id="R6477c748262242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ed7760234e4304" /><Relationship Type="http://schemas.openxmlformats.org/officeDocument/2006/relationships/notesMaster" Target="/ppt/notesMasters/notesMaster1.xml" Id="Rfcc88e4ce54140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2828a7bfa24850" /><Relationship Type="http://schemas.openxmlformats.org/officeDocument/2006/relationships/notesMaster" Target="/ppt/notesMasters/notesMaster1.xml" Id="R9d73ce23dd8548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e7050e5ced4487" /><Relationship Type="http://schemas.openxmlformats.org/officeDocument/2006/relationships/notesMaster" Target="/ppt/notesMasters/notesMaster1.xml" Id="R35b716064e0c40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dbdbd8c7eb4c2c" /><Relationship Type="http://schemas.openxmlformats.org/officeDocument/2006/relationships/notesMaster" Target="/ppt/notesMasters/notesMaster1.xml" Id="R78890af4724b465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f015d92aa24f10" /><Relationship Type="http://schemas.openxmlformats.org/officeDocument/2006/relationships/notesMaster" Target="/ppt/notesMasters/notesMaster1.xml" Id="Ref2b20af1b824a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0f0ad5fba64b99" /><Relationship Type="http://schemas.openxmlformats.org/officeDocument/2006/relationships/notesMaster" Target="/ppt/notesMasters/notesMaster1.xml" Id="Radf53304e54642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3ebb09592b4c2d" /><Relationship Type="http://schemas.openxmlformats.org/officeDocument/2006/relationships/notesMaster" Target="/ppt/notesMasters/notesMaster1.xml" Id="Rc442fb5b53e145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b11a756ffa4b59" /><Relationship Type="http://schemas.openxmlformats.org/officeDocument/2006/relationships/notesMaster" Target="/ppt/notesMasters/notesMaster1.xml" Id="Reef10d2a70eb44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c88155220bf45be" /><Relationship Type="http://schemas.openxmlformats.org/officeDocument/2006/relationships/notesMaster" Target="/ppt/notesMasters/notesMaster1.xml" Id="Re32ef66101d14a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72dfca9233417d" /><Relationship Type="http://schemas.openxmlformats.org/officeDocument/2006/relationships/notesMaster" Target="/ppt/notesMasters/notesMaster1.xml" Id="R98fff0e01e164ac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61f1ad6fd77425f" /><Relationship Type="http://schemas.openxmlformats.org/officeDocument/2006/relationships/notesMaster" Target="/ppt/notesMasters/notesMaster1.xml" Id="Rb071501956dd4b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bc68bd89c247ef" /><Relationship Type="http://schemas.openxmlformats.org/officeDocument/2006/relationships/notesMaster" Target="/ppt/notesMasters/notesMaster1.xml" Id="R565fff4847b242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d8034263f4d4835" /><Relationship Type="http://schemas.openxmlformats.org/officeDocument/2006/relationships/notesMaster" Target="/ppt/notesMasters/notesMaster1.xml" Id="R6768e00772ab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本研究的問題是同一筆現場作業資訊，何時能讓不同廠址、不同角色共同掌握。紙本內容可以正確，但每個人拿到更新的時間不同。MES把本次入庫與加工事件集中保存，提供共同查詢。研究要驗證的是資訊更新傳遞、各角色掌握的一致性及查詢交接負擔，而非先假定紙本容易登錄錯誤。MES指本公司的製造執行管理系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左圖為純紙本資訊傳遞的概念示意，不表示固定只按單一路徑傳遞。收料人員已確認到料時，中央生管和下游未必已拿到更新，原因可能是單據未送到、電話尚未回覆或訊息未轉告。右圖表示作業人員登錄後，各角色可以查同一筆已保存的MES資料。箭頭是資訊查詢，不是材料運輸，也不是3443與3445資料庫複寫。不能宣稱所有畫面自動秒級更新，需測登錄後查詢可見的時間及使用者實際掌握的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依據：H 公司使用者於 2026/10/14 說明之現場流程，以及本次對話。公司流程為個案陳述，尚非獨立成效驗證。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盤元是供後續加工使用的成捲鋼材。為讓外部聽眾辨認角色，此處把酸洗簡述為表面處理、球化為熱處理、伸線為拉製加工。以H公司提供的酸、球、酸、伸路徑為例，同一酸洗廠會再接到球化回廠料。球化廠沒有MES同步，因此每次回酸洗都重新核對本次工單及QR／條碼，不直接沿用前一次的入庫與出貨狀態，也不推定必須更換標籤。圖為典型路徑而非所有訂單唯一固定流程。</a:t>
            </a:r>
          </a:p>
          <a:p xmlns:a="http://schemas.openxmlformats.org/drawingml/2006/main">
            <a:r>
              <a:t>V4研究定位：每次入庫是更新跨廠共同進度的起點，研究同步時差與各角色掌握情形，不以紙本資料錯誤為建置前提。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依據：H 公司使用者於 2026/10/14 說明之現場流程，以及本次對話。公司流程為個案陳述，尚非獨立成效驗證。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中央生管同時向料場傳真抓料單，也把紙本催料單交酸洗廠。酸洗廠生管提前一天建立MES催料資料，收料人員才有資料可選，並把實際盤元標籤連結到正確工單。球化後回廠也進入同一核對串接步驟。這個作法讓各廠管理系統尚未整合時，仍能在實物流經的酸洗廠留下本次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現場同時處理今日加工、隔日預收及急件和球化回廠料，理料空間有限。除了收料核對，各廠還需要及時取得本次工單的收料與完工狀態，才能處理各自的加工安排。這是對資訊更新同步的需求，不表示紙本材質、重量或數量本身不準。8小時是收料班別，4小時是運輸窗口，兩者不能作MES提升效率的前後比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依據：H 公司使用者於 2026/10/14 說明之現場流程，以及本次對話。公司流程為個案陳述，尚非獨立成效驗證。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掃碼的價值在於讓實物身分與本次工單、製程和排程相連，而不是只把條碼存進電腦。收料人員先比對送貨單與實物，確認後留下入庫紀錄。後續人員沿這筆本次入庫資料更新入洗、洗出和出庫狀態。外廠依角色權限查詢酸洗進度，不代表外廠的系統已自動同步。完工與出庫是不同事件，仍需分開確認。</a:t>
            </a:r>
          </a:p>
          <a:p xmlns:a="http://schemas.openxmlformats.org/drawingml/2006/main">
            <a:r>
              <a:t>同步範圍：共用酸洗廠所登錄的作業事件。現場掃碼和登錄仍需人員操作，未驗證所有角色的畫面刷新或通知機制。球化沒有MES串接，每次回酸洗重新建立本次入庫關聯。紙本核對仍保留，分析焦點為更新的傳播及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研究脈絡：使用者2026/10/14確認AR指擴增實境，曾在10/13與老師討論，後續依老師建議改以QR Code串接為研究出發點。參考聊天室「LLM＋RAG 智慧管理 MES 論文」2026/10/13討論，以及output/ar-inbound-20261012/AR開發進度與老師討論紀錄_2026-10-13.md。AR是近期研究探索，不能倒寫為既有MES最初建置時已完成的方案比較。</a:t>
            </a:r>
          </a:p>
          <a:p xmlns:a="http://schemas.openxmlformats.org/drawingml/2006/main">
            <a:r>
              <a:t>技術依據：Google ARCore Fundamental concepts，https://developers.google.com/ar/develop/fundamentals （2026/10/14查閱），說明姿態追蹤、平面、錨點與虛實疊加。此資料用於解釋一般AR概念，不代表本原型採用ARCore，本原型紀錄為8th Wall與Three.js。DENSO WAVE What is a QR Code，https://www.denso-wave.com/en/adcd/fundamental/2dcode/qrc/index.html （同日查閱），QR為二維編碼。</a:t>
            </a:r>
          </a:p>
          <a:p xmlns:a="http://schemas.openxmlformats.org/drawingml/2006/main">
            <a:r>
              <a:t>本頁選型結論為依本案需求的分析，非官方文件認證。QR可承載識別碼，工單與重量可存在MES資料庫，不必把所有資料編進碼內。應以單筆入庫及本次工單關聯辨識作業週期，不能只用QR文字將多次回廠資料混在一起。AR也可以搭配QR識別，不宣稱AR不能辨識物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研究脈絡：使用者2026/10/14確認AR指擴增實境，曾在10/13與老師討論，後續依老師建議改以QR Code串接為研究出發點。參考聊天室「LLM＋RAG 智慧管理 MES 論文」2026/10/13討論，以及output/ar-inbound-20261012/AR開發進度與老師討論紀錄_2026-10-13.md。AR是近期研究探索，不能倒寫為既有MES最初建置時已完成的方案比較。</a:t>
            </a:r>
          </a:p>
          <a:p xmlns:a="http://schemas.openxmlformats.org/drawingml/2006/main">
            <a:r>
              <a:t>已知原型限制：手動卡片與影片分享不等於MES交易，v6標籤飄移由使用者回報，v7加入A-01標記後尚缺完整量化驗證。攝影機抖動、遮擋、重定位與設備校正維護列為待評估風險，不能說所有AR一定失敗，也沒有正式成本報價可支持AR一定較貴。QR方案已有現場掃碼作業基礎，對本次「入庫資料同步」問題較直接。QR仍會遇到污損、漏掃、重複碼與綁錯工單，需保留核對與異常處理。這是研究範圍收斂，並非經AR對QR隨機試驗證明技術優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此頁是比較情境，不是觀察到的某張急件，也不填虛構分鐘數。兩邊的收料核對結果相同，差異在後續傳遞。紙本要靠找單、詢問或回報更新，MES保存後讓授權人員各自查同一來源，不必經中央生管再轉告才能查。是否更快、少問幾次，需要配對任務或現場觀察才能得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公司已具有共用酸洗進度的查詢能力。中央生管可以追查急件是否到料，球化廠掌握酸洗交接，伸線A/B依客戶順序準備模具及評估交期，職代查昨日紀錄接手今日收料。希望降低逐人詢問、等待回報和各人資訊時間差。這些是預期效益，改善幅度由後續同步時差、角色最新狀態一致率與詢問次數驗證。並非系統自動排程，也未證明準時交貨率已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依據：H 公司使用者於 2026/10/14 說明之現場流程，以及本次對話。公司流程為個案陳述，尚非獨立成效驗證。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次日應加工的料，由生管在次日12:00前查核入庫狀況。急件在預排時程前兩小時查入庫單，並向收料人員確認是否真的未收到。每日收班前一小時主管檢查當日應加工料是否入洗，再完單報產量，隔日預收料要分開。職代可以查昨天收到的料與目前狀態，接續今天的收料工作。查無系統資料不能直接斷言實物沒到，仍須現場核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同步指各角色能取得相同本次作業狀態，不是伺服器間資料複寫。T0由觀察員記錄現場收料核對完成，T1為紙本寫好或MES伺服器保存成功，T2,r為指定角色在預先約定的相同檢查頻率下第一次取得最新狀態。兩種方式均採相同測量規則，記錄觀測頻率造成的時間誤差。另以T3,r紀錄角色實際閱讀並確認，T3-T0可評估人員掌握時間，但受工作安排影響不能全歸因系統。各裝置時鐘需校準。歷史入庫時間欄位不必然代表T0，updated_at不直接代表T1。查詢或通知日誌不足時需補觀察資料，不先填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資料：3443 正式作業資料唯讀快照 2026/10/14 11:52:36（台灣），build/stats.json 與 research-stats.sql。研究期 2026/08/27–10/13。入庫依入庫單日、自主依工作日、出庫依確認出貨日。明細有效且母单未作廢。各工序總數不是同批材料，不能相減作餘料或相除作完工率。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這些是正式資料的實際記錄量，可證明系統已用於現場作業並形成研究資料基礎，不代表由MES額外增加的產量。8,832是入庫事件紀錄數，同一顆材料再次入庫可能另有紀錄。8,800入洗與7,841出庫按各自單據日期統計，不能用差額判斷餘料或用比值判斷完工率。</a:t>
            </a:r>
          </a:p>
          <a:p xmlns:a="http://schemas.openxmlformats.org/drawingml/2006/main">
            <a:r>
              <a:t>V4：這些總數證明作業紀錄基礎，沒有測到角色取得更新時間，不能以資料量直接宣稱同步改善。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資料：3443 正式作業資料唯讀快照 2026/10/14 11:52:36（台灣），build/stats.json 與 research-stats.sql。研究期 2026/08/27–10/13。入庫依入庫單日、自主依工作日、出庫依確認出貨日。明細有效且母单未作廢。各工序總數不是同批材料，不能相減作餘料或相除作完工率。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這頁以實際資料支持收料情境的複雜性。研究期8,832筆入庫中7,611筆早於目前工單排程日期，顯示現場確實同時處理預收與当日任務。這並不等於每筆都只提前一天。267是材質ID數，215是線徑原始文字不同值數，未經標準化，不等於215種物理線徑。這些數字適合當作後續分析的情境變數，不能直接推論人員負荷或MES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主指標為資訊同步。端到端時間用T2,r-T0，另拆T1-T0與T2,r-T1。每事件、每角色為觀測單位，未收到更新的案例不可刪除，应列未同步比例及觀察截止时间。角色最新狀態一致率＝指定查核點與最新已確認事件狀態相同的有效角色觀測數／全部應查角色觀測數；查無或仍是舊狀態列未同步，不把無權查看的角色納入。這是時間版本的一致性，而非物料資料輸入正確率。可另列全角色皆一致的事件比例，但分母不得混用。查詢負擔以相同任務耗時與人員詢問次數衡量。報告樣本数、中位數、P90與分布，配對差值按相同角色和難度配對，避免把多角色同一事件當獨立樣本。P90在樣本過少時不作穩定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方案A：若能取得紙本時期可靠的事件與各角色接獲更新時間，與MES期按角色、工作量、製程、急件等條件配對或分層比較，仍須說明前後期人員和工作變動。方案B：歷史資料不足時，建立两套等難度、不同工單的任務素材，由相同人員交叉使用紙本與MES，交錯先後順序減少學習效應。全程在授權測試環境或脫敏快照進行，不在正式3443重複入庫或改動現場作業。固定觀察窗口和查核節奏，記錄角色、任務、T0/T1/T2/T3、狀態版本、詢問與求助次數。這種受控測試證明的是任務資訊取得表現，不能直接宣稱已提高真實產量或交貨率。樣本數與模型由老師依試測變異討論。相關性分析可考慮工作量、角色、急件、工作經驗與製程，多角色同事件需分群處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官方資料：https://developers.cloudflare.com/cloudflare-one/networks/connectors/cloudflare-tunnel/</a:t>
            </a:r>
          </a:p>
          <a:p xmlns:a="http://schemas.openxmlformats.org/drawingml/2006/main">
            <a:r>
              <a:t>https://owasp.org/projects/asvs</a:t>
            </a:r>
          </a:p>
          <a:p xmlns:a="http://schemas.openxmlformats.org/drawingml/2006/main">
            <a:r>
              <a:t>本機歷史部署文件及本次容器清單。未查 Cloudflare 後台，未做滲透測試。</a:t>
            </a:r>
          </a:p>
          <a:p xmlns:a="http://schemas.openxmlformats.org/drawingml/2006/main">
            <a:r>
              <a:t>口頭說明：因為不同廠址要共用酸洗進度，系統需要外部連線，也必須限制誰能查看或修改資料。Cloudflare Tunnel的機制是由連接器建立對外連線，但採用Tunnel本身不等於已設定Access、MFA或完整WAF保護。資料庫在圖上屬後端服務，不是直接讓使用者登入。這張圖依既有部署文件整理，本輪僅修改簡報，未對正式站做安全測試，也未驗證3445具自動備援。</a:t>
            </a:r>
          </a:p>
          <a:p xmlns:a="http://schemas.openxmlformats.org/drawingml/2006/main">
            <a:r>
              <a:t>官方來源再次查閱2026/10/14：https://developers.cloudflare.com/cloudflare-one/networks/connectors/cloudflare-tunnel/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查閱日2026/10/14。https://owasp.org/projects/asvs</a:t>
            </a:r>
          </a:p>
          <a:p xmlns:a="http://schemas.openxmlformats.org/drawingml/2006/main">
            <a:r>
              <a:t>https://cheatsheetseries.owasp.org/cheatsheets/Authorization_Cheat_Sheet.html</a:t>
            </a:r>
          </a:p>
          <a:p xmlns:a="http://schemas.openxmlformats.org/drawingml/2006/main">
            <a:r>
              <a:t>https://developers.cloudflare.com/cloudflare-one/networks/connectors/cloudflare-tunnel/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NIST OT 原則供生產環境風險參考，本案為管理 Web，不宣稱完整 OT 認證。</a:t>
            </a:r>
          </a:p>
          <a:p xmlns:a="http://schemas.openxmlformats.org/drawingml/2006/main">
            <a:r>
              <a:t>口頭說明：對老師的回答應區分設計依據和已完成驗證。ASVS提供Web應用安全要求，OWASP授權指引支持最小權限與每次請求檢查，Cloudflare文件說明Tunnel機制，NIST提供生產環境風險及可用性參考。這些文件都不是本系統通過安全認證的證明。需補越權測試、外部入口設定和備份還原演練結果。</a:t>
            </a:r>
          </a:p>
          <a:p xmlns:a="http://schemas.openxmlformats.org/drawingml/2006/main">
            <a:r>
              <a:t>2026/10/14複核：https://owasp.org/projects/asvs</a:t>
            </a:r>
          </a:p>
          <a:p xmlns:a="http://schemas.openxmlformats.org/drawingml/2006/main">
            <a:r>
              <a:t>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口頭說明：</a:t>
            </a:r>
          </a:p>
          <a:p xmlns:a="http://schemas.openxmlformats.org/drawingml/2006/main">
            <a:r>
              <a:t>研究題目可為「多廠址協作下酸洗廠MES導入之資訊同步與作業協調成效評估」。建置起點是酸洗廠反覆接收材料並建立本次工單關聯，使派工之後的實際收料和加工狀態可查。公司目前已具共用作業紀錄能力，研究要進一步量測資訊到達各角色的時間和狀態一致性，並觀察詢問及職代交接負擔。不把紙本入庫正確性當主要缺點，也不宣稱同步等於各畫面自動即時刷新。資安仍是跨廠分享的必要條件，以既有架構和待補的測試證據說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排程依2026/10/13另一聊天室使用者的三次面談安排：先談紙本問題與入庫連結，下一次談入洗出庫，再下一次談效益。以10/20、10/27及擬定11/03呈現，後續日期和範圍仍由老師確認。</a:t>
            </a:r>
          </a:p>
          <a:p xmlns:a="http://schemas.openxmlformats.org/drawingml/2006/main">
            <a:r>
              <a:t>10/27主題不擴大為AR追蹤或LLM/RAG，保留V4資訊同步主軸。示範時用去識別化實際紀錄或獨立展示環境，不為展示在3443重複掃碼或寫入。若當日尚無角色同步試測數據，明列未完成、原因與補量日期，不能用入庫到入洗時間代替資訊同步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10/27交付計畫，非已完成統計。現有V4保留8/27–10/13、10/14 11:52快照，不冒稱更新至10/26。擬以8/27為起點、10/26為截止日，實際擷取時間、時區、SQL與有效條件都要另記。</a:t>
            </a:r>
          </a:p>
          <a:p xmlns:a="http://schemas.openxmlformats.org/drawingml/2006/main">
            <a:r>
              <a:t>資料包一：按單據日期列每日有效入庫件數、重量及工單數，區分首次到廠和加工後回廠，只有可靠欄位才分類，無法判別列未知。</a:t>
            </a:r>
          </a:p>
          <a:p xmlns:a="http://schemas.openxmlformats.org/drawingml/2006/main">
            <a:r>
              <a:t>資料包二：用入庫紀錄ID和本次工單關聯為追蹤單位，避免只按QR字串串聯多次回廠。每階段的可追溯覆蓋率須有同一母體與適用分母，不能將不同工序總數相減。入庫到入洗、洗出到出庫的時間是作業歷程時間，含等待與排程，不等於操作效率或跨廠資訊同步。截止尚未完成列右設限，缺關聯、作廢、重複或時序異常分別記錄。現有5筆入洗早於入庫、1筆日期不一致要查明，不先硬刪。</a:t>
            </a:r>
          </a:p>
          <a:p xmlns:a="http://schemas.openxmlformats.org/drawingml/2006/main">
            <a:r>
              <a:t>資料包三：固定查核節奏與時鐘，記錄事件代碼、角色代碼、任務、T0現場核對完成、T1紀錄完成、T2角色可查見更新、T3實際確認、版本是否最新、詢問次數。包含查無、逾時與缺值，報實際有效樣本n與排除原因。初期先給原始表與中位數及分布，樣本不足不強報穩定P90或顯著效果。紙本/MES以等難度不同工單交叉操作，避免學習偏差，多角色同事件不當獨立樣本。</a:t>
            </a:r>
          </a:p>
          <a:p xmlns:a="http://schemas.openxmlformats.org/drawingml/2006/main">
            <a:r>
              <a:t>希望老師決議：是否採同人配對任務、所需觀察角色和數量、變數控制與可接受的樣本數。資安問題持續用既有框架及設定證據補充，不能用文獻證明本系統已安全。未完成的試測明列待辦，不填估計值或虛構成果。本次未擷取新3443資料，也未變更服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來源：3443 正式 PostgreSQL 唯讀快照，2026/10/14 11:52:36（台灣）。SQL：research-stats.sql；原始彙總：stats.json。主期 2026/08/27–10/13。入庫按 inbound_documents.inbound_date；自主按 inspection_forms.work_date；出貨按 shipments.shipping_date，限 CONFIRMED。明細 ACTIVE 且未作廢，母單未作廢。各流量不是同批料，差額不是餘料。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來源：3443 正式 PostgreSQL 唯讀快照，2026/10/14 11:52:36（台灣）。SQL：research-stats.sql；原始彙總：stats.json。主期 2026/08/27–10/13。入庫按 inbound_documents.inbound_date；自主按 inspection_forms.work_date；出貨按 shipments.shipping_date，限 CONFIRMED。明細 ACTIVE 且未作廢，母單未作廢。各流量不是同批料，差額不是餘料。</a:t>
            </a:r>
          </a:p>
          <a:p xmlns:a="http://schemas.openxmlformats.org/drawingml/2006/main">
            <a:r>
              <a:t>額外唯讀檢查：8,800筆自主資料中796筆入洗時間為整點，0筆洗出-洗入恰為2小時。沒有找到欄位名含urgent/arrival/priority者，不代表備註等不存在相關資訊。</a:t>
            </a:r>
          </a:p>
          <a:p xmlns:a="http://schemas.openxmlformats.org/drawingml/2006/main">
            <a:r>
              <a:t>V4：本頁仅為歷史事件資料的清理依據，非紙本與MES正確性成效指標。不得用欄位完整度推估同步速度或把時間異常當紙本問題。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本章為2026/10/14擬定之10/27驗證計畫，非結果。承接V5第12、15、16、18、21頁。正式系統不重複入庫、不更改帳號、不執行未核准的還原或滲透測試。資料同步指角色取得同一筆最新事件，並非3443與3445複寫。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擬以10/26作資料截止日，擷取時間及時區須記錄。不得預填未到日期的件數。以入庫ID與本次工單為單位，勿只用QR字串合併多次回廠。每階段分別報分子、適用分母、未關聯、未知及截止未完成；未完成屬右設限。5筆及1筆來自10/14 11:52:36既有快照，數量可能重疊，不能相加推估錯誤率。單據核對為研究資料品質控制，不把純紙本誤判成不正確。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代表角色。另可拆T2,r-T1資訊可取得延遲。紙本及MES使用相同觀察窗口、時間精度及查核間隔，T2為首次觀察到可見的時間，含觀測間隔誤差。不能以歷史updated_at推定T1，也不能以入庫到入洗時間代替T2-T0。T3受人員工作安排影響，需與系統可查見時間分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紙本內容與MES內容相同，保留紙本現有詢問與回報方式。避免同工單重做造成記憶優勢。記錄角色、經驗、任務難度、工作量及急件條件。同事件多角色觀測具有相依性，分析需按事件分群。查無或舊狀態列未同步，無權角色不納入應查分母。未完成任務另報比例與觀察截止，不僅呈現成功案例的耗時。報中位數、配對差，P90僅在樣本足夠時解釋，不先假定樣本數或顯著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依據OWASP ASVS5.0.0 https://owasp.org/projects/asvs 與授權指引 https://cheatsheetseries.owasp.org/cheatsheets/Authorization_Cheat_Sheet.html ，工作階段指引 https://cheatsheetseries.owasp.org/cheatsheets/Session_Management_Cheat_Sheet.html ，Cloudflare https://developers.cloudflare.com/cloudflare-one/networks/connectors/cloudflare-tunnel/ ，NIST SP800-82r3 https://csrc.nist.gov/pubs/sp/800/82/r3/final 。來源整理日期2026/10/14，詳見既有資安文獻md。本次未重做現行安全測試。測試用獨立環境和測試帳號，正式站僅在核准範圍唯讀盤點。還原測試不覆蓋3443或3445。記錄RTO/RPO業務目標與實測的差距，尚無目標時列待確認。官方文件不等於認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保留V5前23頁作背景，新章節為24至29頁。10/27以實際取得的資料及試測回報。擬於10/26截止取樣，非自動排程。V5第11頁畫面收班前兩小時與講稿前一小時仍待使用者確認，本次不擅改。此計畫不含LLM/RAG或AR新實驗，不包含GitHub身分驗證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3ac49044449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5ea85fb5846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b4d3c89ad41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3d019646b4c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694aac6044f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2538c959543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FAB04-7E54-4325-882F-7F7A36D5A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0181BE-D3B2-49C1-9CC4-81A58EFA71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30EE43-D1ED-4338-91C8-CA87ADE934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21DCC8-851B-4D84-B463-E7DCE0E9F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712E56-5494-42F1-B93D-E8CB665498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45335D-D505-403F-AA07-67897CBAB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EEB13D-0B64-4F53-BB20-31A735EE03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E79F1D-08D4-4509-A7C0-0901C57DC4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49D9C9-F4DC-4096-89E2-F1360A66D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55FADF-F579-4398-85C1-A99DC7A37C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3ea237c8342e1" /><Relationship Type="http://schemas.openxmlformats.org/officeDocument/2006/relationships/slideLayout" Target="/ppt/slideLayouts/slideLayout1.xml" Id="R3ce1390e2b7c4962" /><Relationship Type="http://schemas.openxmlformats.org/officeDocument/2006/relationships/slideLayout" Target="/ppt/slideLayouts/slideLayout2.xml" Id="Rab2828611a0748ae" /><Relationship Type="http://schemas.openxmlformats.org/officeDocument/2006/relationships/slideLayout" Target="/ppt/slideLayouts/slideLayout3.xml" Id="R4dffebb4a40844d7" /><Relationship Type="http://schemas.openxmlformats.org/officeDocument/2006/relationships/slideLayout" Target="/ppt/slideLayouts/slideLayout4.xml" Id="R6800d7d24d1f4ab6" /><Relationship Type="http://schemas.openxmlformats.org/officeDocument/2006/relationships/slideLayout" Target="/ppt/slideLayouts/slideLayout5.xml" Id="R23efa6b0dcfc4b2c" /><Relationship Type="http://schemas.openxmlformats.org/officeDocument/2006/relationships/slideLayout" Target="/ppt/slideLayouts/slideLayout6.xml" Id="Ra50dc18f39e24b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1390e2b7c4962"/>
    <p:sldLayoutId xmlns:r="http://schemas.openxmlformats.org/officeDocument/2006/relationships" id="2147483650" r:id="Rab2828611a0748ae"/>
    <p:sldLayoutId xmlns:r="http://schemas.openxmlformats.org/officeDocument/2006/relationships" id="2147483651" r:id="R4dffebb4a40844d7"/>
    <p:sldLayoutId xmlns:r="http://schemas.openxmlformats.org/officeDocument/2006/relationships" id="2147483652" r:id="R6800d7d24d1f4ab6"/>
    <p:sldLayoutId xmlns:r="http://schemas.openxmlformats.org/officeDocument/2006/relationships" id="2147483653" r:id="R23efa6b0dcfc4b2c"/>
    <p:sldLayoutId xmlns:r="http://schemas.openxmlformats.org/officeDocument/2006/relationships" id="2147483654" r:id="Ra50dc18f39e24b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d4c0809314788" /><Relationship Type="http://schemas.openxmlformats.org/officeDocument/2006/relationships/notesSlide" Target="/ppt/notesSlides/notesSlide1.xml" Id="R90446538f94a4f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cef1071284099" /><Relationship Type="http://schemas.openxmlformats.org/officeDocument/2006/relationships/notesSlide" Target="/ppt/notesSlides/notesSlide2.xml" Id="Rf89efbf1d1c3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1e82e01dd4338" /><Relationship Type="http://schemas.openxmlformats.org/officeDocument/2006/relationships/notesSlide" Target="/ppt/notesSlides/notesSlide3.xml" Id="R3df355961b124e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7aa4dccbf452c" /><Relationship Type="http://schemas.openxmlformats.org/officeDocument/2006/relationships/notesSlide" Target="/ppt/notesSlides/notesSlide4.xml" Id="Rf19080ea6973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a8a516fdc4306" /><Relationship Type="http://schemas.openxmlformats.org/officeDocument/2006/relationships/notesSlide" Target="/ppt/notesSlides/notesSlide5.xml" Id="R1ea1d7516ec749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71f874fb74137" /><Relationship Type="http://schemas.openxmlformats.org/officeDocument/2006/relationships/notesSlide" Target="/ppt/notesSlides/notesSlide6.xml" Id="Re85cfd2fad864b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ea80b7b4c419e" /><Relationship Type="http://schemas.openxmlformats.org/officeDocument/2006/relationships/notesSlide" Target="/ppt/notesSlides/notesSlide7.xml" Id="Rad35a12780ec4b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cb2c2cb30472a" /><Relationship Type="http://schemas.openxmlformats.org/officeDocument/2006/relationships/notesSlide" Target="/ppt/notesSlides/notesSlide8.xml" Id="Reb656ccb112b48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3ca100d9f4a70" /><Relationship Type="http://schemas.openxmlformats.org/officeDocument/2006/relationships/notesSlide" Target="/ppt/notesSlides/notesSlide9.xml" Id="R9295a100bbf847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ef1e2486c4aa9" /><Relationship Type="http://schemas.openxmlformats.org/officeDocument/2006/relationships/notesSlide" Target="/ppt/notesSlides/notesSlide10.xml" Id="R29e96ee7ab934c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5e8fe5f5e4e5e" /><Relationship Type="http://schemas.openxmlformats.org/officeDocument/2006/relationships/notesSlide" Target="/ppt/notesSlides/notesSlide11.xml" Id="R1156556cde3e47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56911157c4408" /><Relationship Type="http://schemas.openxmlformats.org/officeDocument/2006/relationships/notesSlide" Target="/ppt/notesSlides/notesSlide12.xml" Id="Rda27e3350e7f43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7fb89fe543437e" /><Relationship Type="http://schemas.openxmlformats.org/officeDocument/2006/relationships/notesSlide" Target="/ppt/notesSlides/notesSlide13.xml" Id="Rb76d92c385fa4d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b17f540a24b64" /><Relationship Type="http://schemas.openxmlformats.org/officeDocument/2006/relationships/chart" Target="/ppt/slides/charts/chart1.xml" Id="Rc93362c561f1498e" /><Relationship Type="http://schemas.openxmlformats.org/officeDocument/2006/relationships/notesSlide" Target="/ppt/notesSlides/notesSlide14.xml" Id="R802f90b781a841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966cfb2b74d7c" /><Relationship Type="http://schemas.openxmlformats.org/officeDocument/2006/relationships/notesSlide" Target="/ppt/notesSlides/notesSlide15.xml" Id="R2d23434c654244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864a3c3664b9e" /><Relationship Type="http://schemas.openxmlformats.org/officeDocument/2006/relationships/notesSlide" Target="/ppt/notesSlides/notesSlide16.xml" Id="R1a7b90f2655f44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9745d357f4992" /><Relationship Type="http://schemas.openxmlformats.org/officeDocument/2006/relationships/notesSlide" Target="/ppt/notesSlides/notesSlide17.xml" Id="R82ab44d8050242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f2530c1ed48c2" /><Relationship Type="http://schemas.openxmlformats.org/officeDocument/2006/relationships/notesSlide" Target="/ppt/notesSlides/notesSlide18.xml" Id="Rd5e50db8fc2947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f61e23cea4c37" /><Relationship Type="http://schemas.openxmlformats.org/officeDocument/2006/relationships/notesSlide" Target="/ppt/notesSlides/notesSlide19.xml" Id="R1057b8a781484e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1c3342368471c" /><Relationship Type="http://schemas.openxmlformats.org/officeDocument/2006/relationships/notesSlide" Target="/ppt/notesSlides/notesSlide20.xml" Id="R1cebd6d8d2d249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14d3d59c84253" /><Relationship Type="http://schemas.openxmlformats.org/officeDocument/2006/relationships/notesSlide" Target="/ppt/notesSlides/notesSlide21.xml" Id="R0cbdb13bf5ed4f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0eac0f5654366" /><Relationship Type="http://schemas.openxmlformats.org/officeDocument/2006/relationships/chart" Target="/ppt/slides/charts/chart2.xml" Id="Rc308cc5297594386" /><Relationship Type="http://schemas.openxmlformats.org/officeDocument/2006/relationships/notesSlide" Target="/ppt/notesSlides/notesSlide22.xml" Id="Rd2c9836d07ea477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2018e256d4e88" /><Relationship Type="http://schemas.openxmlformats.org/officeDocument/2006/relationships/notesSlide" Target="/ppt/notesSlides/notesSlide23.xml" Id="R2c8c0e7763df41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2b915c7a94e28" /><Relationship Type="http://schemas.openxmlformats.org/officeDocument/2006/relationships/notesSlide" Target="/ppt/notesSlides/notesSlide24.xml" Id="Rde26f3d032b8485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b94abcb874fd2" /><Relationship Type="http://schemas.openxmlformats.org/officeDocument/2006/relationships/notesSlide" Target="/ppt/notesSlides/notesSlide25.xml" Id="Re88ebe20a0414b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2005523ec5488b" /><Relationship Type="http://schemas.openxmlformats.org/officeDocument/2006/relationships/notesSlide" Target="/ppt/notesSlides/notesSlide26.xml" Id="Rc21545cd858748e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92ee13a344d84" /><Relationship Type="http://schemas.openxmlformats.org/officeDocument/2006/relationships/notesSlide" Target="/ppt/notesSlides/notesSlide27.xml" Id="R81a8f0d0e2474d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017dadb80486d" /><Relationship Type="http://schemas.openxmlformats.org/officeDocument/2006/relationships/notesSlide" Target="/ppt/notesSlides/notesSlide28.xml" Id="R3a2e4249f79646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e1dc4192c4958" /><Relationship Type="http://schemas.openxmlformats.org/officeDocument/2006/relationships/notesSlide" Target="/ppt/notesSlides/notesSlide29.xml" Id="R31df418d1af64205" /></Relationships>
</file>

<file path=ppt/slides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../embeddings/Microsoft_Excel_Worksheet.xlsx"/></Relationships>
</file>

<file path=ppt/slides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../embeddings/Microsoft_Excel_Worksheet1.xlsx"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入庫紀錄</c:v>
          </c:tx>
          <c:spPr>
            <a:solidFill>
              <a:srgbClr val="087F8C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排程日前入庫</c:v>
                </c:pt>
                <c:pt idx="1">
                  <c:v>同日入庫</c:v>
                </c:pt>
                <c:pt idx="2">
                  <c:v>排程日後入庫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7611</c:v>
                </c:pt>
                <c:pt idx="1">
                  <c:v>1199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E4-4853-B5A7-95486A67C7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9525">
              <a:solidFill>
                <a:srgbClr val="E0E8EA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入庫</c:v>
          </c:tx>
          <c:spPr>
            <a:ln w="23813">
              <a:solidFill>
                <a:srgbClr val="087F8C"/>
              </a:solidFill>
            </a:ln>
          </c:spPr>
          <c:marker>
            <c:symbol val="none"/>
          </c:marker>
          <c:cat>
            <c:strRef>
              <c:f>'Chart Data'!$A$2:$A$49</c:f>
              <c:strCache>
                <c:ptCount val="48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</c:strCache>
            </c:strRef>
          </c:cat>
          <c:val>
            <c:numRef>
              <c:f>'Chart Data'!$B$2:$B$49</c:f>
              <c:numCache>
                <c:formatCode>General</c:formatCode>
                <c:ptCount val="48"/>
                <c:pt idx="0">
                  <c:v>353</c:v>
                </c:pt>
                <c:pt idx="1">
                  <c:v>222</c:v>
                </c:pt>
                <c:pt idx="2">
                  <c:v>55</c:v>
                </c:pt>
                <c:pt idx="3">
                  <c:v>0</c:v>
                </c:pt>
                <c:pt idx="4">
                  <c:v>324</c:v>
                </c:pt>
                <c:pt idx="5">
                  <c:v>286</c:v>
                </c:pt>
                <c:pt idx="6">
                  <c:v>216</c:v>
                </c:pt>
                <c:pt idx="7">
                  <c:v>277</c:v>
                </c:pt>
                <c:pt idx="8">
                  <c:v>254</c:v>
                </c:pt>
                <c:pt idx="9">
                  <c:v>84</c:v>
                </c:pt>
                <c:pt idx="10">
                  <c:v>0</c:v>
                </c:pt>
                <c:pt idx="11">
                  <c:v>245</c:v>
                </c:pt>
                <c:pt idx="12">
                  <c:v>219</c:v>
                </c:pt>
                <c:pt idx="13">
                  <c:v>282</c:v>
                </c:pt>
                <c:pt idx="14">
                  <c:v>318</c:v>
                </c:pt>
                <c:pt idx="15">
                  <c:v>251</c:v>
                </c:pt>
                <c:pt idx="16">
                  <c:v>74</c:v>
                </c:pt>
                <c:pt idx="17">
                  <c:v>0</c:v>
                </c:pt>
                <c:pt idx="18">
                  <c:v>267</c:v>
                </c:pt>
                <c:pt idx="19">
                  <c:v>253</c:v>
                </c:pt>
                <c:pt idx="20">
                  <c:v>250</c:v>
                </c:pt>
                <c:pt idx="21">
                  <c:v>197</c:v>
                </c:pt>
                <c:pt idx="22">
                  <c:v>217</c:v>
                </c:pt>
                <c:pt idx="23">
                  <c:v>0</c:v>
                </c:pt>
                <c:pt idx="24">
                  <c:v>0</c:v>
                </c:pt>
                <c:pt idx="25">
                  <c:v>296</c:v>
                </c:pt>
                <c:pt idx="26">
                  <c:v>294</c:v>
                </c:pt>
                <c:pt idx="27">
                  <c:v>272</c:v>
                </c:pt>
                <c:pt idx="28">
                  <c:v>258</c:v>
                </c:pt>
                <c:pt idx="29">
                  <c:v>9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381</c:v>
                </c:pt>
                <c:pt idx="34">
                  <c:v>284</c:v>
                </c:pt>
                <c:pt idx="35">
                  <c:v>321</c:v>
                </c:pt>
                <c:pt idx="36">
                  <c:v>253</c:v>
                </c:pt>
                <c:pt idx="37">
                  <c:v>42</c:v>
                </c:pt>
                <c:pt idx="38">
                  <c:v>0</c:v>
                </c:pt>
                <c:pt idx="39">
                  <c:v>307</c:v>
                </c:pt>
                <c:pt idx="40">
                  <c:v>273</c:v>
                </c:pt>
                <c:pt idx="41">
                  <c:v>248</c:v>
                </c:pt>
                <c:pt idx="42">
                  <c:v>219</c:v>
                </c:pt>
                <c:pt idx="43">
                  <c:v>55</c:v>
                </c:pt>
                <c:pt idx="44">
                  <c:v>0</c:v>
                </c:pt>
                <c:pt idx="45">
                  <c:v>0</c:v>
                </c:pt>
                <c:pt idx="46">
                  <c:v>365</c:v>
                </c:pt>
                <c:pt idx="47">
                  <c:v>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AF-48EF-B29F-005BCDFD4167}"/>
            </c:ext>
          </c:extLst>
        </c:ser>
        <c:ser>
          <c:idx val="1"/>
          <c:order val="1"/>
          <c:tx>
            <c:v>入洗</c:v>
          </c:tx>
          <c:spPr>
            <a:ln w="23813">
              <a:solidFill>
                <a:srgbClr val="CE822B"/>
              </a:solidFill>
            </a:ln>
          </c:spPr>
          <c:marker>
            <c:symbol val="none"/>
          </c:marker>
          <c:cat>
            <c:strRef>
              <c:f>'Chart Data'!$C$2:$C$49</c:f>
              <c:strCache>
                <c:ptCount val="48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</c:strCache>
            </c:strRef>
          </c:cat>
          <c:val>
            <c:numRef>
              <c:f>'Chart Data'!$D$2:$D$49</c:f>
              <c:numCache>
                <c:formatCode>General</c:formatCode>
                <c:ptCount val="48"/>
                <c:pt idx="0">
                  <c:v>348</c:v>
                </c:pt>
                <c:pt idx="1">
                  <c:v>282</c:v>
                </c:pt>
                <c:pt idx="2">
                  <c:v>0</c:v>
                </c:pt>
                <c:pt idx="3">
                  <c:v>0</c:v>
                </c:pt>
                <c:pt idx="4">
                  <c:v>305</c:v>
                </c:pt>
                <c:pt idx="5">
                  <c:v>319</c:v>
                </c:pt>
                <c:pt idx="6">
                  <c:v>277</c:v>
                </c:pt>
                <c:pt idx="7">
                  <c:v>301</c:v>
                </c:pt>
                <c:pt idx="8">
                  <c:v>287</c:v>
                </c:pt>
                <c:pt idx="9">
                  <c:v>0</c:v>
                </c:pt>
                <c:pt idx="10">
                  <c:v>0</c:v>
                </c:pt>
                <c:pt idx="11">
                  <c:v>272</c:v>
                </c:pt>
                <c:pt idx="12">
                  <c:v>254</c:v>
                </c:pt>
                <c:pt idx="13">
                  <c:v>264</c:v>
                </c:pt>
                <c:pt idx="14">
                  <c:v>280</c:v>
                </c:pt>
                <c:pt idx="15">
                  <c:v>155</c:v>
                </c:pt>
                <c:pt idx="16">
                  <c:v>0</c:v>
                </c:pt>
                <c:pt idx="17">
                  <c:v>0</c:v>
                </c:pt>
                <c:pt idx="18">
                  <c:v>276</c:v>
                </c:pt>
                <c:pt idx="19">
                  <c:v>293</c:v>
                </c:pt>
                <c:pt idx="20">
                  <c:v>276</c:v>
                </c:pt>
                <c:pt idx="21">
                  <c:v>281</c:v>
                </c:pt>
                <c:pt idx="22">
                  <c:v>137</c:v>
                </c:pt>
                <c:pt idx="23">
                  <c:v>0</c:v>
                </c:pt>
                <c:pt idx="24">
                  <c:v>0</c:v>
                </c:pt>
                <c:pt idx="25">
                  <c:v>247</c:v>
                </c:pt>
                <c:pt idx="26">
                  <c:v>318</c:v>
                </c:pt>
                <c:pt idx="27">
                  <c:v>290</c:v>
                </c:pt>
                <c:pt idx="28">
                  <c:v>296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296</c:v>
                </c:pt>
                <c:pt idx="34">
                  <c:v>337</c:v>
                </c:pt>
                <c:pt idx="35">
                  <c:v>335</c:v>
                </c:pt>
                <c:pt idx="36">
                  <c:v>302</c:v>
                </c:pt>
                <c:pt idx="37">
                  <c:v>0</c:v>
                </c:pt>
                <c:pt idx="38">
                  <c:v>0</c:v>
                </c:pt>
                <c:pt idx="39">
                  <c:v>309</c:v>
                </c:pt>
                <c:pt idx="40">
                  <c:v>258</c:v>
                </c:pt>
                <c:pt idx="41">
                  <c:v>275</c:v>
                </c:pt>
                <c:pt idx="42">
                  <c:v>310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306</c:v>
                </c:pt>
                <c:pt idx="47">
                  <c:v>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AF-48EF-B29F-005BCDFD4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Microsoft JhengHei"/>
                    <a:ea typeface="Microsoft JhengHei"/>
                    <a:cs typeface="Microsoft JhengHei"/>
                  </a:rPr>
                  <a:t>單據日期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Microsoft JhengHei"/>
                    <a:ea typeface="Microsoft JhengHei"/>
                    <a:cs typeface="Microsoft JhengHei"/>
                  </a:rPr>
                  <a:t>件／日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00"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gap"/>
    <c:showDLblsOverMax val="1"/>
  </c:chart>
  <c:externalData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D75531-6D8E-45D7-B610-3E48DC72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H 公司酸洗廠 MES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B5D8B2B-E185-4770-BE12-6C24F2D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7647BB2-F9D1-4582-ABB0-C733FC84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酸洗廠入庫資訊同步與跨廠協作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37641E9-E4F9-4325-B686-751B7E33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純紙本與 MES 比較、公司貢獻及驗證方法</a:t>
            </a:r>
          </a:p>
        </p:txBody>
      </p:sp>
    </p:spTree>
    <p:extLst>
      <p:ext uri="{BB962C8B-B14F-4D97-AF65-F5344CB8AC3E}">
        <p14:creationId xmlns:p14="http://schemas.microsoft.com/office/powerpoint/2010/main" val="222473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接點: 肘形 29">
            <a:extLst xmlns:a="http://schemas.openxmlformats.org/drawingml/2006/main">
              <a:ext uri="{FF2B5EF4-FFF2-40B4-BE49-F238E27FC236}">
                <a16:creationId xmlns:a16="http://schemas.microsoft.com/office/drawing/2014/main" id="{6DA7E425-5263-4467-8A9D-E38353ABDF36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263063" y="3419475"/>
            <a:ext cx="1652588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9" name="接點: 肘形 28">
            <a:extLst xmlns:a="http://schemas.openxmlformats.org/drawingml/2006/main">
              <a:ext uri="{FF2B5EF4-FFF2-40B4-BE49-F238E27FC236}">
                <a16:creationId xmlns:a16="http://schemas.microsoft.com/office/drawing/2014/main" id="{525CFF0E-D3E3-4891-8B82-5660061FBD7C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9248775" y="3419475"/>
            <a:ext cx="14288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8" name="接點: 肘形 27">
            <a:extLst xmlns:a="http://schemas.openxmlformats.org/drawingml/2006/main">
              <a:ext uri="{FF2B5EF4-FFF2-40B4-BE49-F238E27FC236}">
                <a16:creationId xmlns:a16="http://schemas.microsoft.com/office/drawing/2014/main" id="{D37D1FD7-6355-4EC8-BDD5-13A6BF97ED2D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7581900" y="3419475"/>
            <a:ext cx="1681163" cy="904875"/>
          </a:xfrm>
          <a:prstGeom xmlns:a="http://schemas.openxmlformats.org/drawingml/2006/main" prst="bentConnector4">
            <a:avLst>
              <a:gd name="adj1" fmla="val 0"/>
              <a:gd name="adj2" fmla="val 74737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1" name="直線單箭頭接點 20">
            <a:extLst xmlns:a="http://schemas.openxmlformats.org/drawingml/2006/main">
              <a:ext uri="{FF2B5EF4-FFF2-40B4-BE49-F238E27FC236}">
                <a16:creationId xmlns:a16="http://schemas.microsoft.com/office/drawing/2014/main" id="{E401429A-606E-486D-8CC8-89BDE0F79BF3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310063" y="343852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cxnSp>
        <p:nvCxnSpPr>
          <p:cNvPr id="20" name="直線單箭頭接點 19">
            <a:extLst xmlns:a="http://schemas.openxmlformats.org/drawingml/2006/main">
              <a:ext uri="{FF2B5EF4-FFF2-40B4-BE49-F238E27FC236}">
                <a16:creationId xmlns:a16="http://schemas.microsoft.com/office/drawing/2014/main" id="{B7FE7B2E-AAA2-4BD4-9701-491E756C218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524125" y="2986088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建置動機：讓不同廠址掌握同一筆作業進度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DD7B8F5-3799-4F60-B713-ED53D876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純紙本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F2E67EA-0350-42E2-A717-1AE4662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催料單＋入庫單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C3170FA-973D-492A-BBF8-CF3C3E5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670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2BC1E4-DB30-4240-8741-9B4AE40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09675"/>
            <a:ext cx="4572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MES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48B3CC2-1EF6-4533-A09E-B4F7247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共用系統＋入庫單據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1C211B-7149-4771-AECC-8FB33E05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已記錄收料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8628FC3-24E1-4B40-83A7-6A9D444D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1952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酸洗生管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待取得更新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27FF5E0-9808-434A-A403-AA36D7F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1952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中央生管／下游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再等回報或詢問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BC35461-E7DA-4CD7-85E4-D8DADDFC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909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傳遞與轉告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D4C75AB-56F7-4049-82E9-49E03659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各人掌握的進度可能不同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65C2FBD-A24A-490A-B93E-86692F39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86025"/>
            <a:ext cx="4048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本次作業紀錄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收料完成後登錄更新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2127721-5606-423E-A038-D3FCA39F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324350"/>
            <a:ext cx="15049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收料／職代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E81ED31-BA97-4AE9-80D7-9A0EBA3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15049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45957AD-A729-4DEA-ADE4-87E2E0D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24350"/>
            <a:ext cx="15049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下游廠區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288D73B-10D6-49CC-8255-9F39A633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依權限查詢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5156539-C45C-49A1-A8BB-5DA88AD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911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共用紀錄，仍需登錄與查閱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7034538-1E59-45FA-BAA7-9EEA7FD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紙本資料可以正確，問題在更新傳遞的時間差。MES 同步成效仍須量測。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直線單箭頭接點 18">
            <a:extLst xmlns:a="http://schemas.openxmlformats.org/drawingml/2006/main">
              <a:ext uri="{FF2B5EF4-FFF2-40B4-BE49-F238E27FC236}">
                <a16:creationId xmlns:a16="http://schemas.microsoft.com/office/drawing/2014/main" id="{BF0A5FBB-DE16-46C1-B14C-D016E856AEC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10625" y="24050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8" name="直線單箭頭接點 17">
            <a:extLst xmlns:a="http://schemas.openxmlformats.org/drawingml/2006/main">
              <a:ext uri="{FF2B5EF4-FFF2-40B4-BE49-F238E27FC236}">
                <a16:creationId xmlns:a16="http://schemas.microsoft.com/office/drawing/2014/main" id="{5F5B7646-CAC4-44EF-9FEB-022B59DADEF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05500" y="24050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直線單箭頭接點 16">
            <a:extLst xmlns:a="http://schemas.openxmlformats.org/drawingml/2006/main">
              <a:ext uri="{FF2B5EF4-FFF2-40B4-BE49-F238E27FC236}">
                <a16:creationId xmlns:a16="http://schemas.microsoft.com/office/drawing/2014/main" id="{C6037F91-A6DE-4BE2-AA6B-5EEE50E423B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00375" y="24050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酸洗廠是跨廠加工反覆經過的節點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CF319BC-A576-4C4A-A89C-1F400DE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H 公司典型加工路徑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E12A63-A4FB-4FF0-9704-B3753399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酸洗①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表面處理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DD16E4F-2BAA-4178-A226-9D2C303D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熱處理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D0051A-8EF5-4352-81D6-590FB9DA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酸洗②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再次表面處理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8D40FC2-A408-48C4-9491-58C73926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伸線 A／B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拉製加工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6C3CC95-3225-4B5F-B3A2-89B8DB69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首次入庫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串接本次工單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B63A78-90F1-4CF4-ADAD-E498A1EF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尚無 MES 同步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E72C260-383F-41FF-B5D6-C3420C0E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回廠再次入庫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重新串接本次工單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383606D-7270-405B-BBAC-84344075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956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各廠址接續加工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E7417E8-E5F6-46F1-AF98-9ECD9FA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每次進入酸洗廠，都能建立本次跨廠可查的起點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09F39AF-A33C-4F15-ACC5-D30F6F75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①、②為同一酸洗廠的不同次作業。實際順序依工單調整，所有入庫均須重新串接。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直線單箭頭接點 27">
            <a:extLst xmlns:a="http://schemas.openxmlformats.org/drawingml/2006/main">
              <a:ext uri="{FF2B5EF4-FFF2-40B4-BE49-F238E27FC236}">
                <a16:creationId xmlns:a16="http://schemas.microsoft.com/office/drawing/2014/main" id="{746C540E-AF5C-4C1F-87A0-EEB4C0B83C09}"/>
              </a:ext>
            </a:extLst>
          </p:cNvPr>
          <p:cNvCxnSpPr>
            <a:stCxn xmlns:a="http://schemas.openxmlformats.org/drawingml/2006/main" id="23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7734300" y="4976813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37A42"/>
            </a:solidFill>
            <a:tailEnd type="triangle" w="med" len="med"/>
          </a:ln>
        </p:spPr>
      </p:cxnSp>
      <p:cxnSp>
        <p:nvCxnSpPr>
          <p:cNvPr id="27" name="直線單箭頭接點 26">
            <a:extLst xmlns:a="http://schemas.openxmlformats.org/drawingml/2006/main">
              <a:ext uri="{FF2B5EF4-FFF2-40B4-BE49-F238E27FC236}">
                <a16:creationId xmlns:a16="http://schemas.microsoft.com/office/drawing/2014/main" id="{A05B4523-50C9-4CA8-9EA8-E4D8C203CA33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96000" y="37052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6" name="接點: 肘形 25">
            <a:extLst xmlns:a="http://schemas.openxmlformats.org/drawingml/2006/main">
              <a:ext uri="{FF2B5EF4-FFF2-40B4-BE49-F238E27FC236}">
                <a16:creationId xmlns:a16="http://schemas.microsoft.com/office/drawing/2014/main" id="{91818BA9-8260-4F6E-94BC-232FC42193AF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095500" y="3705225"/>
            <a:ext cx="2362200" cy="1271588"/>
          </a:xfrm>
          <a:prstGeom xmlns:a="http://schemas.openxmlformats.org/drawingml/2006/main" prst="bentConnector5">
            <a:avLst>
              <a:gd name="adj1" fmla="val 0"/>
              <a:gd name="adj2" fmla="val 17978"/>
              <a:gd name="adj3" fmla="val 90323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5" name="直線單箭頭接點 24">
            <a:extLst xmlns:a="http://schemas.openxmlformats.org/drawingml/2006/main">
              <a:ext uri="{FF2B5EF4-FFF2-40B4-BE49-F238E27FC236}">
                <a16:creationId xmlns:a16="http://schemas.microsoft.com/office/drawing/2014/main" id="{89C0A5C9-6806-4155-AC7D-D3EF733B22BF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18383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cxnSp>
        <p:nvCxnSpPr>
          <p:cNvPr id="24" name="接點: 肘形 23">
            <a:extLst xmlns:a="http://schemas.openxmlformats.org/drawingml/2006/main">
              <a:ext uri="{FF2B5EF4-FFF2-40B4-BE49-F238E27FC236}">
                <a16:creationId xmlns:a16="http://schemas.microsoft.com/office/drawing/2014/main" id="{0BF0A1FF-6460-41B1-986A-9ACD88D0C292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2095500" y="1514475"/>
            <a:ext cx="2362200" cy="1181100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5A31292-235A-4422-B83A-41CA630D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兩份紙本派工在酸洗廠入庫時接起來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9965FD-39F7-4C79-8A6C-4115D8B4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CC9390C-F745-435B-96E0-E3484561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90625"/>
            <a:ext cx="3276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5666C73-5C3A-4E02-B547-D68DB52A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料場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依抓料單備料、送料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FCC84C4-61E3-44B4-8C8C-ACC9C9AC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95575"/>
            <a:ext cx="3276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酸洗廠生管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提前一天建立 MES 催料單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7485295-1E87-45CD-AB26-BA3A33EA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29125"/>
            <a:ext cx="3276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酸洗廠收料人員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核對實物並串接本次工單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F056641-BEB2-4F87-A68F-9495DE9A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29125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球化廠回廠料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尚無 MES 同步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5759FB0-2C8A-40D9-B61F-9C9B3D5D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907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抓料單（傳真）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9902416-DC5B-4010-9BAB-BC07D4FC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907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催料單（紙本）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0E896DE-C407-49D0-9CF5-152EEEA1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52900"/>
            <a:ext cx="2809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實物＋送貨單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BCFC6D5-62B2-44C3-94C8-D8146DF5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rPr>
              <a:t>再次入庫串接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E95F1A6-A746-4C05-B6A9-78C19BC4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原紙本流程保留。酸洗廠人工建單及核對，並非中央生管或球化廠自動匯入。</a:t>
            </a:r>
          </a:p>
        </p:txBody>
      </p:sp>
    </p:spTree>
    <p:extLst>
      <p:ext uri="{BB962C8B-B14F-4D97-AF65-F5344CB8AC3E}">
        <p14:creationId xmlns:p14="http://schemas.microsoft.com/office/powerpoint/2010/main" val="1633993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接點: 肘形 17">
            <a:extLst xmlns:a="http://schemas.openxmlformats.org/drawingml/2006/main">
              <a:ext uri="{FF2B5EF4-FFF2-40B4-BE49-F238E27FC236}">
                <a16:creationId xmlns:a16="http://schemas.microsoft.com/office/drawing/2014/main" id="{26C42542-28F1-4579-8E8B-15214022618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857625" y="3619500"/>
            <a:ext cx="1000125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接點: 肘形 16">
            <a:extLst xmlns:a="http://schemas.openxmlformats.org/drawingml/2006/main">
              <a:ext uri="{FF2B5EF4-FFF2-40B4-BE49-F238E27FC236}">
                <a16:creationId xmlns:a16="http://schemas.microsoft.com/office/drawing/2014/main" id="{18916016-2018-4512-B130-DE290CFCF80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57625" y="3571875"/>
            <a:ext cx="10001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6" name="接點: 肘形 15">
            <a:extLst xmlns:a="http://schemas.openxmlformats.org/drawingml/2006/main">
              <a:ext uri="{FF2B5EF4-FFF2-40B4-BE49-F238E27FC236}">
                <a16:creationId xmlns:a16="http://schemas.microsoft.com/office/drawing/2014/main" id="{3F7D247E-0EE1-418F-BD26-1DFC23E9F85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57625" y="2000250"/>
            <a:ext cx="1000125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現場任務交錯，更新還要傳到不同廠址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49E8273-4354-407A-9AC5-9AF51BEB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3286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今日應加工料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需要確認可否入洗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C9658BA-2DAF-4825-9830-AD7E68E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286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隔日預收料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需與今日任務分開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9C8165F-4BC8-4554-8151-DC9895AB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3286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急件／球化回廠料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要重新確認加工任務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61722FB-8238-4EDE-B1C3-9AF9C175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24125"/>
            <a:ext cx="3095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同一收料現場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理料空間有限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盤元規格與工單並存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3D94411-CFDA-4DF2-BE19-65828C9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6687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收料要回答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74DDA28-5F92-43E9-BFF7-C688D146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857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這次收到哪張工單？</a:t>
            </a:r>
          </a:p>
          <a:p xmlns:a="http://schemas.openxmlformats.org/drawingml/2006/main"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今天還是明天加工？</a:t>
            </a:r>
          </a:p>
          <a:p xmlns:a="http://schemas.openxmlformats.org/drawingml/2006/main"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哪些人尚未收到更新？</a:t>
            </a:r>
          </a:p>
          <a:p xmlns:a="http://schemas.openxmlformats.org/drawingml/2006/main"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急件要通知誰？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FA715D2-7EC9-4011-8682-F4E8F4ED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作業需求：及時完成今日任務並交接下游，避免非預期滯留占用空間。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直線單箭頭接點 24">
            <a:extLst xmlns:a="http://schemas.openxmlformats.org/drawingml/2006/main">
              <a:ext uri="{FF2B5EF4-FFF2-40B4-BE49-F238E27FC236}">
                <a16:creationId xmlns:a16="http://schemas.microsoft.com/office/drawing/2014/main" id="{FE42C5D3-C99B-4EEB-971B-E66A2B38EFE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10625" y="53387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4" name="直線單箭頭接點 23">
            <a:extLst xmlns:a="http://schemas.openxmlformats.org/drawingml/2006/main">
              <a:ext uri="{FF2B5EF4-FFF2-40B4-BE49-F238E27FC236}">
                <a16:creationId xmlns:a16="http://schemas.microsoft.com/office/drawing/2014/main" id="{DE0A012A-133D-4ACD-83B3-05501656122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05500" y="53387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3" name="直線單箭頭接點 22">
            <a:extLst xmlns:a="http://schemas.openxmlformats.org/drawingml/2006/main">
              <a:ext uri="{FF2B5EF4-FFF2-40B4-BE49-F238E27FC236}">
                <a16:creationId xmlns:a16="http://schemas.microsoft.com/office/drawing/2014/main" id="{08D4572D-AE7A-4BC8-9307-D4B1363BA37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000375" y="53387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8" name="接點: 肘形 17">
            <a:extLst xmlns:a="http://schemas.openxmlformats.org/drawingml/2006/main">
              <a:ext uri="{FF2B5EF4-FFF2-40B4-BE49-F238E27FC236}">
                <a16:creationId xmlns:a16="http://schemas.microsoft.com/office/drawing/2014/main" id="{91184A45-9216-40EB-84A1-298721FB21E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239125" y="3119438"/>
            <a:ext cx="10477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6" name="接點: 肘形 15">
            <a:extLst xmlns:a="http://schemas.openxmlformats.org/drawingml/2006/main">
              <a:ext uri="{FF2B5EF4-FFF2-40B4-BE49-F238E27FC236}">
                <a16:creationId xmlns:a16="http://schemas.microsoft.com/office/drawing/2014/main" id="{4BA2D244-55D2-482A-BBBF-BF617BD0B04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714750" y="3119438"/>
            <a:ext cx="809625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 xmlns:a="http://schemas.openxmlformats.org/drawingml/2006/main">
              <a:ext uri="{FF2B5EF4-FFF2-40B4-BE49-F238E27FC236}">
                <a16:creationId xmlns:a16="http://schemas.microsoft.com/office/drawing/2014/main" id="{6E7C182F-A574-4518-B2A0-C087ACBD88D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714750" y="2062163"/>
            <a:ext cx="809625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目前做法：入庫串接後，共用本次作業紀錄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5711527-8717-4902-A90E-B27B6EDF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31908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實際盤元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QR／條碼＋送貨單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CF74B92-4749-4E6C-8F34-D6351CB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31908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本次催料單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工單、製程、排程日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D4EF381-5223-4A03-9002-267BF995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714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收料核對並串接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材質、線徑、重量、訂單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建立本次入庫紀錄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5FCC039-AF6A-4610-95FF-CA1BEFD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146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授權人員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查同一筆更新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623255A-E522-4E9E-8269-49C85AC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86325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入庫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已收料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7CCE0AE-4849-492D-AEE0-8C37AF8B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86325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入洗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開始加工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F51D06-B369-43C9-8D7A-5A90B24D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86325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洗出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酸洗完工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10DE2A2-A9F7-458B-B3EA-BE602C6E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86325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出庫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掃碼出貨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59BB1E0-50D1-4BE8-840B-19EC7BD0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每次回廠建立本次關聯並保留歷史。四個狀態各有意義，不能把入庫或入洗當作完工。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直線單箭頭接點 19">
            <a:extLst xmlns:a="http://schemas.openxmlformats.org/drawingml/2006/main">
              <a:ext uri="{FF2B5EF4-FFF2-40B4-BE49-F238E27FC236}">
                <a16:creationId xmlns:a16="http://schemas.microsoft.com/office/drawing/2014/main" id="{3FA01525-597E-49B6-BF05-5F34ED6162F0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286875" y="27622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直線單箭頭接點 16">
            <a:extLst xmlns:a="http://schemas.openxmlformats.org/drawingml/2006/main">
              <a:ext uri="{FF2B5EF4-FFF2-40B4-BE49-F238E27FC236}">
                <a16:creationId xmlns:a16="http://schemas.microsoft.com/office/drawing/2014/main" id="{DAEFAC76-9B41-4E33-BD87-EC2061D1947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905125" y="27622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AR 與 QR Code：入庫串接的用途比較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27AEEC0-0C56-45A4-BC32-71E4400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AR 擴增實境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2AAE141-EB74-402E-B463-ABB16B1A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190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QR Code／條碼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1E8E32-1835-47D3-AF15-34773641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57500"/>
            <a:ext cx="74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583976-C148-433C-B20C-16439EC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457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現場相機畫面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4C46E7C-3FD2-431E-ADD6-2CE880B7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空間定位與追蹤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在畫面疊加資料卡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65B1DC5-A4B4-45E4-9436-9EC0FD21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457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掃描盤元上的識別碼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720858-E3FF-445F-9430-717CCC96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對應本次入庫紀錄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查工單、重量與作業狀態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FE2E82B-8C23-44E0-927E-2FAFD472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本次原型：手動放置標籤</a:t>
            </a:r>
          </a:p>
          <a:p xmlns:a="http://schemas.openxmlformats.org/drawingml/2006/main">
            <a:pPr>
              <a:buNone/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尚未建立正式入庫綁定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A9DCC4A-045F-40FD-BBE1-4780E36C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86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本階段：建立物料與資料關聯</a:t>
            </a:r>
          </a:p>
          <a:p xmlns:a="http://schemas.openxmlformats.org/drawingml/2006/main">
            <a:pPr>
              <a:buNone/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延伸入洗、出庫及跨廠查詢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28D664E-5FB6-43C2-816B-84E035C7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AR 著重現場資訊呈現，QR Code 提供識別入口。兩者可以結合，研究先處理入庫資料串接。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接點: 肘形 15">
            <a:extLst xmlns:a="http://schemas.openxmlformats.org/drawingml/2006/main">
              <a:ext uri="{FF2B5EF4-FFF2-40B4-BE49-F238E27FC236}">
                <a16:creationId xmlns:a16="http://schemas.microsoft.com/office/drawing/2014/main" id="{8BDDB3CE-3875-4142-ADB2-BC695355B7C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9167813" y="1690688"/>
            <a:ext cx="1443038" cy="1357313"/>
          </a:xfrm>
          <a:prstGeom xmlns:a="http://schemas.openxmlformats.org/drawingml/2006/main" prst="bentConnector4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 xmlns:a="http://schemas.openxmlformats.org/drawingml/2006/main">
              <a:ext uri="{FF2B5EF4-FFF2-40B4-BE49-F238E27FC236}">
                <a16:creationId xmlns:a16="http://schemas.microsoft.com/office/drawing/2014/main" id="{566966E7-2F90-4D7A-BCFE-AF5C04005945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581150" y="1690688"/>
            <a:ext cx="1443038" cy="1357313"/>
          </a:xfrm>
          <a:prstGeom xmlns:a="http://schemas.openxmlformats.org/drawingml/2006/main" prst="bentConnector4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本階段選用 QR Code 的理由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73B906B-B024-4089-9BB1-8AD8C980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38250"/>
            <a:ext cx="857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公司需求</a:t>
            </a:r>
          </a:p>
          <a:p xmlns:a="http://schemas.openxmlformats.org/drawingml/2006/main">
            <a:pPr algn="ctr">
              <a:buNone/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本次盤元入庫連結工單，讓各廠查到最新進度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E7549B2-700C-49A9-AF44-A96BC85A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4905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AR 延伸工作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定位穩定、遮擋與移動追蹤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物料身分綁定及維護評估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1F8D69E-3F62-46DA-A1D2-14C01B0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48000"/>
            <a:ext cx="4905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QR Code 研究範圍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核對盤元並串接本次入庫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沿用掃碼，量測資訊同步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215B5E7-005B-4F21-9EFB-B773254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4810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原型曾回報標籤飄移</a:t>
            </a:r>
          </a:p>
          <a:p xmlns:a="http://schemas.openxmlformats.org/drawingml/2006/main">
            <a:pPr>
              <a:buNone/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可靠性與建置成本仍待驗證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3405FF2-D21D-4F71-8CCC-29AF83F4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4810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依 10/13 討論後的老師建議</a:t>
            </a:r>
          </a:p>
          <a:p xmlns:a="http://schemas.openxmlformats.org/drawingml/2006/main">
            <a:pPr>
              <a:buNone/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優先驗證現有作業的串接效益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2406435-CB55-44D9-A6F5-742FFE4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AR 保留為後續研究。QR 仍需標籤可讀、人工核對及例外處理，尚無兩方案成本或成功率比較。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接點: 肘形 25">
            <a:extLst xmlns:a="http://schemas.openxmlformats.org/drawingml/2006/main">
              <a:ext uri="{FF2B5EF4-FFF2-40B4-BE49-F238E27FC236}">
                <a16:creationId xmlns:a16="http://schemas.microsoft.com/office/drawing/2014/main" id="{90831DFF-BCA0-4EDE-8A96-7E87DBDFC258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286875" y="3143250"/>
            <a:ext cx="1214438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5" name="接點: 肘形 24">
            <a:extLst xmlns:a="http://schemas.openxmlformats.org/drawingml/2006/main">
              <a:ext uri="{FF2B5EF4-FFF2-40B4-BE49-F238E27FC236}">
                <a16:creationId xmlns:a16="http://schemas.microsoft.com/office/drawing/2014/main" id="{43E98137-8086-418C-A922-95EFA5093137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8072438" y="3143250"/>
            <a:ext cx="1214438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21" name="直線單箭頭接點 20">
            <a:extLst xmlns:a="http://schemas.openxmlformats.org/drawingml/2006/main">
              <a:ext uri="{FF2B5EF4-FFF2-40B4-BE49-F238E27FC236}">
                <a16:creationId xmlns:a16="http://schemas.microsoft.com/office/drawing/2014/main" id="{5BF6C2C6-FA81-49BF-9374-109AA64388D0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000375" y="4333875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cxnSp>
        <p:nvCxnSpPr>
          <p:cNvPr id="20" name="直線單箭頭接點 19">
            <a:extLst xmlns:a="http://schemas.openxmlformats.org/drawingml/2006/main">
              <a:ext uri="{FF2B5EF4-FFF2-40B4-BE49-F238E27FC236}">
                <a16:creationId xmlns:a16="http://schemas.microsoft.com/office/drawing/2014/main" id="{E434BB13-C7B7-4455-8167-865FD5C3FFD1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000375" y="314325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B80A4E1-B431-4345-9C48-A335D9D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 情境：同一筆急件已收料，其他人知道了嗎？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B508F2-D552-44EF-9555-705303EF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55E4788-A72E-4BA5-998A-CFCC0B8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情境示意：收料人員已完成同一筆急件的收料核對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5A676F-B060-4013-B572-074FB37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純紙本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D26BB8C-495B-414B-9856-C78D6BB4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051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8B6945D-452B-43D9-8039-E6342BFF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MES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3216F53-467E-4A8C-B9A3-D95B798A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收料人員已記錄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1ED0ABA-32B4-4164-9869-709D31AC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中央生管仍需找單或詢問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9DFEDC2-8BA0-43A5-BF6F-0FC97A37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下游等待本次進度回覆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8C49F21-251C-41A8-9970-5E0A72A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收料人員完成 MES 登錄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BBAA773-9F94-4FEB-A096-1C09FFC1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21431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查本次入庫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FC4C03B-B4B9-4F97-A783-504AB55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1431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下游廠區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查同一進度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3BDA3BB-1A6D-4DDF-B845-88FD4DC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比較焦點：多久能取得更新、各角色看到的狀態是否一致，以及需要多少次詢問。</a:t>
            </a:r>
          </a:p>
        </p:txBody>
      </p:sp>
    </p:spTree>
    <p:extLst>
      <p:ext uri="{BB962C8B-B14F-4D97-AF65-F5344CB8AC3E}">
        <p14:creationId xmlns:p14="http://schemas.microsoft.com/office/powerpoint/2010/main" val="1179111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接點: 肘形 13">
            <a:extLst xmlns:a="http://schemas.openxmlformats.org/drawingml/2006/main">
              <a:ext uri="{FF2B5EF4-FFF2-40B4-BE49-F238E27FC236}">
                <a16:creationId xmlns:a16="http://schemas.microsoft.com/office/drawing/2014/main" id="{F7C6C5B1-4831-416C-9FCB-5D237896724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72375" y="3328988"/>
            <a:ext cx="1000125" cy="1709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3" name="接點: 肘形 12">
            <a:extLst xmlns:a="http://schemas.openxmlformats.org/drawingml/2006/main">
              <a:ext uri="{FF2B5EF4-FFF2-40B4-BE49-F238E27FC236}">
                <a16:creationId xmlns:a16="http://schemas.microsoft.com/office/drawing/2014/main" id="{368F2472-C7FE-4F7D-BEEF-14A255B4E2EA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333750" y="3328988"/>
            <a:ext cx="762000" cy="1709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2" name="接點: 肘形 11">
            <a:extLst xmlns:a="http://schemas.openxmlformats.org/drawingml/2006/main">
              <a:ext uri="{FF2B5EF4-FFF2-40B4-BE49-F238E27FC236}">
                <a16:creationId xmlns:a16="http://schemas.microsoft.com/office/drawing/2014/main" id="{5A13CEE0-13C9-4418-9E75-269E37F7F6D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72375" y="2133600"/>
            <a:ext cx="1000125" cy="1195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1" name="接點: 肘形 10">
            <a:extLst xmlns:a="http://schemas.openxmlformats.org/drawingml/2006/main">
              <a:ext uri="{FF2B5EF4-FFF2-40B4-BE49-F238E27FC236}">
                <a16:creationId xmlns:a16="http://schemas.microsoft.com/office/drawing/2014/main" id="{8EA09B08-1FC5-4B84-BF39-191946221B92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3333750" y="2133600"/>
            <a:ext cx="762000" cy="1195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D1D614-1FDD-4A13-A0B4-070B92D3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公司貢獻：各角色共用進度，支持各自的排程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ADB2C5-0099-4BD8-A470-0D6516A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3AE6C49-2BE8-407B-84C9-CB5EC12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34766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共用進度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本次入庫、入洗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洗出、出庫紀錄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0674777-A7B2-4B1E-B124-9FF3E20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2762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確認急件到料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調整跨廠加工順序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16DD6B3-7D52-4F9A-8CAA-30909E93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2952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球化廠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掌握酸洗交接狀態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協調接續加工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E383-BF1B-4FA3-ABB9-3C01E8C8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2762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收料職代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查昨日已收料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避免只靠口頭交接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AF73E67-AE7C-4541-87B6-997D6455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952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伸線廠 A／B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提早準備模具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評估客戶交貨時程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3E6C24B-C7B7-4168-8172-8C932819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已有共用查詢能力。少等多久、少問幾次，以及角色更新是否一致，交由實測驗證。</a:t>
            </a:r>
          </a:p>
        </p:txBody>
      </p:sp>
    </p:spTree>
    <p:extLst>
      <p:ext uri="{BB962C8B-B14F-4D97-AF65-F5344CB8AC3E}">
        <p14:creationId xmlns:p14="http://schemas.microsoft.com/office/powerpoint/2010/main" val="735645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D1D4211-BC78-4D4D-8678-C9B6F63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如何支援急件追查與每日交接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113B86D-DFD9-419E-9547-930C417E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FBD47CA8-798E-4F7B-A0FD-91144B40A389}"/>
              </a:ext>
            </a:extLst>
          </p:cNvPr>
          <p:cNvGraphicFramePr/>
          <p:nvPr/>
        </p:nvGraphicFramePr>
        <p:xfrm>
          <a:off xmlns:a="http://schemas.openxmlformats.org/drawingml/2006/main" x="495300" y="1762125"/>
          <a:ext xmlns:a="http://schemas.openxmlformats.org/drawingml/2006/main" cx="11201400" cy="30003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143250"/>
                <a:gridCol w="5295900"/>
              </a:tblGrid>
              <a:tr h="75009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查核對象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時點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負責人與動作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次日應加工料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次日 12:00前查核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生管查是否尚未入庫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急件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預排時程前兩小時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生管查入庫單據並向入庫人員確認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當日應加工料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加工期間到收班前兩小時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主管核對入洗，再完單報產量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4384335-5455-4D4A-82FA-6B96E932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1109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人員請假時，職代可查昨日紀錄接續收料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42CC4F0-0F14-4021-AE02-B892ADC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查無紀錄仍須向現場確認。這些為人工作業制度，不表示系統已自動提醒或自動排程。</a:t>
            </a:r>
          </a:p>
        </p:txBody>
      </p:sp>
    </p:spTree>
    <p:extLst>
      <p:ext uri="{BB962C8B-B14F-4D97-AF65-F5344CB8AC3E}">
        <p14:creationId xmlns:p14="http://schemas.microsoft.com/office/powerpoint/2010/main" val="15112362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直線單箭頭接點 19">
            <a:extLst xmlns:a="http://schemas.openxmlformats.org/drawingml/2006/main">
              <a:ext uri="{FF2B5EF4-FFF2-40B4-BE49-F238E27FC236}">
                <a16:creationId xmlns:a16="http://schemas.microsoft.com/office/drawing/2014/main" id="{D1638417-CFF1-46FF-89B3-6DB2E2890BF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905625" y="22812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9" name="直線單箭頭接點 18">
            <a:extLst xmlns:a="http://schemas.openxmlformats.org/drawingml/2006/main">
              <a:ext uri="{FF2B5EF4-FFF2-40B4-BE49-F238E27FC236}">
                <a16:creationId xmlns:a16="http://schemas.microsoft.com/office/drawing/2014/main" id="{BADD44C2-DF72-4434-B769-1F9CD48B21D9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95625" y="22812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1B02AED-8CD2-46AC-95F1-62B6AC95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資料同步要量測到「其他角色取得更新」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7F25CCD-7697-4A47-A727-F250F45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C68B0B-B106-4DB1-A56A-DA54959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T0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現場核對完成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8338C3F-7910-4213-AC80-1910752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8592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T1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紀錄完成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66E54D6-EF84-4F7F-8051-51E0599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85925"/>
            <a:ext cx="352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角色 r 查見最新狀態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40816F5-C58B-4E66-84A2-506D7C58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紙本：寫入單據</a:t>
            </a:r>
          </a:p>
          <a:p xmlns:a="http://schemas.openxmlformats.org/drawingml/2006/main"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MES：伺服器保存成功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6322D14-50F8-47A7-ABF4-4FC3F35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86100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採相同查詢檢查頻率</a:t>
            </a:r>
          </a:p>
          <a:p xmlns:a="http://schemas.openxmlformats.org/drawingml/2006/main"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各角色分別記錄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3500709-F142-4AD1-AB92-659A385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登錄延遲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A539670-0E89-4BDB-88DB-AA9A26C7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96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T1 − T0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D4C1DDF-8AA0-45DF-88F8-796DC8BB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資訊可取得延遲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DD5F1D6-4EE3-4223-8219-A1AF8A0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9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 − T1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41C4A07-A507-488B-B160-DC2A3208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86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端到端同步時間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F60ECB4-6352-4CC3-8C27-9C42EE0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819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 − T0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5EAFB11-28B1-4058-BE4A-84436EC3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另記角色實際確認時間 T3,r，區分「已可查見」與「人員已掌握」。現有資料不足以直接算出全部指標。</a:t>
            </a:r>
          </a:p>
        </p:txBody>
      </p:sp>
    </p:spTree>
    <p:extLst>
      <p:ext uri="{BB962C8B-B14F-4D97-AF65-F5344CB8AC3E}">
        <p14:creationId xmlns:p14="http://schemas.microsoft.com/office/powerpoint/2010/main" val="15674516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2E77F5-1027-42E6-AB0E-E094755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已留下可供查詢與研究的作業紀錄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3844D3-EAAA-48BB-BC53-F489AADD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2CD6CEE-2045-4020-B542-1A68E2A2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571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8,832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3FFA4AC-8FA5-49C9-943F-D1D9E3F5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有效入庫紀錄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E471B55-EB20-4437-A263-34C8E58E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3571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8,800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8825E4-E257-4AD5-9EC7-91CEC2C6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自主入洗紀錄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7406244-E9EF-49DD-A0AB-37E31A0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571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7,841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3ED37F1-0EC5-4785-91B2-F5A51EF6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已確認出庫明細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40F2B9-C381-40F9-B0DF-4E98AA67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2026/08/27–10/13，共 48 個日曆日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EA5B3F3-4CF2-461D-AAB1-1DFBB8B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18,683,984 kg 入庫重量　　575 張確認出貨單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4C5E626-82C8-4F95-8FE9-CAC821D1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911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37 天有入庫紀錄，31 天有入洗紀錄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32512A-680E-4B5D-8290-12910E18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8/27–10/13，10/14 11:52 唯讀快照。各工序非同批料，總數不可相減當餘料。</a:t>
            </a:r>
          </a:p>
        </p:txBody>
      </p:sp>
    </p:spTree>
    <p:extLst>
      <p:ext uri="{BB962C8B-B14F-4D97-AF65-F5344CB8AC3E}">
        <p14:creationId xmlns:p14="http://schemas.microsoft.com/office/powerpoint/2010/main" val="392609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62201D-7F8B-4E54-B008-2E7CFF6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實際入庫資料呈現預收與多規格情境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4C0FD19-325A-4CA2-BFE8-86B97E35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823E0CE-197B-40F1-A0E4-E3914B338789}"/>
              </a:ext>
            </a:extLst>
          </p:cNvPr>
          <p:cNvGraphicFramePr/>
          <p:nvPr/>
        </p:nvGraphicFramePr>
        <p:xfrm>
          <a:off xmlns:a="http://schemas.openxmlformats.org/drawingml/2006/main" x="428625" y="1476375"/>
          <a:ext xmlns:a="http://schemas.openxmlformats.org/drawingml/2006/main" cx="7143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3362c561f1498e"/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35A2DDB-DA53-4BE0-81BB-2CD7617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267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E20AB5E-FB19-45D7-9F5F-C419CB65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材質 ID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E0E3998-D1FE-4D1E-B06C-3A6A0BEE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81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215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39EF322-1ED6-4988-B8D2-5A7B0673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672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線徑文字值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7845616-984F-4042-9C35-0CD9081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8,832 筆中 7,611 筆早於目前排程日。排程可修改，不能全視為隔日預收。</a:t>
            </a:r>
          </a:p>
        </p:txBody>
      </p:sp>
    </p:spTree>
    <p:extLst>
      <p:ext uri="{BB962C8B-B14F-4D97-AF65-F5344CB8AC3E}">
        <p14:creationId xmlns:p14="http://schemas.microsoft.com/office/powerpoint/2010/main" val="1091822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A3763CC-D795-4C23-B288-9D9E077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研究指標：同步時差、最新狀態一致與查詢負擔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EDD2687-83C8-42D1-8289-B99C4EF9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4F92E8A2-8311-47B1-9E0A-DCBF49C4BFD1}"/>
              </a:ext>
            </a:extLst>
          </p:cNvPr>
          <p:cNvGraphicFramePr/>
          <p:nvPr/>
        </p:nvGraphicFramePr>
        <p:xfrm>
          <a:off xmlns:a="http://schemas.openxmlformats.org/drawingml/2006/main" x="495300" y="147637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4524375"/>
                <a:gridCol w="320040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要驗證的改善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如何量測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比較結果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更新傳得更快嗎？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T2,r − T0，按角色／事件統計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中位數、P90、配對差值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各角色掌握同一進度嗎？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固定查核點比對最新狀態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角色最新狀態一致率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能少靠逐人追問嗎？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完成同一查詢任務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耗時、詢問次數、完成率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職代能接續昨日工作嗎？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查昨日已收與待接事項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接手耗時、求助次數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1701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接點: 肘形 19">
            <a:extLst xmlns:a="http://schemas.openxmlformats.org/drawingml/2006/main">
              <a:ext uri="{FF2B5EF4-FFF2-40B4-BE49-F238E27FC236}">
                <a16:creationId xmlns:a16="http://schemas.microsoft.com/office/drawing/2014/main" id="{357CAAAD-F1DB-47F9-BE36-FC9F776FA19E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8" idx="3"/>
          </p:cNvCxnSpPr>
          <p:nvPr/>
        </p:nvCxnSpPr>
        <p:spPr>
          <a:xfrm xmlns:a="http://schemas.openxmlformats.org/drawingml/2006/main">
            <a:off x="9286875" y="4391025"/>
            <a:ext cx="276225" cy="1052513"/>
          </a:xfrm>
          <a:prstGeom xmlns:a="http://schemas.openxmlformats.org/drawingml/2006/main" prst="bentConnector4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9" name="接點: 肘形 18">
            <a:extLst xmlns:a="http://schemas.openxmlformats.org/drawingml/2006/main">
              <a:ext uri="{FF2B5EF4-FFF2-40B4-BE49-F238E27FC236}">
                <a16:creationId xmlns:a16="http://schemas.microsoft.com/office/drawing/2014/main" id="{B0A5C4F0-A190-4D56-AB14-B5B3B86E7BCE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2628900" y="4391025"/>
            <a:ext cx="276225" cy="1052513"/>
          </a:xfrm>
          <a:prstGeom xmlns:a="http://schemas.openxmlformats.org/drawingml/2006/main" prst="bentConnector4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cxnSp>
        <p:nvCxnSpPr>
          <p:cNvPr id="16" name="接點: 肘形 15">
            <a:extLst xmlns:a="http://schemas.openxmlformats.org/drawingml/2006/main">
              <a:ext uri="{FF2B5EF4-FFF2-40B4-BE49-F238E27FC236}">
                <a16:creationId xmlns:a16="http://schemas.microsoft.com/office/drawing/2014/main" id="{EFD5C082-8FA9-47DC-A501-7C8C84A8D19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477250" y="1700213"/>
            <a:ext cx="809625" cy="1195388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 xmlns:a="http://schemas.openxmlformats.org/drawingml/2006/main">
              <a:ext uri="{FF2B5EF4-FFF2-40B4-BE49-F238E27FC236}">
                <a16:creationId xmlns:a16="http://schemas.microsoft.com/office/drawing/2014/main" id="{73D9C549-4F6D-428B-9A56-C9CA6E7EB225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905125" y="1700213"/>
            <a:ext cx="809625" cy="1195388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驗證設計：同一任務，比較兩種資訊取得方式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4B7AFC5-BE0C-4D01-8AA4-19538FD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66825"/>
            <a:ext cx="4762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建立等難度任務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查到料、查完工、職代接手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0AD3477-5C90-4EA4-891C-5C269A71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5720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純紙本組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催料單＋入庫單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依既有詢問／回報方式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E95BE8-9E39-4F2F-A6AB-C8E32180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45720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組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共用系統＋入庫單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依權限查本次紀錄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CAA7D0B-86C8-4683-AA4A-8981B31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95650"/>
            <a:ext cx="790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B39678B-ACD7-4066-894A-DC28C18E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57775"/>
            <a:ext cx="64770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同一套觀測規則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記錄時間、狀態版本、詢問與求助次數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直線單箭頭接點 8">
            <a:extLst xmlns:a="http://schemas.openxmlformats.org/drawingml/2006/main">
              <a:ext uri="{FF2B5EF4-FFF2-40B4-BE49-F238E27FC236}">
                <a16:creationId xmlns:a16="http://schemas.microsoft.com/office/drawing/2014/main" id="{E6AC3B46-F1B8-4847-BD9D-001BF7F6D3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67750" y="22621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8" name="直線單箭頭接點 7">
            <a:extLst xmlns:a="http://schemas.openxmlformats.org/drawingml/2006/main">
              <a:ext uri="{FF2B5EF4-FFF2-40B4-BE49-F238E27FC236}">
                <a16:creationId xmlns:a16="http://schemas.microsoft.com/office/drawing/2014/main" id="{4C9E1519-A9D0-48F2-9ECE-DB725F6EE51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67375" y="22621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7" name="直線單箭頭接點 6">
            <a:extLst xmlns:a="http://schemas.openxmlformats.org/drawingml/2006/main">
              <a:ext uri="{FF2B5EF4-FFF2-40B4-BE49-F238E27FC236}">
                <a16:creationId xmlns:a16="http://schemas.microsoft.com/office/drawing/2014/main" id="{2FE0AC41-0F30-475B-A32E-5244D67B3F2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619375" y="22621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DA9E727-152F-4CCC-9D49-BE75F2F7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跨廠查詢需要帳號權限與安全連線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F1F6897-F176-46BE-89EF-77F38ABF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4F12EE-0B7A-4C4E-944B-3C3B9FD1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209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授權使用者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CFEB5CA-7180-4454-B5E7-C1863EE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Cloudflare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外部連線入口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FACA9C9-6A93-422B-9A86-08F1EB3C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2143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 MES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API 權限檢查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249B5D3-5340-4C81-9F05-0556EFFE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2143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PostgreSQL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正式作業紀錄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9FEE6F-F098-47E6-9428-F2669D9C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HTTPS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5729A4F-0A3A-43E6-A4FA-244FCCE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47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Tunnel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63D9B4-A6BE-4698-8B5D-89531FDE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網域：haihwa-mes.vannesses.com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97D21B-BF04-44A9-812A-0B1955A2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已記載的措施：帳號角色、登入期限、作業紀錄與復原歷程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ED19E54-EA89-40D4-8CF0-8A18AF8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529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待核對：Access／MFA／WAF、來源站驗證、資料範圍隔離</a:t>
            </a:r>
          </a:p>
        </p:txBody>
      </p:sp>
    </p:spTree>
    <p:extLst>
      <p:ext uri="{BB962C8B-B14F-4D97-AF65-F5344CB8AC3E}">
        <p14:creationId xmlns:p14="http://schemas.microsoft.com/office/powerpoint/2010/main" val="9691196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38E89A-C9D1-46CA-8DF6-C82AC7B5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資安書面依據與驗證證據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587589-9DE3-436C-A0C8-539D9D8B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2296407A-BCA5-495A-8B60-19D9F5B646D8}"/>
              </a:ext>
            </a:extLst>
          </p:cNvPr>
          <p:cNvGraphicFramePr/>
          <p:nvPr/>
        </p:nvGraphicFramePr>
        <p:xfrm>
          <a:off xmlns:a="http://schemas.openxmlformats.org/drawingml/2006/main" x="495300" y="1524000"/>
          <a:ext xmlns:a="http://schemas.openxmlformats.org/drawingml/2006/main" cx="11201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05250"/>
                <a:gridCol w="44386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支持的措施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本系統仍需提出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OWASP ASVS 5.0.0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Web 安全驗證框架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逐項測試與結果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OWASP 授權指引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最小權限、每次請求檢查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越權與資料範圍測試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Cloudflare 官方文件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Tunnel 連線機制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實際設定與入口查核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NIST SP 800-82 Rev.3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生產環境可用性與風險管理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備份還原與故障復原證據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8673F5A-F1DA-4795-BD4E-3CF9457C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文獻提供檢查依據，安全程度仍須由實際設定與測試證據支持。</a:t>
            </a:r>
          </a:p>
        </p:txBody>
      </p:sp>
    </p:spTree>
    <p:extLst>
      <p:ext uri="{BB962C8B-B14F-4D97-AF65-F5344CB8AC3E}">
        <p14:creationId xmlns:p14="http://schemas.microsoft.com/office/powerpoint/2010/main" val="10035520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研究主張：讓現場資料更新成為跨廠區的共同依據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BC1993B-1C47-4F74-B706-8B0FA2D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192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建置動機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F740387-47EC-4E39-B876-6744C33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紙本派工雖然可以布達所有指示，但各廠取得更新的時間卻不同。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49078DB-7339-4BC6-8B21-DD2BAA30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670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公司貢獻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B39A85-893A-4256-A2C4-229235A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766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將酸洗廠當節點，讓每次入庫與加工進度形成共用紀錄，</a:t>
            </a:r>
          </a:p>
          <a:p xmlns:a="http://schemas.openxmlformats.org/drawingml/2006/main"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支持中央生管、下製程廠區及職代掌握即時任務訊息。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6FEB5AE-51DD-4CF1-9B3A-A92DA552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81625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論文驗證：同步是否更快、各角色是否更一致、追問是否更少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直線單箭頭接點 15">
            <a:extLst xmlns:a="http://schemas.openxmlformats.org/drawingml/2006/main">
              <a:ext uri="{FF2B5EF4-FFF2-40B4-BE49-F238E27FC236}">
                <a16:creationId xmlns:a16="http://schemas.microsoft.com/office/drawing/2014/main" id="{C04A80DF-C546-4A53-9286-FB87DFBF2DF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15250" y="19526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直線單箭頭接點 14">
            <a:extLst xmlns:a="http://schemas.openxmlformats.org/drawingml/2006/main">
              <a:ext uri="{FF2B5EF4-FFF2-40B4-BE49-F238E27FC236}">
                <a16:creationId xmlns:a16="http://schemas.microsoft.com/office/drawing/2014/main" id="{84CBCF27-E545-4139-A299-6EEBA8C2C7D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14750" y="19526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預告：入洗、出庫如何接續入庫紀錄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9BA4BCE-29F5-47F3-B88D-66F9DB87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3190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10/20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入庫連結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盤元與本次工單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2DA2E0B-CF82-4F59-AC89-BC3FA83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3190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製程串接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入洗、洗出、出庫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96BC090-7635-46E0-BC51-9D2ABDA6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333500"/>
            <a:ext cx="3190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5"/>
          </a:solidFill>
          <a:ln xmlns:a="http://schemas.openxmlformats.org/drawingml/2006/main" w="9525">
            <a:solidFill>
              <a:srgbClr val="9FC4CB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11/03（擬）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效益評估方法</a:t>
            </a:r>
          </a:p>
          <a:p xmlns:a="http://schemas.openxmlformats.org/drawingml/2006/main"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同步與查詢負擔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216CEAD-9CA2-4161-8A5C-8C836B5D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76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10/27 帶給老師看的證據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97B55AB-6A68-4CCD-B9E1-EA1698EB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一條實際作業歷程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4DDC04F-2DEF-4B93-8BD8-94B4943F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去識別化盤元案例</a:t>
            </a:r>
          </a:p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本次入庫、入洗、洗出、出庫時間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56E9AF5-67DE-453C-A8E6-BE2AE8CE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一份可重算的統計與試測紀錄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700F5D7-2229-447E-92D6-3B24E7FA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同批入庫的後續狀態分布</a:t>
            </a:r>
          </a:p>
          <a:p xmlns:a="http://schemas.openxmlformats.org/drawingml/2006/main"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各角色查見更新時間及詢問次數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86659AA-6CAD-46A3-AA07-461A247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預告工作，尚非完成成果。歷程時間反映作業經過，角色何時取得更新須另行觀察。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擬提交的數據與討論問題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12" name="表格 11">
            <a:extLst xmlns:a="http://schemas.openxmlformats.org/drawingml/2006/main">
              <a:ext uri="{FF2B5EF4-FFF2-40B4-BE49-F238E27FC236}">
                <a16:creationId xmlns:a16="http://schemas.microsoft.com/office/drawing/2014/main" id="{C4D08C40-0DCC-46F5-BCF3-4B1BF27B190B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47662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38750"/>
                <a:gridCol w="3390900"/>
              </a:tblGrid>
              <a:tr h="869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擬帶到面談的內容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取得方式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作業量與觀察母體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每日入庫件數、重量、工單數</a:t>
                      </a: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期間、有效條件與排除筆數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mes</a:t>
                      </a:r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</a:t>
                      </a:r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唯讀快照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8/27 </a:t>
                      </a:r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起至截止日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同批製程串接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入庫後已入洗／洗出／出庫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未完成、未串接與異常另列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以本次入庫紀錄追蹤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附去識別化歷程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資訊同步小規模試測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T0、T1、各角色 T2／T3</a:t>
                      </a: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最新狀態、詢問次數、有效樣本數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現場觀察或配對任務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缺值與未同步不刪除</a:t>
                      </a:r>
                      <a:endParaRPr sz="1875" b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218F584-0F43-4BE0-94EB-A80FC0C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請老師確認：比較基準、抽樣規則，以及同步指標是否適合作為論文主軸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F335BA8-3137-494D-A1D0-64BB6F45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擬於 10/26 截止取樣，實際截止時間另註。僅報實際取得資料，缺乏紙本基準時討論受控比較。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7826E2-4564-4F3B-A568-27F0496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附錄：每日入庫與入洗紀錄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310D02E-17CC-496B-BA07-90C1E921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50B975A-435D-4AFA-8273-9D4CD4EDF1B5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08cc5297594386"/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8094B85-5475-4F49-947E-AE30E15C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入庫峰值為 9/29 的 381 件。零筆代表查詢條件下無紀錄，停工原因需另核對。</a:t>
            </a:r>
          </a:p>
        </p:txBody>
      </p:sp>
    </p:spTree>
    <p:extLst>
      <p:ext uri="{BB962C8B-B14F-4D97-AF65-F5344CB8AC3E}">
        <p14:creationId xmlns:p14="http://schemas.microsoft.com/office/powerpoint/2010/main" val="18606639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A056BC8-F970-45E4-9DC1-9E4FD182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附錄：既有事件資料的時間欄位檢查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B77EDEB-E7E1-44A8-8A48-10E89B56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4858E28E-0DBA-4FC8-BB16-482D500BFB40}"/>
              </a:ext>
            </a:extLst>
          </p:cNvPr>
          <p:cNvGraphicFramePr/>
          <p:nvPr/>
        </p:nvGraphicFramePr>
        <p:xfrm>
          <a:off xmlns:a="http://schemas.openxmlformats.org/drawingml/2006/main" x="495300" y="147637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095500"/>
                <a:gridCol w="453390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本次檢查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可解釋範圍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入庫缺工單關聯／QR／有效重量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 0 筆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欄位完整，未等同實物正確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材質／線徑／訂單欄位空白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 0 筆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8,832 筆入庫資料的關聯檢查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入洗早於入庫時間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筆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先查補登、修正與時間語意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入庫時間日期與單據日不同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筆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時序分析須說明排除規則</a:t>
                      </a:r>
                    </a:p>
                  </a:txBody>
                  <a:tcPr marL="91440" marR="91440" marT="45720" marB="45720"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B00248F-3B03-4F1C-89FD-A1A3D2CE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資料完整不等於實物正確。5 筆時序異常與 1 筆日期差異須查明後再分析。</a:t>
            </a:r>
          </a:p>
        </p:txBody>
      </p:sp>
    </p:spTree>
    <p:extLst>
      <p:ext uri="{BB962C8B-B14F-4D97-AF65-F5344CB8AC3E}">
        <p14:creationId xmlns:p14="http://schemas.microsoft.com/office/powerpoint/2010/main" val="12159218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驗證計畫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C87BA-05EC-4D38-B6C8-6F8BDC1BC72E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48250"/>
                <a:gridCol w="3295650"/>
              </a:tblGrid>
              <a:tr h="928688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驗證問題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要提出的證據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目前狀態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928688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同批盤元能否追到後續製程？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本次入庫關聯與四階段時間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待擷取及核對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928688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各角色能否更快取得相同更新？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紙本與 MES 配對任務觀測表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待試測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安全控制是否確實有效？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設定、角色權限與還原驗證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歷史佐證，現行待測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F78B7-DCCB-4610-8B75-893296D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V6 新增章節。10/27 提交實際證據，未完成項目須另列，不填估計值。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同批製程追蹤與資料核對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5FC91-FAD7-4894-9211-F32BF076DEBA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48250"/>
                <a:gridCol w="3295650"/>
              </a:tblGrid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步驟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紀錄／判定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例外處理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鎖定觀察母體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8/27 起有效入庫，截止時點另註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回廠另建本次關聯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沿同筆入庫追蹤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入庫、入洗、洗出、出庫時間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缺關聯與未完成分列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查驗時間欄位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核對既有 5 筆時序、1 筆日期異常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查明前不任意刪除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與單據交叉核對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抽樣比對留底單及本次工單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差異記錄及追查原因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6649E-848E-4E24-9A62-5B6FEB61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各工序總數不可相減為餘料。製程等待時間與資訊同步時間分開分析。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資訊同步的觀測時點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5F41A-4A70-48BF-B3A8-6770C1A67F77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48250"/>
                <a:gridCol w="3295650"/>
              </a:tblGrid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時點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現場如何記錄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可計算的指標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T0 核對完成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觀察員記錄實物與單據核對完成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起算點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T1 紀錄完成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紙本寫好／MES 保存成功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T1 − T0 登錄延遲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T2,r 角色首次查見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相同檢查節奏取得最新狀態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T2,r − T0 同步時間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T3,r 人員實際確認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記錄該角色閱讀並確認的時間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T3,r − T0 掌握時間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97B78-8EE1-4444-A022-66CCA6EA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需校準時鐘並記錄查核間隔。查無、逾時、缺值均保留，不能填成 0。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純紙本與 MES 的配對試測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446FC-B883-432E-9F0C-F8ACD98700CA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48250"/>
                <a:gridCol w="3295650"/>
              </a:tblGrid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比較項目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共同條件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結果呈現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到料／完工查詢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等難度、不同工單的任務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耗時、詢問次數、完成率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職代接手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同等昨日資料及待辦範圍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接手耗時、求助次數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最新狀態一致性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固定查核點、同一角色權限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一致觀測數／應查觀測數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順序與分組控制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同人交叉，交錯先後順序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樣本數、配對差與分布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E1FE3-FB20-484A-A737-BF9D9FA1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先與老師確認抽樣與判定規則。受控任務結果不可直接推論產量或交貨率。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資安驗證工作與證據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FB3D0-8849-42EB-ABEB-B444176BE811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48250"/>
                <a:gridCol w="3295650"/>
              </a:tblGrid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查核領域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核准範圍內的驗證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應保存證據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帳號與資料範圍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未登入、跨角色、跨廠單據存取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版本、預期／實際、去識別截圖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登入生命週期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登出、逾期、停用後舊憑證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測試環境請求與拒絕結果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外部連線入口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 Tunnel、TLS、Access 設定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去密設定及來源入口查核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備份與復原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獨立空白環境還原並核對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備份時點、耗時、資料核對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827BD-C7C0-4CB5-A163-7AD3BBD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本次僅規劃。未查核的 Access／MFA／WAF 不得填為已啟用。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交付內容與老師決議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422AC-2201-47DB-9681-02FC0598846C}"/>
              </a:ext>
            </a:extLst>
          </p:cNvPr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48250"/>
                <a:gridCol w="3295650"/>
              </a:tblGrid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交付內容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最低記錄要求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完成狀態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作業資料與同批歷程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截止時點、條件、分母與例外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待執行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紙本／MES 試測紀錄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原始觀測、有效 n、未同步與缺值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待執行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資安查核表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版本、設定、測試結果、證據位置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待執行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</a:tr>
              <a:tr h="7429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老師確認事項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抽樣、比較方法、指標與後續分析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10/27 討論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EE2"/>
                      </a:solidFill>
                    </a:lnR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A356D-39D5-400D-9BFE-6BDA5E7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準備日期 2026/10/14。若未完成，報告缺項、原因及後續安排，不冒充結果。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2026-10-14T09:15:21.2940000Z</dcterms:created>
  <dcterms:modified xsi:type="dcterms:W3CDTF">2026-10-14T09:15:21.2940000Z</dcterms:modified>
</coreProperties>
</file>
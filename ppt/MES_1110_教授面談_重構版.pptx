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2a9bfa6c34cfb" /><Relationship Type="http://schemas.openxmlformats.org/officeDocument/2006/relationships/extended-properties" Target="/docProps/app.xml" Id="R5b8276dde3844684" /><Relationship Type="http://schemas.openxmlformats.org/officeDocument/2006/relationships/officeDocument" Target="/ppt/presentation.xml" Id="R3aa63faf7bad47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800490cb85426c"/>
  </p:sldMasterIdLst>
  <p:notesMasterIdLst>
    <p:notesMasterId xmlns:r="http://schemas.openxmlformats.org/officeDocument/2006/relationships" r:id="R139012da5dc04fd4"/>
  </p:notesMasterIdLst>
  <p:sldIdLst>
    <p:sldId xmlns:r="http://schemas.openxmlformats.org/officeDocument/2006/relationships" id="256" r:id="Rf811076610ff40d6"/>
    <p:sldId xmlns:r="http://schemas.openxmlformats.org/officeDocument/2006/relationships" id="257" r:id="R6a534a32d0b04b9e"/>
    <p:sldId xmlns:r="http://schemas.openxmlformats.org/officeDocument/2006/relationships" id="258" r:id="Rc4019b7cdc714f23"/>
    <p:sldId xmlns:r="http://schemas.openxmlformats.org/officeDocument/2006/relationships" id="259" r:id="Reda39031a3d04321"/>
    <p:sldId xmlns:r="http://schemas.openxmlformats.org/officeDocument/2006/relationships" id="260" r:id="R0430db5e43494ce0"/>
    <p:sldId xmlns:r="http://schemas.openxmlformats.org/officeDocument/2006/relationships" id="261" r:id="Rf75e957e40ff4088"/>
    <p:sldId xmlns:r="http://schemas.openxmlformats.org/officeDocument/2006/relationships" id="262" r:id="R34f1f62b76db4988"/>
    <p:sldId xmlns:r="http://schemas.openxmlformats.org/officeDocument/2006/relationships" id="263" r:id="R1f414434d4904891"/>
    <p:sldId xmlns:r="http://schemas.openxmlformats.org/officeDocument/2006/relationships" id="264" r:id="R467bc41ac17146e3"/>
    <p:sldId xmlns:r="http://schemas.openxmlformats.org/officeDocument/2006/relationships" id="265" r:id="R81d1ca48478344fd"/>
    <p:sldId xmlns:r="http://schemas.openxmlformats.org/officeDocument/2006/relationships" id="266" r:id="R3924af0983c6469c"/>
    <p:sldId xmlns:r="http://schemas.openxmlformats.org/officeDocument/2006/relationships" id="267" r:id="Rd3223612ea854ece"/>
    <p:sldId xmlns:r="http://schemas.openxmlformats.org/officeDocument/2006/relationships" id="268" r:id="Rfdf514b533864417"/>
    <p:sldId xmlns:r="http://schemas.openxmlformats.org/officeDocument/2006/relationships" id="269" r:id="Re728104541c641b5"/>
    <p:sldId xmlns:r="http://schemas.openxmlformats.org/officeDocument/2006/relationships" id="270" r:id="R1ab9bd2ed37c40a4"/>
    <p:sldId xmlns:r="http://schemas.openxmlformats.org/officeDocument/2006/relationships" id="271" r:id="Rbd77f9a9a32f4bc2"/>
    <p:sldId xmlns:r="http://schemas.openxmlformats.org/officeDocument/2006/relationships" id="272" r:id="R8a97e080ae6b4ea7"/>
    <p:sldId xmlns:r="http://schemas.openxmlformats.org/officeDocument/2006/relationships" id="273" r:id="R0b11896ce0c14076"/>
    <p:sldId xmlns:r="http://schemas.openxmlformats.org/officeDocument/2006/relationships" id="274" r:id="Rd804a70ee7be4f56"/>
    <p:sldId xmlns:r="http://schemas.openxmlformats.org/officeDocument/2006/relationships" id="275" r:id="Rd44f4c203a7b4366"/>
    <p:sldId xmlns:r="http://schemas.openxmlformats.org/officeDocument/2006/relationships" id="276" r:id="R52453e84fb74448b"/>
    <p:sldId xmlns:r="http://schemas.openxmlformats.org/officeDocument/2006/relationships" id="277" r:id="Rcf5174135cb14f57"/>
    <p:sldId xmlns:r="http://schemas.openxmlformats.org/officeDocument/2006/relationships" id="278" r:id="Ra5ea15b8d2134dd0"/>
    <p:sldId xmlns:r="http://schemas.openxmlformats.org/officeDocument/2006/relationships" id="279" r:id="Rafeac0ecf65e449c"/>
    <p:sldId xmlns:r="http://schemas.openxmlformats.org/officeDocument/2006/relationships" id="280" r:id="R01417db6b05c4139"/>
    <p:sldId xmlns:r="http://schemas.openxmlformats.org/officeDocument/2006/relationships" id="281" r:id="Ra2d9f822e57c4cfa"/>
    <p:sldId xmlns:r="http://schemas.openxmlformats.org/officeDocument/2006/relationships" id="282" r:id="Ra325b0f286ff4b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2f2e7f60004a70" /><Relationship Type="http://schemas.openxmlformats.org/officeDocument/2006/relationships/slideMaster" Target="/ppt/slideMasters/slideMaster1.xml" Id="R4b800490cb85426c" /><Relationship Type="http://schemas.openxmlformats.org/officeDocument/2006/relationships/notesMaster" Target="/ppt/notesMasters/notesMaster1.xml" Id="R139012da5dc04fd4" /><Relationship Type="http://schemas.openxmlformats.org/officeDocument/2006/relationships/presProps" Target="/ppt/presProps.xml" Id="R3b46acf127a341cf" /><Relationship Type="http://schemas.openxmlformats.org/officeDocument/2006/relationships/tableStyles" Target="/ppt/tableStyles.xml" Id="R55a4a5375f664d44" /><Relationship Type="http://schemas.openxmlformats.org/officeDocument/2006/relationships/slide" Target="/ppt/slides/slide1.xml" Id="Rf811076610ff40d6" /><Relationship Type="http://schemas.openxmlformats.org/officeDocument/2006/relationships/slide" Target="/ppt/slides/slide2.xml" Id="R6a534a32d0b04b9e" /><Relationship Type="http://schemas.openxmlformats.org/officeDocument/2006/relationships/slide" Target="/ppt/slides/slide3.xml" Id="Rc4019b7cdc714f23" /><Relationship Type="http://schemas.openxmlformats.org/officeDocument/2006/relationships/slide" Target="/ppt/slides/slide4.xml" Id="Reda39031a3d04321" /><Relationship Type="http://schemas.openxmlformats.org/officeDocument/2006/relationships/slide" Target="/ppt/slides/slide5.xml" Id="R0430db5e43494ce0" /><Relationship Type="http://schemas.openxmlformats.org/officeDocument/2006/relationships/slide" Target="/ppt/slides/slide6.xml" Id="Rf75e957e40ff4088" /><Relationship Type="http://schemas.openxmlformats.org/officeDocument/2006/relationships/slide" Target="/ppt/slides/slide7.xml" Id="R34f1f62b76db4988" /><Relationship Type="http://schemas.openxmlformats.org/officeDocument/2006/relationships/slide" Target="/ppt/slides/slide8.xml" Id="R1f414434d4904891" /><Relationship Type="http://schemas.openxmlformats.org/officeDocument/2006/relationships/slide" Target="/ppt/slides/slide9.xml" Id="R467bc41ac17146e3" /><Relationship Type="http://schemas.openxmlformats.org/officeDocument/2006/relationships/slide" Target="/ppt/slides/slide10.xml" Id="R81d1ca48478344fd" /><Relationship Type="http://schemas.openxmlformats.org/officeDocument/2006/relationships/slide" Target="/ppt/slides/slide11.xml" Id="R3924af0983c6469c" /><Relationship Type="http://schemas.openxmlformats.org/officeDocument/2006/relationships/slide" Target="/ppt/slides/slide12.xml" Id="Rd3223612ea854ece" /><Relationship Type="http://schemas.openxmlformats.org/officeDocument/2006/relationships/slide" Target="/ppt/slides/slide13.xml" Id="Rfdf514b533864417" /><Relationship Type="http://schemas.openxmlformats.org/officeDocument/2006/relationships/slide" Target="/ppt/slides/slide14.xml" Id="Re728104541c641b5" /><Relationship Type="http://schemas.openxmlformats.org/officeDocument/2006/relationships/slide" Target="/ppt/slides/slide15.xml" Id="R1ab9bd2ed37c40a4" /><Relationship Type="http://schemas.openxmlformats.org/officeDocument/2006/relationships/slide" Target="/ppt/slides/slide16.xml" Id="Rbd77f9a9a32f4bc2" /><Relationship Type="http://schemas.openxmlformats.org/officeDocument/2006/relationships/slide" Target="/ppt/slides/slide17.xml" Id="R8a97e080ae6b4ea7" /><Relationship Type="http://schemas.openxmlformats.org/officeDocument/2006/relationships/slide" Target="/ppt/slides/slide18.xml" Id="R0b11896ce0c14076" /><Relationship Type="http://schemas.openxmlformats.org/officeDocument/2006/relationships/slide" Target="/ppt/slides/slide19.xml" Id="Rd804a70ee7be4f56" /><Relationship Type="http://schemas.openxmlformats.org/officeDocument/2006/relationships/slide" Target="/ppt/slides/slide20.xml" Id="Rd44f4c203a7b4366" /><Relationship Type="http://schemas.openxmlformats.org/officeDocument/2006/relationships/slide" Target="/ppt/slides/slide21.xml" Id="R52453e84fb74448b" /><Relationship Type="http://schemas.openxmlformats.org/officeDocument/2006/relationships/slide" Target="/ppt/slides/slide22.xml" Id="Rcf5174135cb14f57" /><Relationship Type="http://schemas.openxmlformats.org/officeDocument/2006/relationships/slide" Target="/ppt/slides/slide23.xml" Id="Ra5ea15b8d2134dd0" /><Relationship Type="http://schemas.openxmlformats.org/officeDocument/2006/relationships/slide" Target="/ppt/slides/slide24.xml" Id="Rafeac0ecf65e449c" /><Relationship Type="http://schemas.openxmlformats.org/officeDocument/2006/relationships/slide" Target="/ppt/slides/slide25.xml" Id="R01417db6b05c4139" /><Relationship Type="http://schemas.openxmlformats.org/officeDocument/2006/relationships/slide" Target="/ppt/slides/slide26.xml" Id="Ra2d9f822e57c4cfa" /><Relationship Type="http://schemas.openxmlformats.org/officeDocument/2006/relationships/slide" Target="/ppt/slides/slide27.xml" Id="Ra325b0f286ff4b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fc66d09134b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b52e059f1d45ae" /><Relationship Type="http://schemas.openxmlformats.org/officeDocument/2006/relationships/notesMaster" Target="/ppt/notesMasters/notesMaster1.xml" Id="R960bfab8f57b41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e6255e295b4bb3" /><Relationship Type="http://schemas.openxmlformats.org/officeDocument/2006/relationships/notesMaster" Target="/ppt/notesMasters/notesMaster1.xml" Id="R4df0ac729ef843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e186303004e23" /><Relationship Type="http://schemas.openxmlformats.org/officeDocument/2006/relationships/notesMaster" Target="/ppt/notesMasters/notesMaster1.xml" Id="Rf984e747e5af44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a847013e774681" /><Relationship Type="http://schemas.openxmlformats.org/officeDocument/2006/relationships/notesMaster" Target="/ppt/notesMasters/notesMaster1.xml" Id="R749decde80384e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087b71bb3a44b20" /><Relationship Type="http://schemas.openxmlformats.org/officeDocument/2006/relationships/notesMaster" Target="/ppt/notesMasters/notesMaster1.xml" Id="R79309372962a4b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1844c64c16404f" /><Relationship Type="http://schemas.openxmlformats.org/officeDocument/2006/relationships/notesMaster" Target="/ppt/notesMasters/notesMaster1.xml" Id="Rd96c922f545a43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50d018f1445e6" /><Relationship Type="http://schemas.openxmlformats.org/officeDocument/2006/relationships/notesMaster" Target="/ppt/notesMasters/notesMaster1.xml" Id="R70d421dfee4d4c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bf0bf3c21440d" /><Relationship Type="http://schemas.openxmlformats.org/officeDocument/2006/relationships/notesMaster" Target="/ppt/notesMasters/notesMaster1.xml" Id="R986b75b838ba4c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4d945a4bbc4e8c" /><Relationship Type="http://schemas.openxmlformats.org/officeDocument/2006/relationships/notesMaster" Target="/ppt/notesMasters/notesMaster1.xml" Id="Rb4e3a8d328fc41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22fe6265db42b5" /><Relationship Type="http://schemas.openxmlformats.org/officeDocument/2006/relationships/notesMaster" Target="/ppt/notesMasters/notesMaster1.xml" Id="R097db93aabea45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22237524c84c83" /><Relationship Type="http://schemas.openxmlformats.org/officeDocument/2006/relationships/notesMaster" Target="/ppt/notesMasters/notesMaster1.xml" Id="R2c8e850852b24f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789bf120704321" /><Relationship Type="http://schemas.openxmlformats.org/officeDocument/2006/relationships/notesMaster" Target="/ppt/notesMasters/notesMaster1.xml" Id="R9a580003a12c49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38b9ff26414996" /><Relationship Type="http://schemas.openxmlformats.org/officeDocument/2006/relationships/notesMaster" Target="/ppt/notesMasters/notesMaster1.xml" Id="Rce5fe7de05fb44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a8b273617e4103" /><Relationship Type="http://schemas.openxmlformats.org/officeDocument/2006/relationships/notesMaster" Target="/ppt/notesMasters/notesMaster1.xml" Id="R1468506dd5be40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1b68a8691349a4" /><Relationship Type="http://schemas.openxmlformats.org/officeDocument/2006/relationships/notesMaster" Target="/ppt/notesMasters/notesMaster1.xml" Id="Rd6377ffd01cc4c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449e46a33d4b7f" /><Relationship Type="http://schemas.openxmlformats.org/officeDocument/2006/relationships/notesMaster" Target="/ppt/notesMasters/notesMaster1.xml" Id="R7c0f2a6faa6845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df6e9b815e4c32" /><Relationship Type="http://schemas.openxmlformats.org/officeDocument/2006/relationships/notesMaster" Target="/ppt/notesMasters/notesMaster1.xml" Id="Rc09499e84d8349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89eaba58d554f5b" /><Relationship Type="http://schemas.openxmlformats.org/officeDocument/2006/relationships/notesMaster" Target="/ppt/notesMasters/notesMaster1.xml" Id="R3831c900be2d4b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2f1a68dd6b4a87" /><Relationship Type="http://schemas.openxmlformats.org/officeDocument/2006/relationships/notesMaster" Target="/ppt/notesMasters/notesMaster1.xml" Id="R238fca4f58524fe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76d9472f1074fc9" /><Relationship Type="http://schemas.openxmlformats.org/officeDocument/2006/relationships/notesMaster" Target="/ppt/notesMasters/notesMaster1.xml" Id="R1658255fc6ab4b3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ab39070a8504f08" /><Relationship Type="http://schemas.openxmlformats.org/officeDocument/2006/relationships/notesMaster" Target="/ppt/notesMasters/notesMaster1.xml" Id="R2f567ead2cf74d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8cacf467e14f3a" /><Relationship Type="http://schemas.openxmlformats.org/officeDocument/2006/relationships/notesMaster" Target="/ppt/notesMasters/notesMaster1.xml" Id="R750ac57bf3fa4b3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39091aba3f04e92" /><Relationship Type="http://schemas.openxmlformats.org/officeDocument/2006/relationships/notesMaster" Target="/ppt/notesMasters/notesMaster1.xml" Id="Rdb4cacc6a3084a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ec2856ce9eb42fd" /><Relationship Type="http://schemas.openxmlformats.org/officeDocument/2006/relationships/notesMaster" Target="/ppt/notesMasters/notesMaster1.xml" Id="Rc697623251d543b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80f656fd95b4fc9" /><Relationship Type="http://schemas.openxmlformats.org/officeDocument/2006/relationships/notesMaster" Target="/ppt/notesMasters/notesMaster1.xml" Id="R514dca50203645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a70900179534279" /><Relationship Type="http://schemas.openxmlformats.org/officeDocument/2006/relationships/notesMaster" Target="/ppt/notesMasters/notesMaster1.xml" Id="R64107701308e40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f0ac93acb04a07" /><Relationship Type="http://schemas.openxmlformats.org/officeDocument/2006/relationships/notesMaster" Target="/ppt/notesMasters/notesMaster1.xml" Id="Rd084f0a47cdc4d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22–25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26–27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3、16–19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16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17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18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19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15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4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5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8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6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7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9–10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11–12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13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14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21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新增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20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22–25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26–27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9–10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11–12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資料依據：原簡報第 13 頁與 11/10 進度文件；示意圖片由使用者提供。研究成效與現場驗收未完成。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441a8b06d48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faf6301a34c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0939327e043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4cad6f72e4a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dff2644ee24d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6a7f21f66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0B849F-9CB3-4336-AE26-38BA5E1955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FCFEC6-0BCF-452E-A953-6F0141637F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32ECA5-C79B-43E2-BB36-8944FF1FD7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8C2FFF-E372-4D33-ACBE-B6B77052C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CBEEB8F-379F-44A6-AF7E-CC229E30B2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9AA87C-F18E-4066-9FE8-0160FA40A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ED62E6-140D-44A0-B828-5C6CF24A3E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1D815E-2ECE-40C6-963D-C38854AD58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300E7-835D-4EDF-BC69-4DC45BAC6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DD4CE4-1363-4B96-9092-E799C3582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ef7fa04e14d71" /><Relationship Type="http://schemas.openxmlformats.org/officeDocument/2006/relationships/slideLayout" Target="/ppt/slideLayouts/slideLayout1.xml" Id="Rbed9da0f8e4b470d" /><Relationship Type="http://schemas.openxmlformats.org/officeDocument/2006/relationships/slideLayout" Target="/ppt/slideLayouts/slideLayout2.xml" Id="R5a88e6cc573c4769" /><Relationship Type="http://schemas.openxmlformats.org/officeDocument/2006/relationships/slideLayout" Target="/ppt/slideLayouts/slideLayout3.xml" Id="R199c5b868f4948c3" /><Relationship Type="http://schemas.openxmlformats.org/officeDocument/2006/relationships/slideLayout" Target="/ppt/slideLayouts/slideLayout4.xml" Id="Rb74fd6d82b984d7f" /><Relationship Type="http://schemas.openxmlformats.org/officeDocument/2006/relationships/slideLayout" Target="/ppt/slideLayouts/slideLayout5.xml" Id="Rf9eb137be67e49db" /><Relationship Type="http://schemas.openxmlformats.org/officeDocument/2006/relationships/slideLayout" Target="/ppt/slideLayouts/slideLayout6.xml" Id="R038ab10a358e41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d9da0f8e4b470d"/>
    <p:sldLayoutId xmlns:r="http://schemas.openxmlformats.org/officeDocument/2006/relationships" id="2147483650" r:id="R5a88e6cc573c4769"/>
    <p:sldLayoutId xmlns:r="http://schemas.openxmlformats.org/officeDocument/2006/relationships" id="2147483651" r:id="R199c5b868f4948c3"/>
    <p:sldLayoutId xmlns:r="http://schemas.openxmlformats.org/officeDocument/2006/relationships" id="2147483652" r:id="Rb74fd6d82b984d7f"/>
    <p:sldLayoutId xmlns:r="http://schemas.openxmlformats.org/officeDocument/2006/relationships" id="2147483653" r:id="Rf9eb137be67e49db"/>
    <p:sldLayoutId xmlns:r="http://schemas.openxmlformats.org/officeDocument/2006/relationships" id="2147483654" r:id="R038ab10a358e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00f71112b4641" /><Relationship Type="http://schemas.openxmlformats.org/officeDocument/2006/relationships/notesSlide" Target="/ppt/notesSlides/notesSlide1.xml" Id="R9e5bc48e91f34a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e888d5a9646c5" /><Relationship Type="http://schemas.openxmlformats.org/officeDocument/2006/relationships/notesSlide" Target="/ppt/notesSlides/notesSlide2.xml" Id="R4507f11ada9e4e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4939f90b24f05" /><Relationship Type="http://schemas.openxmlformats.org/officeDocument/2006/relationships/image" Target="/ppt/media/image.png" Id="R40b919d1d9084217" /><Relationship Type="http://schemas.openxmlformats.org/officeDocument/2006/relationships/image" Target="/ppt/media/image2.png" Id="R1cda64191ed843b3" /><Relationship Type="http://schemas.openxmlformats.org/officeDocument/2006/relationships/notesSlide" Target="/ppt/notesSlides/notesSlide3.xml" Id="R04544e5b582047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61af2c79584a71" /><Relationship Type="http://schemas.openxmlformats.org/officeDocument/2006/relationships/image" Target="/ppt/media/image3.png" Id="R9676644656804c13" /><Relationship Type="http://schemas.openxmlformats.org/officeDocument/2006/relationships/image" Target="/ppt/media/image4.png" Id="R78ee1868f8884e7c" /><Relationship Type="http://schemas.openxmlformats.org/officeDocument/2006/relationships/notesSlide" Target="/ppt/notesSlides/notesSlide4.xml" Id="R6433a0a44f5d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bd8facb3b4cc9" /><Relationship Type="http://schemas.openxmlformats.org/officeDocument/2006/relationships/notesSlide" Target="/ppt/notesSlides/notesSlide5.xml" Id="R5ed5b56091a94c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1f147024f44cf" /><Relationship Type="http://schemas.openxmlformats.org/officeDocument/2006/relationships/image" Target="/ppt/media/image5.png" Id="R9d61ac9bb1444c23" /><Relationship Type="http://schemas.openxmlformats.org/officeDocument/2006/relationships/notesSlide" Target="/ppt/notesSlides/notesSlide6.xml" Id="R456eeedd171d44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067bc6cac4b91" /><Relationship Type="http://schemas.openxmlformats.org/officeDocument/2006/relationships/image" Target="/ppt/media/image6.png" Id="Radaaab7dca3f42a3" /><Relationship Type="http://schemas.openxmlformats.org/officeDocument/2006/relationships/notesSlide" Target="/ppt/notesSlides/notesSlide7.xml" Id="Rea3aeca05af64d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b91d0dfde84735" /><Relationship Type="http://schemas.openxmlformats.org/officeDocument/2006/relationships/image" Target="/ppt/media/image7.png" Id="R5725dbe3f5b946f1" /><Relationship Type="http://schemas.openxmlformats.org/officeDocument/2006/relationships/notesSlide" Target="/ppt/notesSlides/notesSlide8.xml" Id="R9e080dd63fb14a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80e773fa947ab" /><Relationship Type="http://schemas.openxmlformats.org/officeDocument/2006/relationships/image" Target="/ppt/media/image8.png" Id="R6b43d8b00ffa4bd2" /><Relationship Type="http://schemas.openxmlformats.org/officeDocument/2006/relationships/notesSlide" Target="/ppt/notesSlides/notesSlide9.xml" Id="Rb5821600c07348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d74b3cf1147e5" /><Relationship Type="http://schemas.openxmlformats.org/officeDocument/2006/relationships/notesSlide" Target="/ppt/notesSlides/notesSlide10.xml" Id="Rb539b70e8a084f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c8bbfaf5544ca" /><Relationship Type="http://schemas.openxmlformats.org/officeDocument/2006/relationships/image" Target="/ppt/media/image9.png" Id="R4b6b9867a94b456b" /><Relationship Type="http://schemas.openxmlformats.org/officeDocument/2006/relationships/notesSlide" Target="/ppt/notesSlides/notesSlide11.xml" Id="R6319edc4fcb941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da87bce934525" /><Relationship Type="http://schemas.openxmlformats.org/officeDocument/2006/relationships/image" Target="/ppt/media/image10.png" Id="R007172334e084cb2" /><Relationship Type="http://schemas.openxmlformats.org/officeDocument/2006/relationships/image" Target="/ppt/media/image11.png" Id="R25e294a19f0148c9" /><Relationship Type="http://schemas.openxmlformats.org/officeDocument/2006/relationships/notesSlide" Target="/ppt/notesSlides/notesSlide12.xml" Id="R430764f973b74c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400f9d707f4df4" /><Relationship Type="http://schemas.openxmlformats.org/officeDocument/2006/relationships/notesSlide" Target="/ppt/notesSlides/notesSlide13.xml" Id="Rbe58e164f6c04b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e31ca4b7346e5" /><Relationship Type="http://schemas.openxmlformats.org/officeDocument/2006/relationships/notesSlide" Target="/ppt/notesSlides/notesSlide14.xml" Id="Re5cc322be8bb41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b3f64f980e459e" /><Relationship Type="http://schemas.openxmlformats.org/officeDocument/2006/relationships/image" Target="/ppt/media/image12.png" Id="Ra7bcab0352e14c0b" /><Relationship Type="http://schemas.openxmlformats.org/officeDocument/2006/relationships/notesSlide" Target="/ppt/notesSlides/notesSlide15.xml" Id="R9721247cfdc343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b13872a59419e" /><Relationship Type="http://schemas.openxmlformats.org/officeDocument/2006/relationships/notesSlide" Target="/ppt/notesSlides/notesSlide16.xml" Id="Re2ff5cc217fd42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939f172a94c91" /><Relationship Type="http://schemas.openxmlformats.org/officeDocument/2006/relationships/notesSlide" Target="/ppt/notesSlides/notesSlide17.xml" Id="R520241aa56834a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38bdd90cf4916" /><Relationship Type="http://schemas.openxmlformats.org/officeDocument/2006/relationships/notesSlide" Target="/ppt/notesSlides/notesSlide18.xml" Id="Rbc5b1787138344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eb2da96414313" /><Relationship Type="http://schemas.openxmlformats.org/officeDocument/2006/relationships/notesSlide" Target="/ppt/notesSlides/notesSlide19.xml" Id="R29e8a458a76049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5d92b161464031" /><Relationship Type="http://schemas.openxmlformats.org/officeDocument/2006/relationships/notesSlide" Target="/ppt/notesSlides/notesSlide20.xml" Id="Re4ab61af5113400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8b1b0304045bc" /><Relationship Type="http://schemas.openxmlformats.org/officeDocument/2006/relationships/notesSlide" Target="/ppt/notesSlides/notesSlide21.xml" Id="R9966eab68f4140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b00bcfc1b4329" /><Relationship Type="http://schemas.openxmlformats.org/officeDocument/2006/relationships/notesSlide" Target="/ppt/notesSlides/notesSlide22.xml" Id="Ra2fd797bfffc414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cfda221954606" /><Relationship Type="http://schemas.openxmlformats.org/officeDocument/2006/relationships/image" Target="/ppt/media/image13.png" Id="R154d4a9d6684474a" /><Relationship Type="http://schemas.openxmlformats.org/officeDocument/2006/relationships/image" Target="/ppt/media/image14.png" Id="R5e7c3bbed9774eb6" /><Relationship Type="http://schemas.openxmlformats.org/officeDocument/2006/relationships/notesSlide" Target="/ppt/notesSlides/notesSlide23.xml" Id="Rf8ed64cb362745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eb1e5e63e49b6" /><Relationship Type="http://schemas.openxmlformats.org/officeDocument/2006/relationships/image" Target="/ppt/media/image15.png" Id="Rae5f3431f2df4fb1" /><Relationship Type="http://schemas.openxmlformats.org/officeDocument/2006/relationships/image" Target="/ppt/media/image16.png" Id="R8a67f6dc09484e58" /><Relationship Type="http://schemas.openxmlformats.org/officeDocument/2006/relationships/notesSlide" Target="/ppt/notesSlides/notesSlide24.xml" Id="Rc4628721f0a9414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04456aa7fe43d1" /><Relationship Type="http://schemas.openxmlformats.org/officeDocument/2006/relationships/notesSlide" Target="/ppt/notesSlides/notesSlide25.xml" Id="Rfb8ae699ebc144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960417ae34db2" /><Relationship Type="http://schemas.openxmlformats.org/officeDocument/2006/relationships/notesSlide" Target="/ppt/notesSlides/notesSlide26.xml" Id="R2ff15114dc394d5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23b47ceaa4588" /><Relationship Type="http://schemas.openxmlformats.org/officeDocument/2006/relationships/notesSlide" Target="/ppt/notesSlides/notesSlide27.xml" Id="Rf4543d2d6c3e41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E1365-63BC-480D-8342-A62E515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研究進度與本次面談重點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26934-9A7D-4C42-9302-173C8C8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93C4F-8CA7-49D1-8131-C165DC99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F4BD7-DF69-44C8-9340-F5123F93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A1570-543B-4CFC-9270-2932916F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BFC9C0-6313-4A19-8229-95217CE86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F8F4F-FE3A-44D6-8CAC-48678015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公司需求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B37A8-0098-40DC-88AB-5A91CCA3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A9D49-168B-40AA-809A-4CB688FA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0B1DC-AC56-41E0-A00C-69D55B7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入庫 AR 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D1BB7-9583-4CD1-AF81-B5851D6E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C0A9D-4659-4C80-8AA2-F30B087A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EF8F5-FA7C-42F4-8320-9C606C6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掃碼與派工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38452-2E71-421C-A681-35852E62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10/27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30448-48CF-4E49-8830-16516D3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2C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72E042-F5F3-428D-98B7-AC94D0B1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33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客訴與 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15859-F63A-4465-A874-18D8AAE0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10/28–29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B90AB-A8E6-4979-8EF1-4776B63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7AB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0D3A4C-1C37-4CE3-AC22-8F9DBF6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即時 3D 與串接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4E9D75-7D01-493D-8D3F-F99A141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24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11/10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CE7FC-C8E0-4887-AF7D-6B0334B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705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7AB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C9D166-205E-4484-AB84-68DA1178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33750"/>
            <a:ext cx="171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面談與驗證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48630-D278-46E2-A1C3-0F57434D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上期回顧：客訴追溯缺口與天車作業資訊差。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5F99A-AB74-46A1-A75F-4D8E9F85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本次：研究問題、系統成果與預定比較方法。</a:t>
            </a:r>
          </a:p>
        </p:txBody>
      </p:sp>
    </p:spTree>
    <p:extLst>
      <p:ext uri="{BB962C8B-B14F-4D97-AF65-F5344CB8AC3E}">
        <p14:creationId xmlns:p14="http://schemas.microsoft.com/office/powerpoint/2010/main" val="17661646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14AE9-E3D9-457A-910B-0D128E62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研究背景：酸洗作業資訊與追溯缺口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5B251-6D4E-4044-ADB2-58B541D2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D8344-F41A-4D11-8380-9E89AFD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9D15D-7454-4961-B4EE-C2A535B5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酸洗廠是跨角色的交接節點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4B97E-2CEF-4F01-87EE-5500BAB0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派工、入庫、入洗、洗出與出貨形成共同資料鏈，支援生管與下游作業。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0B6FE-2DBF-47C8-BF50-BB68D76C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現場資料分散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29447-7226-4962-AE63-ECB03D0D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機械計時器、LED、標示帶及口頭交接，無法持續提供完整共同狀態。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CF9D8-FD85-4148-8A38-7519EF6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客訴追溯的缺口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03474-4E11-4DCB-8435-FDDE660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每桿、每槽的入槽時間未形成完整可回查 LOG，難以提出可核對證據。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81658-812D-40F5-8C03-1F07069A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研究聚焦操作資訊一致、計時判讀、急件協作與追溯。</a:t>
            </a:r>
          </a:p>
        </p:txBody>
      </p:sp>
    </p:spTree>
    <p:extLst>
      <p:ext uri="{BB962C8B-B14F-4D97-AF65-F5344CB8AC3E}">
        <p14:creationId xmlns:p14="http://schemas.microsoft.com/office/powerpoint/2010/main" val="4409632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1D98-13BD-406C-9132-E706E161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MES 資料來源：從催料到入庫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86F00-7396-4B5A-A0FF-D5694F14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8E535-9FD8-4F52-A150-3ECB5193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08315-5204-4711-A2D2-FFC928968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919d1d9084217"/>
          <a:stretch xmlns:a="http://schemas.openxmlformats.org/drawingml/2006/main"/>
        </p:blipFill>
        <p:spPr>
          <a:xfrm xmlns:a="http://schemas.openxmlformats.org/drawingml/2006/main">
            <a:off x="609600" y="2099958"/>
            <a:ext cx="5143500" cy="953109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D029F-21EF-4234-A499-67221075E6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a64191ed843b3"/>
          <a:stretch xmlns:a="http://schemas.openxmlformats.org/drawingml/2006/main"/>
        </p:blipFill>
        <p:spPr>
          <a:xfrm xmlns:a="http://schemas.openxmlformats.org/drawingml/2006/main">
            <a:off x="6191250" y="1709909"/>
            <a:ext cx="5143500" cy="17332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245A4-9741-462C-ADB5-83F49E72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生管依需求建立催料單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44B04-D583-4D33-B72E-23A66E12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收料人員核對實物並確認入庫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D30B4-DE09-4A03-9367-A0E9B3AD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工令、材質、線徑與數量形成資料起點；條碼／QR 將實物與紀錄連結。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71326-DD0A-4C06-AF0E-661B8E9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同一工單可對應多顆盤元，每顆保留識別碼與重量。</a:t>
            </a:r>
          </a:p>
        </p:txBody>
      </p:sp>
    </p:spTree>
    <p:extLst>
      <p:ext uri="{BB962C8B-B14F-4D97-AF65-F5344CB8AC3E}">
        <p14:creationId xmlns:p14="http://schemas.microsoft.com/office/powerpoint/2010/main" val="6165472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BE38F-3D8B-4581-B047-1604E9B3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MES 洗入與洗出回報流程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7260C-1824-4B90-B03D-234BCAB7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03816-2C62-473B-98A6-FD2EE8A9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CAD8F6-CFE3-4D5E-A702-E3344F0D18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6644656804c13"/>
          <a:stretch xmlns:a="http://schemas.openxmlformats.org/drawingml/2006/main"/>
        </p:blipFill>
        <p:spPr>
          <a:xfrm xmlns:a="http://schemas.openxmlformats.org/drawingml/2006/main">
            <a:off x="609600" y="1770860"/>
            <a:ext cx="5143500" cy="174465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712A3-01B3-4F09-8388-5E84BDF50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e1868f8884e7c"/>
          <a:stretch xmlns:a="http://schemas.openxmlformats.org/drawingml/2006/main"/>
        </p:blipFill>
        <p:spPr>
          <a:xfrm xmlns:a="http://schemas.openxmlformats.org/drawingml/2006/main">
            <a:off x="6191250" y="1742349"/>
            <a:ext cx="5143500" cy="18016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E8855-EB17-4DE7-A329-5503F54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洗入：掃碼並回報入洗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B6857-C446-4521-9B4D-96AE729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洗出：逐顆核對並確認完工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1C817-B4FE-42A3-A3AF-1DDBC7F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自主表保存各顆狀態與時間；天車作業另記錄實際槽位和計時。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E3B7B-5D69-4454-86B4-0C33A118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天車出槽與自主表洗出是不同事件。</a:t>
            </a:r>
          </a:p>
        </p:txBody>
      </p:sp>
    </p:spTree>
    <p:extLst>
      <p:ext uri="{BB962C8B-B14F-4D97-AF65-F5344CB8AC3E}">
        <p14:creationId xmlns:p14="http://schemas.microsoft.com/office/powerpoint/2010/main" val="9307440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40946D-A430-4061-A0B8-5E21EE1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酸洗現場四大作業問題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B0193-17E1-4BBD-A60C-0A873906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AE76D-4491-44B2-8844-7EDB5BED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FA81A-A2FC-402D-B701-7257650E8841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191000"/>
                <a:gridCol w="4257675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現場問題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預定改善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入槽後辨識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標示帶浸入槽後無法持續辨色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保留桿次及逐顆材料資訊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計時與交接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遠距離難確認燈號與優先順序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顯示槽位計時及作業狀態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四台天車與急件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口頭傳達有時間差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共享急件順位與最新狀態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批次與追溯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缺少每桿每槽入槽 LOG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保存桿次、槽位及事件歷程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0FA88-8FBA-46F4-B06D-D91B2667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以下四頁說明現場影響、系統機制與預定量測。</a:t>
            </a:r>
          </a:p>
        </p:txBody>
      </p:sp>
    </p:spTree>
    <p:extLst>
      <p:ext uri="{BB962C8B-B14F-4D97-AF65-F5344CB8AC3E}">
        <p14:creationId xmlns:p14="http://schemas.microsoft.com/office/powerpoint/2010/main" val="3147161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B5596-9415-4CF7-984D-72518B4E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問題一：入槽後標示帶無法辨識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D8F71-EDF8-473D-9836-72D98F1F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9CAAE-8A52-403C-A5B9-E1DE2C4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BA81F-2CB7-42C7-A936-33A6202F85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ac9bb1444c23"/>
          <a:stretch xmlns:a="http://schemas.openxmlformats.org/drawingml/2006/main"/>
        </p:blipFill>
        <p:spPr>
          <a:xfrm xmlns:a="http://schemas.openxmlformats.org/drawingml/2006/main">
            <a:off x="676339" y="1333500"/>
            <a:ext cx="7010272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8227C-F4AB-4DFC-8AC2-75AE6C46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A545D-64A3-4B1F-AFE3-E230E058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240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槽液遮住標示帶，顏色無法持續辨識。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98D09-1D4A-48C2-8864-E5FF3D1A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D9BA7-EC4A-4FAF-B7E3-726CBB3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908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需再次查問，增加辨識負擔。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89C27-5FB8-444A-81D5-29CA3A88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147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改善機制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D666A-9583-461E-9B88-EDB006C0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3D 字卡保留桿次與材料資料。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C3783-350C-45DE-ABF7-CB40CD8D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815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預定量測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6BC17-39B6-4A2C-9727-0E4ACBC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辨識時間、錯誤數、實物對應率。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058D0-540C-4648-81D5-F659A6FF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情境示意；圖中數據及介面待現場驗證。</a:t>
            </a:r>
          </a:p>
        </p:txBody>
      </p:sp>
    </p:spTree>
    <p:extLst>
      <p:ext uri="{BB962C8B-B14F-4D97-AF65-F5344CB8AC3E}">
        <p14:creationId xmlns:p14="http://schemas.microsoft.com/office/powerpoint/2010/main" val="19544902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B639F-3E49-4A25-91A2-50B36221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問題二：計時警示與交接困難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B1000-76C3-4788-A85C-44AFBFDB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2CAD2-3CA2-4153-A02A-49109AFB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DFAD2-D91E-4C5A-931A-793C4CCE38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aab7dca3f42a3"/>
          <a:stretch xmlns:a="http://schemas.openxmlformats.org/drawingml/2006/main"/>
        </p:blipFill>
        <p:spPr>
          <a:xfrm xmlns:a="http://schemas.openxmlformats.org/drawingml/2006/main">
            <a:off x="703172" y="1333500"/>
            <a:ext cx="6956606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3F2A1-DC50-4AC9-A7B5-BAF752D0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D11EA-AF32-40B9-8B3F-5D97442D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240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槽體與操作員距離遠，燈號難確認。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818D6-037C-40B6-90ED-6CF9C73D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ACC6F-72BF-4520-A6FD-653D92C4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908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交接或確認優先吊出需要額外溝通。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97FF4-3C36-4076-80DC-52D9FCB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147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改善機制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E2F5A-AA72-418D-9087-89E3B609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平板集中顯示計時與槽位狀態。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2E77E-3745-4DD6-80D1-8CDE33E5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815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預定量測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D5B38-FD6B-4EF8-B2E7-633C1254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判讀時間、交接理解時間。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98049-C367-4D1C-A982-52887C9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情境示意；圖中數據及介面待現場驗證。</a:t>
            </a:r>
          </a:p>
        </p:txBody>
      </p:sp>
    </p:spTree>
    <p:extLst>
      <p:ext uri="{BB962C8B-B14F-4D97-AF65-F5344CB8AC3E}">
        <p14:creationId xmlns:p14="http://schemas.microsoft.com/office/powerpoint/2010/main" val="83387383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0386A-F8D3-4CFD-9B3D-13E9E8D5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問題三：四台天車急件資訊不同步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7525B-1E19-4F6A-B539-2025182B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E4D97-24F6-4D84-9A17-8E9AA67C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78BDB-007B-488F-BB65-904FCFA2F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5dbe3f5b946f1"/>
          <a:stretch xmlns:a="http://schemas.openxmlformats.org/drawingml/2006/main"/>
        </p:blipFill>
        <p:spPr>
          <a:xfrm xmlns:a="http://schemas.openxmlformats.org/drawingml/2006/main">
            <a:off x="671394" y="1333500"/>
            <a:ext cx="7020161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C027C4-CACD-4E18-B2CF-5156E40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22754-D438-47A7-8D74-AEFF6B6D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240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急件口頭傳遞，取得資訊時間可能不同。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BA5B0-0577-443C-88E5-3CA985A4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11E1C-FC1E-4C85-9197-65EF8184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908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可能難以確認急件位置與處理順位。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F5F1B-6280-4FCE-8123-69800CC6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147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改善機制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9F9A5-AF2F-4F8E-A309-83683650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主管設定數字順位，共享最新狀態。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9E38E-EB8E-4A80-8D30-0F4F3C0B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815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預定量測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A35FF-B204-48DF-92AE-C42B8A2D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一致率、同步延遲、急件反應時間。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81191-8E2D-4475-97A5-490149D3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情境示意；圖中數據及介面待現場驗證。</a:t>
            </a:r>
          </a:p>
        </p:txBody>
      </p:sp>
    </p:spTree>
    <p:extLst>
      <p:ext uri="{BB962C8B-B14F-4D97-AF65-F5344CB8AC3E}">
        <p14:creationId xmlns:p14="http://schemas.microsoft.com/office/powerpoint/2010/main" val="77589883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84633-EDAF-4C18-ACF4-64D76E4C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問題四：缺少入槽時間 LOG 與追溯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87CEE-C9D4-4177-8E87-05AB16D7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58903-7D0F-45A5-AE6E-5420D24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D344C-C830-452A-96C5-F1F188638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3d8b00ffa4bd2"/>
          <a:stretch xmlns:a="http://schemas.openxmlformats.org/drawingml/2006/main"/>
        </p:blipFill>
        <p:spPr>
          <a:xfrm xmlns:a="http://schemas.openxmlformats.org/drawingml/2006/main">
            <a:off x="676275" y="1333500"/>
            <a:ext cx="7010400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CFA7F-36EB-4AF0-95FB-0855F89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現場問題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BBBBA-DB04-4DC6-8AD8-FE6DDC25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240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機械計時器未形成完整入槽時間紀錄。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280AA-6A3C-4725-A477-8ADCF9DF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479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操作影響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8B85E-7BE6-4EA0-BDFF-EF27335E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908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客訴查詢與作業歷程核對較困難。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06210-FA63-4C1E-992C-37CAF203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147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改善機制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ED5EF-5511-4332-A5B6-6B019C05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MES 保存桿次、槽位及操作事件。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68482-71A4-458B-9839-2536278B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815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預定量測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51F76-507E-465F-8EC5-44888CF3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924425"/>
            <a:ext cx="347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LOG 完整率、整桿誤判數、查詢時間。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AF9AE-BA05-41FF-BE34-45260A09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情境示意；圖中數據及介面待現場驗證。</a:t>
            </a:r>
          </a:p>
        </p:txBody>
      </p:sp>
    </p:spTree>
    <p:extLst>
      <p:ext uri="{BB962C8B-B14F-4D97-AF65-F5344CB8AC3E}">
        <p14:creationId xmlns:p14="http://schemas.microsoft.com/office/powerpoint/2010/main" val="3118889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D2775-2EC8-432A-AFB7-B3B93AC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研究目標與四項量測指標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C679F-99DD-40D9-B09E-0B03DB19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92498-59D5-4136-A107-6663C95A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DE9F4-D92E-4216-A62C-4BAABFCB258C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6972300"/>
              </a:tblGrid>
              <a:tr h="7810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研究方向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預定量測指標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入槽後辨識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辨識時間、錯誤次數、實物對應率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計時與交接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優先吊出判讀時間、交接理解時間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四台天車與急件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資訊一致率、同步延遲、反應時間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批次與追溯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 完整率、整桿誤判數、查詢耗時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F62A0F-2A2D-4095-B87F-0C361B10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研究目標：以同一資料來源降低資訊差，並評估操作與追溯。</a:t>
            </a:r>
          </a:p>
        </p:txBody>
      </p:sp>
    </p:spTree>
    <p:extLst>
      <p:ext uri="{BB962C8B-B14F-4D97-AF65-F5344CB8AC3E}">
        <p14:creationId xmlns:p14="http://schemas.microsoft.com/office/powerpoint/2010/main" val="14666190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F2142-DBC1-45C0-8A4F-0E1CBBB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技術方案比較：AR 與 MES＋即時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40088-B1E1-4498-8F54-EBD0F213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970CC-E608-4C5A-8F21-FC0B8A89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4514E-B83E-4855-B46E-E48BA371AD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b9867a94b456b"/>
          <a:stretch xmlns:a="http://schemas.openxmlformats.org/drawingml/2006/main"/>
        </p:blipFill>
        <p:spPr>
          <a:xfrm xmlns:a="http://schemas.openxmlformats.org/drawingml/2006/main">
            <a:off x="679446" y="1333500"/>
            <a:ext cx="7004059" cy="4667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AD334-24DC-4843-A410-01114CC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76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AR 現場疊圖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2037D-433B-4211-A75F-FE6ECFE2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42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定位與長產線追蹤有準備及漂移負擔；眼鏡受悶熱與酸氣影響。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19A93-2D6F-4C1A-907C-AE6D193D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平板即時 3D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74879-D92A-48D7-8C4A-1158321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100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免每日定錨，顯示槽位、計時、急件及逐顆材料；不控制天車。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616FF-0C6D-4DD5-A697-0E70D3D0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設備取代及適用性仍需現場驗證。</a:t>
            </a:r>
          </a:p>
        </p:txBody>
      </p:sp>
    </p:spTree>
    <p:extLst>
      <p:ext uri="{BB962C8B-B14F-4D97-AF65-F5344CB8AC3E}">
        <p14:creationId xmlns:p14="http://schemas.microsoft.com/office/powerpoint/2010/main" val="9912268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F1033-D0D9-4F7D-AFA2-F413D1CF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現場部署：天車立柱平板支架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7F6D8-2739-403B-A81C-5ECD5E38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1F4C2-F3C6-418C-8AE1-A4A4213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BF10E-1CA7-40EE-AD32-91A9E93A5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172334e084cb2"/>
          <a:stretch xmlns:a="http://schemas.openxmlformats.org/drawingml/2006/main"/>
        </p:blipFill>
        <p:spPr>
          <a:xfrm xmlns:a="http://schemas.openxmlformats.org/drawingml/2006/main">
            <a:off x="872712" y="1238250"/>
            <a:ext cx="4617276" cy="4238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C4144-4008-45A6-B59E-C2BACA6223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294a19f0148c9"/>
          <a:stretch xmlns:a="http://schemas.openxmlformats.org/drawingml/2006/main"/>
        </p:blipFill>
        <p:spPr>
          <a:xfrm xmlns:a="http://schemas.openxmlformats.org/drawingml/2006/main">
            <a:off x="6468987" y="1238250"/>
            <a:ext cx="4588025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196CC-78C1-4958-86F1-217943D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立柱抱箍／夾具固定可調支臂。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EB52C-F708-48A2-AB70-AAB1D8F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197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參考護理推車支臂；收工拆回充電。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CB293-A01E-4E5B-A38A-A1ADFE59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安裝及耐蝕性待現場確認。</a:t>
            </a:r>
          </a:p>
        </p:txBody>
      </p:sp>
    </p:spTree>
    <p:extLst>
      <p:ext uri="{BB962C8B-B14F-4D97-AF65-F5344CB8AC3E}">
        <p14:creationId xmlns:p14="http://schemas.microsoft.com/office/powerpoint/2010/main" val="16853409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0B7F3-C302-4846-982C-C54C994D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系統架構：自主表、MES、天車與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C2A78-4F4B-4D10-BA84-A8F515A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7571D-1F55-45AB-B653-B5E050BE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267D1-1C86-4515-B833-0E95962C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自主表入洗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4D2D-34EF-4486-87BD-E75AFC4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逐顆來源資料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85508-8FCB-4FED-9BAF-461D4A75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90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AF77C-84D7-48B2-AFB5-F1391D47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同桿彙整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75221-47B3-4C6B-AE58-9138FBA7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38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桿號＋本次批次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CF5F-0FB7-4DEE-BDF7-84B3C150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F7A7E-FE9A-4A62-92FB-C5118724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天車確認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E93FF-0E9B-4D7A-9CE5-6D298DD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實際槽位與時間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EADC6-FFA7-45AF-947F-67FCFE01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B4111-C170-43A7-BEFE-E15A7A88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MES 與共享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7B1CF-912F-449B-A708-859B60D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247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入槽事件／2D 及 3D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3BAD1-0825-42C6-AE3E-0C456FBC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自主表逐顆洗出 → 全部完成 → 移除目前字卡 → 保留歷史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2BE31-5AFF-403D-9FB9-9A99D6CF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自主表「洗出」與天車「出槽」是不同事件，不能互相推定。</a:t>
            </a:r>
          </a:p>
        </p:txBody>
      </p:sp>
    </p:spTree>
    <p:extLst>
      <p:ext uri="{BB962C8B-B14F-4D97-AF65-F5344CB8AC3E}">
        <p14:creationId xmlns:p14="http://schemas.microsoft.com/office/powerpoint/2010/main" val="9279584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BA004-94FD-46BB-A8D8-A25F384B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操作介面：計時與 3D 分離顯示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FAEBC-62E7-4AF4-B1BD-EB31262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4852B-705C-4F92-8978-F5B3295C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11ECB-AEE1-4E81-A944-3D67D48A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計時作業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EE694-E3FB-4EB0-8947-E0DC568C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核對桿次與逐顆材料，確認實際槽位與浸泡時間後開始計時。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8C645-499B-4CCD-8AFD-5B8B4BC5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查看 3D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71984-A99D-4CB4-B267-371F9502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一鍵開啟全場或負責區域，查看槽位、桿號、剩餘時間與急件。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B6EF8-B280-4101-ADEC-649E3BB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返回計時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26FB-55E3-494D-9250-114CBBC3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隱藏 3D 回到操作畫面，原計時繼續；查詢細項依需求開啟。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E2DD6-0F1C-4DAB-BDB3-28D182D5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保留 MES 登入、權限及操作確認。</a:t>
            </a:r>
          </a:p>
        </p:txBody>
      </p:sp>
    </p:spTree>
    <p:extLst>
      <p:ext uri="{BB962C8B-B14F-4D97-AF65-F5344CB8AC3E}">
        <p14:creationId xmlns:p14="http://schemas.microsoft.com/office/powerpoint/2010/main" val="168508708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DB701-282E-4FC6-92CA-D32D8707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操作流程：入槽、計時與 3D 查詢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6A288-F2B6-4980-8820-9AA4BDD0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9B764-18E6-4BFC-BC3C-BE98E6C6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1E1CA-6C9E-4F3C-A27D-EC08567CAB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cab0352e14c0b"/>
          <a:stretch xmlns:a="http://schemas.openxmlformats.org/drawingml/2006/main"/>
        </p:blipFill>
        <p:spPr>
          <a:xfrm xmlns:a="http://schemas.openxmlformats.org/drawingml/2006/main">
            <a:off x="801137" y="1238250"/>
            <a:ext cx="7713176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28E59-73F6-48E8-AA5C-17E4CD6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操作順序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63B46-58A3-4C24-9769-75E0FD8F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47875"/>
            <a:ext cx="257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1  核對資料並入槽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2  開始計時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3  查看 3D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4  返回計時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7BC5D-2680-482B-B255-64877CC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示意圖內資料及設備安排待驗證。</a:t>
            </a:r>
          </a:p>
        </p:txBody>
      </p:sp>
    </p:spTree>
    <p:extLst>
      <p:ext uri="{BB962C8B-B14F-4D97-AF65-F5344CB8AC3E}">
        <p14:creationId xmlns:p14="http://schemas.microsoft.com/office/powerpoint/2010/main" val="71323749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7732D-A096-4511-8353-A160F21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資料正確性：來源選擇與顆別整合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CAF6F-BFCD-4D90-AC67-F7FD03C7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D3809-07DC-4831-8BF9-7917361D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6F58D-3C17-4E04-B043-DAE30805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最新未鎖定自主表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46EA6-CC7D-4167-BAAE-F16A1A57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依工作日期選最新 OPEN 表，顯示來源日期；沒有 OPEN 表時提示，不回退至已鎖定表。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29362-C912-4B39-B999-BC01232B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同桿逐顆資料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01453-1EA3-4FC3-A941-2A9D7C6F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正規化括號、連字號與空白；11-1、11-2、11-3 彙整為一桿的三顆，不是三個槽位。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B0BAB7-7E49-4ACB-ABDF-45452597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實際位置由人員確認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9ED0D-8A13-455C-A3D3-9734F775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來源未提供實際槽位時先列待入槽，由台車選槽；不繼承範例桿位置。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41FE1-8430-4A0D-8EFD-CAC88C99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每顆保留訂單、識別碼、材質、線徑、重量及來源關聯。</a:t>
            </a:r>
          </a:p>
        </p:txBody>
      </p:sp>
    </p:spTree>
    <p:extLst>
      <p:ext uri="{BB962C8B-B14F-4D97-AF65-F5344CB8AC3E}">
        <p14:creationId xmlns:p14="http://schemas.microsoft.com/office/powerpoint/2010/main" val="14736395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9DF96-1D60-4779-8AB4-35860248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批次完整性：逐顆洗出與同桿換批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695BA-57B0-4F89-9D02-D91537C5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BDCEC9-C45F-422D-A5A2-42048FFC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95E9E-A067-414B-85F2-5FB2D8FACAC8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762250"/>
                <a:gridCol w="563880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來源狀態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整桿顯示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資料處理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1／3 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保留整桿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顯示已洗出 1／3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2／3 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保留整桿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顯示已洗出 2／3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全部完成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移除目前字卡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全數有洗出狀態及時間，保留歷史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同桿換批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建立新桿次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不沿用舊槽位、計時或急件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02ED2A-F1D7-4110-8681-4E493F65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顆數以本批來源為準；僅一顆完成不代表整桿完成。</a:t>
            </a:r>
          </a:p>
        </p:txBody>
      </p:sp>
    </p:spTree>
    <p:extLst>
      <p:ext uri="{BB962C8B-B14F-4D97-AF65-F5344CB8AC3E}">
        <p14:creationId xmlns:p14="http://schemas.microsoft.com/office/powerpoint/2010/main" val="1195143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8B892-6B34-4A64-B254-70B89C8E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即時同步：狀態更新與異常處理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361F1-4AB9-4C7C-B466-E54F0039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66577-0EFE-492A-A046-A565BAA9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7DF03-2504-4A54-8B23-DF724EE9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共同狀態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EBE03-553E-493E-A34C-D73D97F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主管及各台天車的 2D／3D 使用同一批次、槽位、計時及急件資訊。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68FA1-7D04-45FA-A5B4-053FD9A6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更新與恢復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9BFFF-6910-460F-8FA7-4443BE2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約每 2 秒核對；返回分頁或畫面恢復時補查。完成桿次移除時關閉舊明細。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B7205B-8DD2-4D07-BF61-BC568468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來源失敗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2363A-0941-4D80-B04B-D00FBE04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不使用上游快取；讀取失敗時清除舊 3D 字卡，避免誤認為最新。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4B0F9-253C-443B-8F19-71356F19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輪詢加上網路耗時不等於零延遲；實際延遲待量測。</a:t>
            </a:r>
          </a:p>
        </p:txBody>
      </p:sp>
    </p:spTree>
    <p:extLst>
      <p:ext uri="{BB962C8B-B14F-4D97-AF65-F5344CB8AC3E}">
        <p14:creationId xmlns:p14="http://schemas.microsoft.com/office/powerpoint/2010/main" val="97627848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B5319-C82D-4F04-9A75-BCF7BE98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目前成果、測試證據與限制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B0074-C443-40A7-A935-0A5CEA1F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2E3A3-C312-4B04-8170-3A863CA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7BEA9-3DA1-4E5B-A55B-2CE9B6A9AA32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619625"/>
                <a:gridCol w="4257675"/>
              </a:tblGrid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已有證據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界線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系統功能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自主表 DEMO 讀取、槽位計時、3D 與急件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未等於正式生產驗收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模擬測試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部分洗出、全數移除、2D／3D 更新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API 為模擬回應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現場驗收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最新修正仍待實際逐顆回測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整班、跨日、斷線及多使用者待驗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預期效果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判讀、協作與追溯待比較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未宣稱已減少客訴或提升效率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6CC18-863B-492E-A470-FE815144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早退與延遲原始全部成因未經真實請求紀錄完整證實。</a:t>
            </a:r>
          </a:p>
        </p:txBody>
      </p:sp>
    </p:spTree>
    <p:extLst>
      <p:ext uri="{BB962C8B-B14F-4D97-AF65-F5344CB8AC3E}">
        <p14:creationId xmlns:p14="http://schemas.microsoft.com/office/powerpoint/2010/main" val="31649084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14591-7314-4BFE-B575-EDC20292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DEMO 驗證流程與觀察項目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5C1B3-3ABC-4A49-9BCA-EA0CE70D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F192A-8073-4F25-99CD-2536A7FD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6107F-3D60-4276-BD2E-514E60C3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情境一：自主表入洗至 3D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41EEF-D0A1-4118-8FF5-DC2B32F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來源 → 待入槽 → 台車確認 → 3D 字卡；目的：核對來源、槽位與逐顆明細。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9656C-8B84-4AB6-8CBB-A6907FD3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情境二：主管急件至四台天車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3606A-6692-418F-8585-470CC114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設定順位並在不同裝置查看；目的：核對桿次、順位一致性與更新時間差。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FF1B7-2C3E-4D20-9049-B449B4DB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情境三：逐顆洗出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0565A6-D4E6-4123-B468-B57D7579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依序 1／3、2／3、3／3；目的：確認部分保留、全部移除、歷史保留及換批。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8E347-DE9B-430D-9048-38760827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使用可測試桿次，業務操作由有權限人員確認。</a:t>
            </a:r>
          </a:p>
        </p:txBody>
      </p:sp>
    </p:spTree>
    <p:extLst>
      <p:ext uri="{BB962C8B-B14F-4D97-AF65-F5344CB8AC3E}">
        <p14:creationId xmlns:p14="http://schemas.microsoft.com/office/powerpoint/2010/main" val="34460965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13C5C-FD27-4B2D-9305-9BE86DF4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研究實驗設計：現況作業與 MES＋即時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2285C-86C4-41BA-AD21-6D486FC4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04B2A-A0E2-4929-ACB0-457F199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0F24D-5361-4606-AF47-D8D94249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A 組：計數器、LED、口頭交接與現行查詢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5BD94-FBF8-4A6C-B3EA-F3A15E02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81100"/>
            <a:ext cx="5381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097AB"/>
                </a:solidFill>
                <a:latin typeface="Microsoft JhengHei"/>
                <a:ea typeface="Microsoft JhengHei"/>
                <a:cs typeface="Microsoft JhengHei"/>
              </a:rPr>
              <a:t>B 組：平板計時、3D、急件同步、LOG 與材料查詢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E2F22-5F50-4E86-9985-174D9E7BD9B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381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實驗任務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預定量測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T w="9525">
                      <a:solidFill>
                        <a:srgbClr val="D6DFE5"/>
                      </a:solidFill>
                      <a:prstDash val="solid"/>
                    </a:lnT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293F8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辨識指定桿次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辨識時間、錯誤次數、實物對應率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判斷優先吊出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判讀時間、交接理解時間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四台天車接收急件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資訊一致率、同步延遲、反應時間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查詢入槽歷程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6DFE5"/>
                      </a:solidFill>
                      <a:prstDash val="solid"/>
                    </a:lnL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B304D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LOG 完整率、整桿誤判數、查詢耗時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6DFE5"/>
                      </a:solidFill>
                      <a:prstDash val="solid"/>
                    </a:lnR>
                    <a:lnB w="9525">
                      <a:solidFill>
                        <a:srgbClr val="D6DF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E9942-2AB3-4BF9-840F-A3D0239E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相同或可比較任務；記錄起訖、系統 LOG、人工觀察與操作員訪談。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53BB5-D45B-4ADF-A346-7863E165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預定研究設計；樣本數、分組、測試次數及統計方法待教授確認。</a:t>
            </a:r>
          </a:p>
        </p:txBody>
      </p:sp>
    </p:spTree>
    <p:extLst>
      <p:ext uri="{BB962C8B-B14F-4D97-AF65-F5344CB8AC3E}">
        <p14:creationId xmlns:p14="http://schemas.microsoft.com/office/powerpoint/2010/main" val="11351410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AC150-33BA-4935-B322-302964D3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後續驗收規劃與教授討論事項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1C895-64B4-4F27-A2A1-44D7E93F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2216D-40EB-418D-9430-F39958BA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321E8-01E0-40E0-A966-92F9B2C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待確認／待驗收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A6BF3-FF5A-4388-9FF3-EB110B35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逐顆洗出、四台同步、異常換批與跨日；支架現場適用及整班穩定性。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21C16-058F-4F2B-8DFE-DF6244AC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教授討論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761CA-9D2A-4C44-A31A-9F914CBF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比較方式與四項指標是否足夠？需要多少操作員與測試次數？</a:t>
            </a:r>
          </a:p>
          <a:p xmlns:a="http://schemas.openxmlformats.org/drawingml/2006/main">
            <a:pPr algn="l">
              <a:def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是否另比較 AR 與平板 3D？如何區分系統測試與實際改善？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06A19-FCD3-41BE-9A29-3E151F99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10/30–11/3、11/4–11/9 為原預定工作，執行情形待確認。</a:t>
            </a:r>
          </a:p>
        </p:txBody>
      </p:sp>
    </p:spTree>
    <p:extLst>
      <p:ext uri="{BB962C8B-B14F-4D97-AF65-F5344CB8AC3E}">
        <p14:creationId xmlns:p14="http://schemas.microsoft.com/office/powerpoint/2010/main" val="89687571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A64A5-21B6-4ADB-B38F-D04349E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入庫催料與條碼辨識詳細操作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9E96C-3442-42E3-864C-B5F3915B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D11A3-36F0-4A31-8ECF-9B52E8E4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A1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FB322-C88E-4777-B919-2B830741D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d4a9d6684474a"/>
          <a:stretch xmlns:a="http://schemas.openxmlformats.org/drawingml/2006/main"/>
        </p:blipFill>
        <p:spPr>
          <a:xfrm xmlns:a="http://schemas.openxmlformats.org/drawingml/2006/main">
            <a:off x="609600" y="2214258"/>
            <a:ext cx="5143500" cy="953109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9C4B4-EB96-4727-81F1-9367C6640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c3bbed9774eb6"/>
          <a:stretch xmlns:a="http://schemas.openxmlformats.org/drawingml/2006/main"/>
        </p:blipFill>
        <p:spPr>
          <a:xfrm xmlns:a="http://schemas.openxmlformats.org/drawingml/2006/main">
            <a:off x="6191250" y="1824209"/>
            <a:ext cx="5143500" cy="173320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68477-80FA-4CD2-9B5F-3DCF147F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建立催料：核對工令與客戶，登錄材質、線徑與數量。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5F21D-7AB6-4ECA-B468-39E98ECD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143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收料入庫：核對實物、工單與條碼／QR，確認重量及入庫。</a:t>
            </a:r>
          </a:p>
        </p:txBody>
      </p:sp>
    </p:spTree>
    <p:extLst>
      <p:ext uri="{BB962C8B-B14F-4D97-AF65-F5344CB8AC3E}">
        <p14:creationId xmlns:p14="http://schemas.microsoft.com/office/powerpoint/2010/main" val="68824979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76382-43C3-4990-946E-092549CD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洗入與洗出畫面詳細操作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E60A5-FED9-402F-B287-F1BDDD0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68F4B-F398-4E94-A185-C0D2877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A2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83A87-FB13-4C4B-AD0F-4C0248B6E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f3431f2df4fb1"/>
          <a:stretch xmlns:a="http://schemas.openxmlformats.org/drawingml/2006/main"/>
        </p:blipFill>
        <p:spPr>
          <a:xfrm xmlns:a="http://schemas.openxmlformats.org/drawingml/2006/main">
            <a:off x="609600" y="1818485"/>
            <a:ext cx="5143500" cy="174465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4D35D-5664-4B2C-9AC5-3DE2891707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7f6dc09484e58"/>
          <a:stretch xmlns:a="http://schemas.openxmlformats.org/drawingml/2006/main"/>
        </p:blipFill>
        <p:spPr>
          <a:xfrm xmlns:a="http://schemas.openxmlformats.org/drawingml/2006/main">
            <a:off x="6191250" y="1789974"/>
            <a:ext cx="5143500" cy="18016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3E911-36A6-4C98-8199-4564CA6B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洗入：掃碼、填寫桿號與資料，再確認。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2FB127-735B-454B-B0F0-E8E2706B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洗出：逐顆掃碼、核對原資料後確認完成。</a:t>
            </a:r>
          </a:p>
        </p:txBody>
      </p:sp>
    </p:spTree>
    <p:extLst>
      <p:ext uri="{BB962C8B-B14F-4D97-AF65-F5344CB8AC3E}">
        <p14:creationId xmlns:p14="http://schemas.microsoft.com/office/powerpoint/2010/main" val="88875630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E0858-1C5F-44BF-AD62-C7CD2C27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OPEN 表選擇與顆別正規化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E096C-8FFA-4072-A3C1-BD779AF6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C06C2-C0E7-4982-9B88-9E521778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A3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AF4D3-F28E-4BC4-8530-5C14B009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來源選擇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F242A-388B-4190-8AE4-49A6D628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最新 OPEN 工作日期；無可用表時顯示提示，不默默使用鎖定表。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25694-53BC-499F-9A77-39833834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顆別正規化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B93DC-5D33-4078-9DA1-0F825BD6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半／全形括號、連字號及空白統一，將同桿顆別關聯到同一批次。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60E2E-CBC9-4172-AB5F-B511AAE1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衝突處理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27F8D-E6E4-4F59-B7AA-CBF121CE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顯示來源日期；重複顆別列為衝突，跨表跨日與改桿待現場案例驗證。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6A10-0621-4EAB-8FF2-FC720F00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原始來源資訊與逐顆紀錄關聯須保留。</a:t>
            </a:r>
          </a:p>
        </p:txBody>
      </p:sp>
    </p:spTree>
    <p:extLst>
      <p:ext uri="{BB962C8B-B14F-4D97-AF65-F5344CB8AC3E}">
        <p14:creationId xmlns:p14="http://schemas.microsoft.com/office/powerpoint/2010/main" val="1757670633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88782-1484-4493-80E3-63C9B0B7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逐顆洗出與同桿換批異常案例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79575-A549-4031-B7C8-C6AEE4A1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8B80DB-3CBE-434F-9629-847D9E73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A4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419F5-53DB-4AA8-99E9-E759A9A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部分完成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AD0E8-A80A-4204-ADCD-D066D9F2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1／3、2／3 保留整桿並顯示逐顆狀態。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9D07F-5FAD-4E51-A672-DEAC2D77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全部完成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2CC2D-4620-4862-99DE-1A9C70EC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同批全部顆別有洗出狀態及時間才移除目前字卡，保留完成紀錄。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E0253-CD37-499E-B2EA-6804EB5A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同桿換批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DE1EA-A3AB-483A-9DA6-30E19A59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以來源批次區分新舊；不沿用先前槽位、計時及急件。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B8464-CF5E-4076-BCD8-4FF2908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原早退原因未直接重現；逐顆真實複測仍待完成。</a:t>
            </a:r>
          </a:p>
        </p:txBody>
      </p:sp>
    </p:spTree>
    <p:extLst>
      <p:ext uri="{BB962C8B-B14F-4D97-AF65-F5344CB8AC3E}">
        <p14:creationId xmlns:p14="http://schemas.microsoft.com/office/powerpoint/2010/main" val="96231239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FA39F-8F3F-4958-803D-DEF59818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2D／3D 更新、快取與錯誤處理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FB57C-B2DD-4978-9D24-2F2EFA7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李冠潾　2026/11/10 面談｜MES 結合即時 3D 視覺化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045A1-72CD-44AC-AB65-FFB0B789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75808A"/>
                </a:solidFill>
                <a:latin typeface="Microsoft JhengHei"/>
                <a:ea typeface="Microsoft JhengHei"/>
                <a:cs typeface="Microsoft JhengHei"/>
              </a:rPr>
              <a:t>A5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2F4E9-7518-43CD-A370-5643F470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更新機制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6312C-5293-4EE2-BC75-D8B1B10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約每 2 秒檢查，返回分頁或恢復可見時補查。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A65F3-B1C4-4E2C-826B-33B3069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一致性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26885-9C1F-443D-A52F-D574570D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選中桿次完成後，移除字卡並關閉天車及 3D 舊明細。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AEBDD-8013-4368-8E47-549DA2E8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293F87"/>
                </a:solidFill>
                <a:latin typeface="Microsoft JhengHei"/>
                <a:ea typeface="Microsoft JhengHei"/>
                <a:cs typeface="Microsoft JhengHei"/>
              </a:rPr>
              <a:t>異常處理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34DDC-0038-41CE-87B9-C472BB89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B304D"/>
                </a:solidFill>
                <a:latin typeface="Microsoft JhengHei"/>
                <a:ea typeface="Microsoft JhengHei"/>
                <a:cs typeface="Microsoft JhengHei"/>
              </a:rPr>
              <a:t>上游讀取不使用快取、資源版本化；來源失敗時不保留舊 3D 字卡。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52D25-7A9F-4685-AD29-B2CE79D7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B56800"/>
                </a:solidFill>
                <a:latin typeface="Microsoft JhengHei"/>
                <a:ea typeface="Microsoft JhengHei"/>
                <a:cs typeface="Microsoft JhengHei"/>
              </a:rPr>
              <a:t>已以模擬 API 測試；現場延遲及斷線恢復待驗收。</a:t>
            </a:r>
          </a:p>
        </p:txBody>
      </p:sp>
    </p:spTree>
    <p:extLst>
      <p:ext uri="{BB962C8B-B14F-4D97-AF65-F5344CB8AC3E}">
        <p14:creationId xmlns:p14="http://schemas.microsoft.com/office/powerpoint/2010/main" val="912715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2026-10-30T08:06:11.9350000Z</dcterms:created>
  <dcterms:modified xsi:type="dcterms:W3CDTF">2026-10-30T08:06:11.9350000Z</dcterms:modified>
</coreProperties>
</file>
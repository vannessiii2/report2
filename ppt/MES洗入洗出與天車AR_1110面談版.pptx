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36510efbed4b36" /><Relationship Type="http://schemas.openxmlformats.org/officeDocument/2006/relationships/extended-properties" Target="/docProps/app.xml" Id="R8d592c69c4c74e59" /><Relationship Type="http://schemas.openxmlformats.org/officeDocument/2006/relationships/officeDocument" Target="/ppt/presentation.xml" Id="R51ebbdcb376643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05956db5f74de7"/>
  </p:sldMasterIdLst>
  <p:notesMasterIdLst>
    <p:notesMasterId xmlns:r="http://schemas.openxmlformats.org/officeDocument/2006/relationships" r:id="Rec13ac18619542e9"/>
  </p:notesMasterIdLst>
  <p:sldIdLst>
    <p:sldId xmlns:r="http://schemas.openxmlformats.org/officeDocument/2006/relationships" id="256" r:id="R01fbcab882fa4015"/>
    <p:sldId xmlns:r="http://schemas.openxmlformats.org/officeDocument/2006/relationships" id="257" r:id="R7a58f56b87174e55"/>
    <p:sldId xmlns:r="http://schemas.openxmlformats.org/officeDocument/2006/relationships" id="258" r:id="Rd2f89fa07c9d486e"/>
    <p:sldId xmlns:r="http://schemas.openxmlformats.org/officeDocument/2006/relationships" id="259" r:id="Rb25207ec2aec46a0"/>
    <p:sldId xmlns:r="http://schemas.openxmlformats.org/officeDocument/2006/relationships" id="260" r:id="R8b8c89d631d5415f"/>
    <p:sldId xmlns:r="http://schemas.openxmlformats.org/officeDocument/2006/relationships" id="261" r:id="R23a3b84bd85e4a9b"/>
    <p:sldId xmlns:r="http://schemas.openxmlformats.org/officeDocument/2006/relationships" id="262" r:id="Rf1966deef5924a40"/>
    <p:sldId xmlns:r="http://schemas.openxmlformats.org/officeDocument/2006/relationships" id="263" r:id="Rb56364fbfbc04868"/>
    <p:sldId xmlns:r="http://schemas.openxmlformats.org/officeDocument/2006/relationships" id="264" r:id="Rf6ff0280b2d74a72"/>
    <p:sldId xmlns:r="http://schemas.openxmlformats.org/officeDocument/2006/relationships" id="265" r:id="R828ff54d2b0440aa"/>
    <p:sldId xmlns:r="http://schemas.openxmlformats.org/officeDocument/2006/relationships" id="266" r:id="Rde62f0917c99470c"/>
    <p:sldId xmlns:r="http://schemas.openxmlformats.org/officeDocument/2006/relationships" id="267" r:id="Rac112b0c8a4b4c87"/>
    <p:sldId xmlns:r="http://schemas.openxmlformats.org/officeDocument/2006/relationships" id="268" r:id="R24d60eb864a547c2"/>
    <p:sldId xmlns:r="http://schemas.openxmlformats.org/officeDocument/2006/relationships" id="269" r:id="Rfa8354671d99482a"/>
    <p:sldId xmlns:r="http://schemas.openxmlformats.org/officeDocument/2006/relationships" id="270" r:id="R68a487e5fefa4e99"/>
    <p:sldId xmlns:r="http://schemas.openxmlformats.org/officeDocument/2006/relationships" id="271" r:id="R0bf9546669aa4a4e"/>
    <p:sldId xmlns:r="http://schemas.openxmlformats.org/officeDocument/2006/relationships" id="272" r:id="R58847984914f4b2b"/>
    <p:sldId xmlns:r="http://schemas.openxmlformats.org/officeDocument/2006/relationships" id="273" r:id="R92510ea1be9248b6"/>
    <p:sldId xmlns:r="http://schemas.openxmlformats.org/officeDocument/2006/relationships" id="274" r:id="Re1c6e0c070f24c42"/>
    <p:sldId xmlns:r="http://schemas.openxmlformats.org/officeDocument/2006/relationships" id="275" r:id="Rf899808feb4c49d9"/>
    <p:sldId xmlns:r="http://schemas.openxmlformats.org/officeDocument/2006/relationships" id="276" r:id="Rc4db40cf4b4e406f"/>
    <p:sldId xmlns:r="http://schemas.openxmlformats.org/officeDocument/2006/relationships" id="277" r:id="R2a8f5623139c49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d4425c8c6f464d" /><Relationship Type="http://schemas.openxmlformats.org/officeDocument/2006/relationships/slideMaster" Target="/ppt/slideMasters/slideMaster1.xml" Id="R0905956db5f74de7" /><Relationship Type="http://schemas.openxmlformats.org/officeDocument/2006/relationships/notesMaster" Target="/ppt/notesMasters/notesMaster1.xml" Id="Rec13ac18619542e9" /><Relationship Type="http://schemas.openxmlformats.org/officeDocument/2006/relationships/presProps" Target="/ppt/presProps.xml" Id="R55026fbf21ef43d5" /><Relationship Type="http://schemas.openxmlformats.org/officeDocument/2006/relationships/tableStyles" Target="/ppt/tableStyles.xml" Id="R11d12eafff8648c5" /><Relationship Type="http://schemas.openxmlformats.org/officeDocument/2006/relationships/slide" Target="/ppt/slides/slide1.xml" Id="R01fbcab882fa4015" /><Relationship Type="http://schemas.openxmlformats.org/officeDocument/2006/relationships/slide" Target="/ppt/slides/slide2.xml" Id="R7a58f56b87174e55" /><Relationship Type="http://schemas.openxmlformats.org/officeDocument/2006/relationships/slide" Target="/ppt/slides/slide3.xml" Id="Rd2f89fa07c9d486e" /><Relationship Type="http://schemas.openxmlformats.org/officeDocument/2006/relationships/slide" Target="/ppt/slides/slide4.xml" Id="Rb25207ec2aec46a0" /><Relationship Type="http://schemas.openxmlformats.org/officeDocument/2006/relationships/slide" Target="/ppt/slides/slide5.xml" Id="R8b8c89d631d5415f" /><Relationship Type="http://schemas.openxmlformats.org/officeDocument/2006/relationships/slide" Target="/ppt/slides/slide6.xml" Id="R23a3b84bd85e4a9b" /><Relationship Type="http://schemas.openxmlformats.org/officeDocument/2006/relationships/slide" Target="/ppt/slides/slide7.xml" Id="Rf1966deef5924a40" /><Relationship Type="http://schemas.openxmlformats.org/officeDocument/2006/relationships/slide" Target="/ppt/slides/slide8.xml" Id="Rb56364fbfbc04868" /><Relationship Type="http://schemas.openxmlformats.org/officeDocument/2006/relationships/slide" Target="/ppt/slides/slide9.xml" Id="Rf6ff0280b2d74a72" /><Relationship Type="http://schemas.openxmlformats.org/officeDocument/2006/relationships/slide" Target="/ppt/slides/slide10.xml" Id="R828ff54d2b0440aa" /><Relationship Type="http://schemas.openxmlformats.org/officeDocument/2006/relationships/slide" Target="/ppt/slides/slide11.xml" Id="Rde62f0917c99470c" /><Relationship Type="http://schemas.openxmlformats.org/officeDocument/2006/relationships/slide" Target="/ppt/slides/slide12.xml" Id="Rac112b0c8a4b4c87" /><Relationship Type="http://schemas.openxmlformats.org/officeDocument/2006/relationships/slide" Target="/ppt/slides/slide13.xml" Id="R24d60eb864a547c2" /><Relationship Type="http://schemas.openxmlformats.org/officeDocument/2006/relationships/slide" Target="/ppt/slides/slide14.xml" Id="Rfa8354671d99482a" /><Relationship Type="http://schemas.openxmlformats.org/officeDocument/2006/relationships/slide" Target="/ppt/slides/slide15.xml" Id="R68a487e5fefa4e99" /><Relationship Type="http://schemas.openxmlformats.org/officeDocument/2006/relationships/slide" Target="/ppt/slides/slide16.xml" Id="R0bf9546669aa4a4e" /><Relationship Type="http://schemas.openxmlformats.org/officeDocument/2006/relationships/slide" Target="/ppt/slides/slide17.xml" Id="R58847984914f4b2b" /><Relationship Type="http://schemas.openxmlformats.org/officeDocument/2006/relationships/slide" Target="/ppt/slides/slide18.xml" Id="R92510ea1be9248b6" /><Relationship Type="http://schemas.openxmlformats.org/officeDocument/2006/relationships/slide" Target="/ppt/slides/slide19.xml" Id="Re1c6e0c070f24c42" /><Relationship Type="http://schemas.openxmlformats.org/officeDocument/2006/relationships/slide" Target="/ppt/slides/slide20.xml" Id="Rf899808feb4c49d9" /><Relationship Type="http://schemas.openxmlformats.org/officeDocument/2006/relationships/slide" Target="/ppt/slides/slide21.xml" Id="Rc4db40cf4b4e406f" /><Relationship Type="http://schemas.openxmlformats.org/officeDocument/2006/relationships/slide" Target="/ppt/slides/slide22.xml" Id="R2a8f5623139c49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f3f5cb761343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7a2f99e2a14322" /><Relationship Type="http://schemas.openxmlformats.org/officeDocument/2006/relationships/notesMaster" Target="/ppt/notesMasters/notesMaster1.xml" Id="R41a84d47c9ef4a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d69ecd752745d4" /><Relationship Type="http://schemas.openxmlformats.org/officeDocument/2006/relationships/notesMaster" Target="/ppt/notesMasters/notesMaster1.xml" Id="Rb2c1d493e83748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26d004802c448d" /><Relationship Type="http://schemas.openxmlformats.org/officeDocument/2006/relationships/notesMaster" Target="/ppt/notesMasters/notesMaster1.xml" Id="Rb81e98bea5c240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fa1adda61648b8" /><Relationship Type="http://schemas.openxmlformats.org/officeDocument/2006/relationships/notesMaster" Target="/ppt/notesMasters/notesMaster1.xml" Id="R5700fab320a54f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d74f8b874a4886" /><Relationship Type="http://schemas.openxmlformats.org/officeDocument/2006/relationships/notesMaster" Target="/ppt/notesMasters/notesMaster1.xml" Id="R31773488aac349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e87642a1e34d0c" /><Relationship Type="http://schemas.openxmlformats.org/officeDocument/2006/relationships/notesMaster" Target="/ppt/notesMasters/notesMaster1.xml" Id="R4800f56c391b46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e21a24673844b9" /><Relationship Type="http://schemas.openxmlformats.org/officeDocument/2006/relationships/notesMaster" Target="/ppt/notesMasters/notesMaster1.xml" Id="R501a771f564e45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538944dd8b45df" /><Relationship Type="http://schemas.openxmlformats.org/officeDocument/2006/relationships/notesMaster" Target="/ppt/notesMasters/notesMaster1.xml" Id="Ra732778cfd7e43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99b01b8b34410a" /><Relationship Type="http://schemas.openxmlformats.org/officeDocument/2006/relationships/notesMaster" Target="/ppt/notesMasters/notesMaster1.xml" Id="R8a671cac04b04f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30e4db05214a02" /><Relationship Type="http://schemas.openxmlformats.org/officeDocument/2006/relationships/notesMaster" Target="/ppt/notesMasters/notesMaster1.xml" Id="Ra37ac861a2e64d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07283f202d4982" /><Relationship Type="http://schemas.openxmlformats.org/officeDocument/2006/relationships/notesMaster" Target="/ppt/notesMasters/notesMaster1.xml" Id="Rcdbd10413b1341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528186c91ab4c08" /><Relationship Type="http://schemas.openxmlformats.org/officeDocument/2006/relationships/notesMaster" Target="/ppt/notesMasters/notesMaster1.xml" Id="Rfd052e0ad527467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84d75ecc3144c78" /><Relationship Type="http://schemas.openxmlformats.org/officeDocument/2006/relationships/notesMaster" Target="/ppt/notesMasters/notesMaster1.xml" Id="R2a324861d1cc44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8e652aad45a4ddb" /><Relationship Type="http://schemas.openxmlformats.org/officeDocument/2006/relationships/notesMaster" Target="/ppt/notesMasters/notesMaster1.xml" Id="R2e629dd11f3641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01a87fd3134285" /><Relationship Type="http://schemas.openxmlformats.org/officeDocument/2006/relationships/notesMaster" Target="/ppt/notesMasters/notesMaster1.xml" Id="R14589239442e495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cf3f4ee734d0f" /><Relationship Type="http://schemas.openxmlformats.org/officeDocument/2006/relationships/notesMaster" Target="/ppt/notesMasters/notesMaster1.xml" Id="R91406ea205824a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47c4cf72c244c9d" /><Relationship Type="http://schemas.openxmlformats.org/officeDocument/2006/relationships/notesMaster" Target="/ppt/notesMasters/notesMaster1.xml" Id="Reee9d9d1d59a478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2e5418c9f854c69" /><Relationship Type="http://schemas.openxmlformats.org/officeDocument/2006/relationships/notesMaster" Target="/ppt/notesMasters/notesMaster1.xml" Id="Re6b75b9a129a450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1f632a1a849413b" /><Relationship Type="http://schemas.openxmlformats.org/officeDocument/2006/relationships/notesMaster" Target="/ppt/notesMasters/notesMaster1.xml" Id="R60c4096205bd4d4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0c901b0090d44e9" /><Relationship Type="http://schemas.openxmlformats.org/officeDocument/2006/relationships/notesMaster" Target="/ppt/notesMasters/notesMaster1.xml" Id="R364d1e8a84014a8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96ba62694f74407" /><Relationship Type="http://schemas.openxmlformats.org/officeDocument/2006/relationships/notesMaster" Target="/ppt/notesMasters/notesMaster1.xml" Id="Ra80407506007494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e6768ac58474a93" /><Relationship Type="http://schemas.openxmlformats.org/officeDocument/2006/relationships/notesMaster" Target="/ppt/notesMasters/notesMaster1.xml" Id="Rf3f1eb4427ab46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10/6、10/13、10/20、10/27 為歷次進度；10/28–29 為後續實作；11/10 為預定報告。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為何從酸洗廠切入？：酸洗廠承接派工與實物流動；入庫 → 入洗 → 洗出 → 出貨，是跨角色共同紀錄的起點。</a:t>
            </a:r>
          </a:p>
          <a:p xmlns:a="http://schemas.openxmlformats.org/drawingml/2006/main">
            <a:r>
              <a:t>客訴時缺少什麼？：原機械計時器與 LED 未回饋每桿、每槽的入槽時間 LOG，難以提交完整且可核對的加工證據。</a:t>
            </a:r>
          </a:p>
          <a:p xmlns:a="http://schemas.openxmlformats.org/drawingml/2006/main">
            <a:r>
              <a:t>研究要留下什麼？：本次桿次、逐顆材料、實際槽位、計時與操作事件，供主管、四台天車及後續追溯共同查詢。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看不清，也可能已被遮住：產線長、槽體距離遠；盤元浸入槽內後，標示帶顏色無法持續辨認。</a:t>
            </a:r>
          </a:p>
          <a:p xmlns:a="http://schemas.openxmlformats.org/drawingml/2006/main">
            <a:r>
              <a:t>計時、交接與急件資訊分散：不確定重置是否完成、哪桿應先吊出；主管插單與四台天車之間存在口頭傳遞的時間差。</a:t>
            </a:r>
          </a:p>
          <a:p xmlns:a="http://schemas.openxmlformats.org/drawingml/2006/main">
            <a:r>
              <a:t>資料錯配會延伸成加工風險：不同材質或條件被配在同桿，需要有可核對的逐顆明細；相容規則與攔截成效列為後續驗證。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 技術測試成功不等於整班精度與效益已驗收。15 分鐘原共享授權已調為最長 12 小時；短效配對碼與班次授權不同。3D 主流程不需 Needle Go 配對，MES 權限仍保留。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支架固定於各台天車操作位置：採類似護理推車的可調支架；支架隨車移動，操作員不必長時間手持或配戴眼鏡。</a:t>
            </a:r>
          </a:p>
          <a:p xmlns:a="http://schemas.openxmlformats.org/drawingml/2006/main">
            <a:r>
              <a:t>上工裝回，收工帶回實驗室：平板用於槽位與計時資訊，收工拆下保管、充電，減少暴露於悶熱及酸氣的時間。</a:t>
            </a:r>
          </a:p>
          <a:p xmlns:a="http://schemas.openxmlformats.org/drawingml/2006/main">
            <a:r>
              <a:t>四台天車共用資料，視角可各自選擇：主管與操作員使用同一桿次及急件順位；各台可看負責區域或全場，無須每日走到同一錨點。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計時作業：核對桿號與逐顆明細，選擇實際槽位及浸泡時間，確認後開始計時。</a:t>
            </a:r>
          </a:p>
          <a:p xmlns:a="http://schemas.openxmlformats.org/drawingml/2006/main">
            <a:r>
              <a:t>查看 3D：按一個入口開啟槽位圖；字卡顯示桿號、計時與急件數字，點字卡查看逐顆材料。</a:t>
            </a:r>
          </a:p>
          <a:p xmlns:a="http://schemas.openxmlformats.org/drawingml/2006/main">
            <a:r>
              <a:t>返回計時：隱藏 3D 回到作業畫面，原計時繼續；次要查詢與範圍選擇收合，減少主畫面按鈕。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天車展示工作區保存試用位置與計時；自主表讀取不自動修改洗入／洗出業務紀錄。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清除數量為本輪清理當時的狀態，不是目前固定桿數。自主表來源為測試服務端既有資料。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正規化涵蓋半／全形括號、連字號與空白。此三顆用於說明同桿規則，不代表每桿固定三顆。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不能宣稱已證明一次掃描會自動洗出三顆，也不能宣稱已直接重現早退原因。明確補上部分洗出與全部洗出的判斷及測試。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同一桿號，可能是不同批盤元：洗出完成後，11 號桿可能重新裝料；只以「11」作識別，會混用新舊明細與作業狀態。</a:t>
            </a:r>
          </a:p>
          <a:p xmlns:a="http://schemas.openxmlformats.org/drawingml/2006/main">
            <a:r>
              <a:t>桿次需綁定本次來源紀錄：以自主表與批次來源關聯保存本次逐顆明細；新批次建立獨立桿次，不承接舊槽位、計時或急件。</a:t>
            </a:r>
          </a:p>
          <a:p xmlns:a="http://schemas.openxmlformats.org/drawingml/2006/main">
            <a:r>
              <a:t>資料異常要能被看見：重複顆別列為衝突，不能默默合併；補登、改桿、跨表與跨日案例列入後續現場驗收。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2 秒輪詢再加網路與處理耗時，不代表零延遲。發布檔案的瀏覽器連續變化驗證使用攔截的模擬 API。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程式測試另涵蓋最新 OPEN、正規化、批次、重複顆別、權限及來源失敗。發布檔實測用模擬回應，未為驗證而修改業務洗出紀錄。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相容配料攔截、維修費與客訴率改善需另定規則、基準與樣本，現階段沒有量化成果。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未來時程是建議驗證安排，並非承諾已完成的里程碑。現場支架與班次測試須依場域安排。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第一步：自主表入洗 → 待入槽：確認最新 OPEN 表與資料日期；查看同桿逐顆材料，台車選槽並計時，3D 顯示對應字卡。</a:t>
            </a:r>
          </a:p>
          <a:p xmlns:a="http://schemas.openxmlformats.org/drawingml/2006/main">
            <a:r>
              <a:t>第二步：主管急件 → 四台共同查看：主管標示急件 1，確認台車、主管及 3D 看到相同桿次與順位；記錄各畫面更新時間。</a:t>
            </a:r>
          </a:p>
          <a:p xmlns:a="http://schemas.openxmlformats.org/drawingml/2006/main">
            <a:r>
              <a:t>第三步：逐顆洗出 → 整桿完成：依序驗證 1／3、2／3 保留；全數完成才移除卡片、關閉明細，歷史仍可查，再驗證同桿換批。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03ae90c37e4b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25d311bd5b4d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053515613444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1d583001e4ad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8cc877a744c2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3dde7f93584f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0B849F-9CB3-4336-AE26-38BA5E19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FCFEC6-0BCF-452E-A953-6F0141637F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2ECA5-C79B-43E2-BB36-8944FF1FD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C2FFF-E372-4D33-ACBE-B6B77052C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BEEB8F-379F-44A6-AF7E-CC229E30B2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9AA87C-F18E-4066-9FE8-0160FA40A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ED62E6-140D-44A0-B828-5C6CF24A3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1D815E-2ECE-40C6-963D-C38854AD58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2300E7-835D-4EDF-BC69-4DC45BAC66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DD4CE4-1363-4B96-9092-E799C3582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b14ca499364c15" /><Relationship Type="http://schemas.openxmlformats.org/officeDocument/2006/relationships/slideLayout" Target="/ppt/slideLayouts/slideLayout1.xml" Id="Rc15a022dbd8040ba" /><Relationship Type="http://schemas.openxmlformats.org/officeDocument/2006/relationships/slideLayout" Target="/ppt/slideLayouts/slideLayout2.xml" Id="R4ae3a5192135428f" /><Relationship Type="http://schemas.openxmlformats.org/officeDocument/2006/relationships/slideLayout" Target="/ppt/slideLayouts/slideLayout3.xml" Id="R59c69ef005674dbd" /><Relationship Type="http://schemas.openxmlformats.org/officeDocument/2006/relationships/slideLayout" Target="/ppt/slideLayouts/slideLayout4.xml" Id="R9cab4d328aae45ed" /><Relationship Type="http://schemas.openxmlformats.org/officeDocument/2006/relationships/slideLayout" Target="/ppt/slideLayouts/slideLayout5.xml" Id="R9ad556824f7c4e00" /><Relationship Type="http://schemas.openxmlformats.org/officeDocument/2006/relationships/slideLayout" Target="/ppt/slideLayouts/slideLayout6.xml" Id="R1c524216cd8e49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5a022dbd8040ba"/>
    <p:sldLayoutId xmlns:r="http://schemas.openxmlformats.org/officeDocument/2006/relationships" id="2147483650" r:id="R4ae3a5192135428f"/>
    <p:sldLayoutId xmlns:r="http://schemas.openxmlformats.org/officeDocument/2006/relationships" id="2147483651" r:id="R59c69ef005674dbd"/>
    <p:sldLayoutId xmlns:r="http://schemas.openxmlformats.org/officeDocument/2006/relationships" id="2147483652" r:id="R9cab4d328aae45ed"/>
    <p:sldLayoutId xmlns:r="http://schemas.openxmlformats.org/officeDocument/2006/relationships" id="2147483653" r:id="R9ad556824f7c4e00"/>
    <p:sldLayoutId xmlns:r="http://schemas.openxmlformats.org/officeDocument/2006/relationships" id="2147483654" r:id="R1c524216cd8e49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e8b0e8836b42ec" /><Relationship Type="http://schemas.openxmlformats.org/officeDocument/2006/relationships/notesSlide" Target="/ppt/notesSlides/notesSlide1.xml" Id="R562df4e73f8447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3118482a4a490a" /><Relationship Type="http://schemas.openxmlformats.org/officeDocument/2006/relationships/notesSlide" Target="/ppt/notesSlides/notesSlide2.xml" Id="R923745cb20d94b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23fc06d17c42fa" /><Relationship Type="http://schemas.openxmlformats.org/officeDocument/2006/relationships/notesSlide" Target="/ppt/notesSlides/notesSlide3.xml" Id="Rdc3ddfcf7c154d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e608f9b0524931" /><Relationship Type="http://schemas.openxmlformats.org/officeDocument/2006/relationships/notesSlide" Target="/ppt/notesSlides/notesSlide4.xml" Id="Reb8c1b325b2142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56ac0ae6a04034" /><Relationship Type="http://schemas.openxmlformats.org/officeDocument/2006/relationships/notesSlide" Target="/ppt/notesSlides/notesSlide5.xml" Id="R0bba28d3e0984d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289206aaff4f33" /><Relationship Type="http://schemas.openxmlformats.org/officeDocument/2006/relationships/notesSlide" Target="/ppt/notesSlides/notesSlide6.xml" Id="R774b0542422047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bf75e561eb4ecf" /><Relationship Type="http://schemas.openxmlformats.org/officeDocument/2006/relationships/notesSlide" Target="/ppt/notesSlides/notesSlide7.xml" Id="R69fd8bce3c104e3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d618f9cf2c4611" /><Relationship Type="http://schemas.openxmlformats.org/officeDocument/2006/relationships/notesSlide" Target="/ppt/notesSlides/notesSlide8.xml" Id="R61533e131dc24d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25431b22c841d2" /><Relationship Type="http://schemas.openxmlformats.org/officeDocument/2006/relationships/notesSlide" Target="/ppt/notesSlides/notesSlide9.xml" Id="R46a29cce7e7448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a2d088d6cc4e94" /><Relationship Type="http://schemas.openxmlformats.org/officeDocument/2006/relationships/notesSlide" Target="/ppt/notesSlides/notesSlide10.xml" Id="Re6458cb388df45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e952edd76f4b71" /><Relationship Type="http://schemas.openxmlformats.org/officeDocument/2006/relationships/notesSlide" Target="/ppt/notesSlides/notesSlide11.xml" Id="Re47ea583f0574e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2b30b3c8a441f8" /><Relationship Type="http://schemas.openxmlformats.org/officeDocument/2006/relationships/notesSlide" Target="/ppt/notesSlides/notesSlide12.xml" Id="Rfd3b2b128eca41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f4396955e44600" /><Relationship Type="http://schemas.openxmlformats.org/officeDocument/2006/relationships/notesSlide" Target="/ppt/notesSlides/notesSlide13.xml" Id="Rde89e3272c9145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5896df035c473d" /><Relationship Type="http://schemas.openxmlformats.org/officeDocument/2006/relationships/notesSlide" Target="/ppt/notesSlides/notesSlide14.xml" Id="R195ccef49be04e7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d1c65939824f71" /><Relationship Type="http://schemas.openxmlformats.org/officeDocument/2006/relationships/notesSlide" Target="/ppt/notesSlides/notesSlide15.xml" Id="R270b0689e7ba4cf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2fad0ad7b54592" /><Relationship Type="http://schemas.openxmlformats.org/officeDocument/2006/relationships/notesSlide" Target="/ppt/notesSlides/notesSlide16.xml" Id="Rf3b19a33b339471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7692c3dba4401b" /><Relationship Type="http://schemas.openxmlformats.org/officeDocument/2006/relationships/image" Target="/ppt/media/image.jpeg" Id="R621a4036eaeb41f7" /><Relationship Type="http://schemas.openxmlformats.org/officeDocument/2006/relationships/image" Target="/ppt/media/image2.jpeg" Id="Rbf13a7a6bfd5460e" /><Relationship Type="http://schemas.openxmlformats.org/officeDocument/2006/relationships/image" Target="/ppt/media/image3.jpeg" Id="R025b45ec960f403d" /><Relationship Type="http://schemas.openxmlformats.org/officeDocument/2006/relationships/notesSlide" Target="/ppt/notesSlides/notesSlide17.xml" Id="Ra733909df9da4b2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00f5ec58214f65" /><Relationship Type="http://schemas.openxmlformats.org/officeDocument/2006/relationships/image" Target="/ppt/media/image.png" Id="Rcb04b58e2856479f" /><Relationship Type="http://schemas.openxmlformats.org/officeDocument/2006/relationships/notesSlide" Target="/ppt/notesSlides/notesSlide18.xml" Id="Rde8ab055b9094cc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a405f7b763433f" /><Relationship Type="http://schemas.openxmlformats.org/officeDocument/2006/relationships/image" Target="/ppt/media/image2.png" Id="R6f76460ae685435d" /><Relationship Type="http://schemas.openxmlformats.org/officeDocument/2006/relationships/image" Target="/ppt/media/image4.jpeg" Id="R8e58dc0f5b2f4851" /><Relationship Type="http://schemas.openxmlformats.org/officeDocument/2006/relationships/image" Target="/ppt/media/image5.jpeg" Id="R87fb797c6b7c45bd" /><Relationship Type="http://schemas.openxmlformats.org/officeDocument/2006/relationships/notesSlide" Target="/ppt/notesSlides/notesSlide19.xml" Id="Rdc6d99e7bf584f4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ba6bdf2d9544a0" /><Relationship Type="http://schemas.openxmlformats.org/officeDocument/2006/relationships/image" Target="/ppt/media/image3.png" Id="R17bcfb09efcd48ad" /><Relationship Type="http://schemas.openxmlformats.org/officeDocument/2006/relationships/notesSlide" Target="/ppt/notesSlides/notesSlide20.xml" Id="R5c6eb375aebe4e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6ee28eca14542" /><Relationship Type="http://schemas.openxmlformats.org/officeDocument/2006/relationships/image" Target="/ppt/media/image4.png" Id="Ra54a7a66b402404c" /><Relationship Type="http://schemas.openxmlformats.org/officeDocument/2006/relationships/notesSlide" Target="/ppt/notesSlides/notesSlide21.xml" Id="R60415f8052be4bc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c3eabe4c1b46ca" /><Relationship Type="http://schemas.openxmlformats.org/officeDocument/2006/relationships/image" Target="/ppt/media/image5.png" Id="Rb318557160764f86" /><Relationship Type="http://schemas.openxmlformats.org/officeDocument/2006/relationships/notesSlide" Target="/ppt/notesSlides/notesSlide22.xml" Id="Rb86c3e8c27d740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研究進度時間軸｜11/10 報告">
            <a:extLst xmlns:a="http://schemas.openxmlformats.org/drawingml/2006/main">
              <a:ext uri="{FF2B5EF4-FFF2-40B4-BE49-F238E27FC236}">
                <a16:creationId xmlns:a16="http://schemas.microsoft.com/office/drawing/2014/main" id="{F3FF9E71-E0B5-4EA9-A2DF-C8EA856F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研究進度時間軸｜11/10 報告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263724-6B27-445E-B4A1-36B9719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2F9E753-71D1-4F0C-80DE-05ACD13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9B53C-3FDD-4608-BC5D-C4AA43C7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 w="0">
            <a:noFill/>
          </a:ln>
        </p:spPr>
      </p:sp>
      <p:sp>
        <p:nvSpPr>
          <p:cNvPr id="5" name="10/6">
            <a:extLst xmlns:a="http://schemas.openxmlformats.org/drawingml/2006/main">
              <a:ext uri="{FF2B5EF4-FFF2-40B4-BE49-F238E27FC236}">
                <a16:creationId xmlns:a16="http://schemas.microsoft.com/office/drawing/2014/main" id="{ECBD6091-1590-44D2-B163-2CD0DB8E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88E2A-5B98-4D58-8F7A-7A9216CC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7" name="公司需求&#10;研究場域">
            <a:extLst xmlns:a="http://schemas.openxmlformats.org/drawingml/2006/main">
              <a:ext uri="{FF2B5EF4-FFF2-40B4-BE49-F238E27FC236}">
                <a16:creationId xmlns:a16="http://schemas.microsoft.com/office/drawing/2014/main" id="{D14A93C9-EDDD-4405-8356-8450D19B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公司需求</a:t>
            </a:r>
          </a:p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研究場域</a:t>
            </a:r>
          </a:p>
        </p:txBody>
      </p:sp>
      <p:sp>
        <p:nvSpPr>
          <p:cNvPr id="8" name="10/13">
            <a:extLst xmlns:a="http://schemas.openxmlformats.org/drawingml/2006/main">
              <a:ext uri="{FF2B5EF4-FFF2-40B4-BE49-F238E27FC236}">
                <a16:creationId xmlns:a16="http://schemas.microsoft.com/office/drawing/2014/main" id="{7650AE8A-AA54-4F70-A7F9-A664FDAA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831B6-EB09-4832-9854-7F212F00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0" name="入庫虛擬環境&#10;AR 探索">
            <a:extLst xmlns:a="http://schemas.openxmlformats.org/drawingml/2006/main">
              <a:ext uri="{FF2B5EF4-FFF2-40B4-BE49-F238E27FC236}">
                <a16:creationId xmlns:a16="http://schemas.microsoft.com/office/drawing/2014/main" id="{E169D52A-B512-4A64-9199-8F980D9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入庫虛擬環境</a:t>
            </a:r>
          </a:p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AR 探索</a:t>
            </a:r>
          </a:p>
        </p:txBody>
      </p:sp>
      <p:sp>
        <p:nvSpPr>
          <p:cNvPr id="11" name="10/20">
            <a:extLst xmlns:a="http://schemas.openxmlformats.org/drawingml/2006/main">
              <a:ext uri="{FF2B5EF4-FFF2-40B4-BE49-F238E27FC236}">
                <a16:creationId xmlns:a16="http://schemas.microsoft.com/office/drawing/2014/main" id="{118FCE07-4A57-47E7-AAD6-9DD79C4D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27DBA-6C34-4FEE-8B61-252FA4C6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3" name="條碼／QR&#10;派工流程">
            <a:extLst xmlns:a="http://schemas.openxmlformats.org/drawingml/2006/main">
              <a:ext uri="{FF2B5EF4-FFF2-40B4-BE49-F238E27FC236}">
                <a16:creationId xmlns:a16="http://schemas.microsoft.com/office/drawing/2014/main" id="{FBB2BD7C-29BC-44A1-8BA7-CB734A72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條碼／QR</a:t>
            </a:r>
          </a:p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派工流程</a:t>
            </a:r>
          </a:p>
        </p:txBody>
      </p:sp>
      <p:sp>
        <p:nvSpPr>
          <p:cNvPr id="14" name="10/27">
            <a:extLst xmlns:a="http://schemas.openxmlformats.org/drawingml/2006/main">
              <a:ext uri="{FF2B5EF4-FFF2-40B4-BE49-F238E27FC236}">
                <a16:creationId xmlns:a16="http://schemas.microsoft.com/office/drawing/2014/main" id="{0498A9BE-0C8A-4F21-8B7B-0404D9FA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8AAAF-D303-4C4D-9BAA-B140D3BA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6" name="客訴缺少 LOG&#10;天車 AR＋MES">
            <a:extLst xmlns:a="http://schemas.openxmlformats.org/drawingml/2006/main">
              <a:ext uri="{FF2B5EF4-FFF2-40B4-BE49-F238E27FC236}">
                <a16:creationId xmlns:a16="http://schemas.microsoft.com/office/drawing/2014/main" id="{20E607FE-DEDF-4360-AC3B-2C36C523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客訴缺少 LOG</a:t>
            </a:r>
          </a:p>
          <a:p xmlns:a="http://schemas.openxmlformats.org/drawingml/2006/main">
            <a: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天車 AR＋MES</a:t>
            </a:r>
          </a:p>
        </p:txBody>
      </p:sp>
      <p:sp>
        <p:nvSpPr>
          <p:cNvPr id="17" name="10/28–29">
            <a:extLst xmlns:a="http://schemas.openxmlformats.org/drawingml/2006/main">
              <a:ext uri="{FF2B5EF4-FFF2-40B4-BE49-F238E27FC236}">
                <a16:creationId xmlns:a16="http://schemas.microsoft.com/office/drawing/2014/main" id="{7F1F53C1-72EA-4E12-9F24-A3C1EFDC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10/28–29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B82EB-A2B0-462D-9C9E-2E6CBBB5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19" name="收斂即時 3D&#10;自主表串接">
            <a:extLst xmlns:a="http://schemas.openxmlformats.org/drawingml/2006/main">
              <a:ext uri="{FF2B5EF4-FFF2-40B4-BE49-F238E27FC236}">
                <a16:creationId xmlns:a16="http://schemas.microsoft.com/office/drawing/2014/main" id="{18A7999E-C353-41BF-864C-4A3A2433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收斂即時 3D</a:t>
            </a:r>
          </a:p>
          <a:p xmlns:a="http://schemas.openxmlformats.org/drawingml/2006/main">
            <a: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自主表串接</a:t>
            </a:r>
          </a:p>
        </p:txBody>
      </p:sp>
      <p:sp>
        <p:nvSpPr>
          <p:cNvPr id="20" name="11/10">
            <a:extLst xmlns:a="http://schemas.openxmlformats.org/drawingml/2006/main">
              <a:ext uri="{FF2B5EF4-FFF2-40B4-BE49-F238E27FC236}">
                <a16:creationId xmlns:a16="http://schemas.microsoft.com/office/drawing/2014/main" id="{F2DF6DF2-9937-43D2-947B-5475519A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11/10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0472ED-D357-4CC1-8B1D-2C257C48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22" name="本次報告&#10;驗證與研究設計">
            <a:extLst xmlns:a="http://schemas.openxmlformats.org/drawingml/2006/main">
              <a:ext uri="{FF2B5EF4-FFF2-40B4-BE49-F238E27FC236}">
                <a16:creationId xmlns:a16="http://schemas.microsoft.com/office/drawing/2014/main" id="{9F913250-2C0D-46B1-A18F-60B0DB25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本次報告</a:t>
            </a:r>
          </a:p>
          <a:p xmlns:a="http://schemas.openxmlformats.org/drawingml/2006/main">
            <a: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驗證與研究設計</a:t>
            </a:r>
          </a:p>
        </p:txBody>
      </p:sp>
      <p:sp>
        <p:nvSpPr>
          <p:cNvPr id="23" name="上期回顧：以客訴追溯與現場資訊差，確認天車作業的研究價值。">
            <a:extLst xmlns:a="http://schemas.openxmlformats.org/drawingml/2006/main">
              <a:ext uri="{FF2B5EF4-FFF2-40B4-BE49-F238E27FC236}">
                <a16:creationId xmlns:a16="http://schemas.microsoft.com/office/drawing/2014/main" id="{85E45945-3ED4-440B-9997-EB29DC08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上期回顧：以客訴追溯與現場資訊差，確認天車作業的研究價值。</a:t>
            </a:r>
          </a:p>
        </p:txBody>
      </p:sp>
      <p:sp>
        <p:nvSpPr>
          <p:cNvPr id="24" name="本次重點：為何改用即時 3D，以及資料鏈如何正確、持續地更新">
            <a:extLst xmlns:a="http://schemas.openxmlformats.org/drawingml/2006/main">
              <a:ext uri="{FF2B5EF4-FFF2-40B4-BE49-F238E27FC236}">
                <a16:creationId xmlns:a16="http://schemas.microsoft.com/office/drawing/2014/main" id="{06E40E27-DB87-41F7-B464-B9F6BAB2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本次重點：為何改用即時 3D，以及資料鏈如何正確、持續地更新。</a:t>
            </a:r>
          </a:p>
        </p:txBody>
      </p:sp>
    </p:spTree>
    <p:extLst>
      <p:ext uri="{BB962C8B-B14F-4D97-AF65-F5344CB8AC3E}">
        <p14:creationId xmlns:p14="http://schemas.microsoft.com/office/powerpoint/2010/main" val="6438582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0/27 回顧｜需要補齊可追溯的作業證據">
            <a:extLst xmlns:a="http://schemas.openxmlformats.org/drawingml/2006/main">
              <a:ext uri="{FF2B5EF4-FFF2-40B4-BE49-F238E27FC236}">
                <a16:creationId xmlns:a16="http://schemas.microsoft.com/office/drawing/2014/main" id="{024CDF1D-F665-4FB4-8CA5-9D89A67D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10/27 回顧｜需要補齊可追溯的作業證據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E723AA16-8B87-4507-8B61-B86B2EEA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9C0A3EB7-91D5-4186-97C1-2AF040FC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為何從酸洗廠切入？">
            <a:extLst xmlns:a="http://schemas.openxmlformats.org/drawingml/2006/main">
              <a:ext uri="{FF2B5EF4-FFF2-40B4-BE49-F238E27FC236}">
                <a16:creationId xmlns:a16="http://schemas.microsoft.com/office/drawing/2014/main" id="{696892F0-3D5C-4E26-9003-6B3C4639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為何從酸洗廠切入？</a:t>
            </a:r>
          </a:p>
        </p:txBody>
      </p:sp>
      <p:sp>
        <p:nvSpPr>
          <p:cNvPr id="5" name="酸洗廠承接派工與實物流動；入庫 → 入洗 → 洗出 → 出貨">
            <a:extLst xmlns:a="http://schemas.openxmlformats.org/drawingml/2006/main">
              <a:ext uri="{FF2B5EF4-FFF2-40B4-BE49-F238E27FC236}">
                <a16:creationId xmlns:a16="http://schemas.microsoft.com/office/drawing/2014/main" id="{0E5E98B2-C783-44D7-98DC-085DEC0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酸洗廠承接派工與實物流動；入庫 → 入洗 → 洗出 → 出貨，是跨角色共同紀錄的起點。</a:t>
            </a:r>
          </a:p>
        </p:txBody>
      </p:sp>
      <p:sp>
        <p:nvSpPr>
          <p:cNvPr id="6" name="客訴時缺少什麼？">
            <a:extLst xmlns:a="http://schemas.openxmlformats.org/drawingml/2006/main">
              <a:ext uri="{FF2B5EF4-FFF2-40B4-BE49-F238E27FC236}">
                <a16:creationId xmlns:a16="http://schemas.microsoft.com/office/drawing/2014/main" id="{2380CFD5-3D9D-4460-B204-0DD137AC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客訴時缺少什麼？</a:t>
            </a:r>
          </a:p>
        </p:txBody>
      </p:sp>
      <p:sp>
        <p:nvSpPr>
          <p:cNvPr id="7" name="原機械計時器與 LED 未回饋每桿、每槽的入槽時間 LOG，">
            <a:extLst xmlns:a="http://schemas.openxmlformats.org/drawingml/2006/main">
              <a:ext uri="{FF2B5EF4-FFF2-40B4-BE49-F238E27FC236}">
                <a16:creationId xmlns:a16="http://schemas.microsoft.com/office/drawing/2014/main" id="{0A305206-93B1-4793-98A4-A48E5CB8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原機械計時器與 LED 未回饋每桿、每槽的入槽時間 LOG，難以提交完整且可核對的加工證據。</a:t>
            </a:r>
          </a:p>
        </p:txBody>
      </p:sp>
      <p:sp>
        <p:nvSpPr>
          <p:cNvPr id="8" name="研究要留下什麼？">
            <a:extLst xmlns:a="http://schemas.openxmlformats.org/drawingml/2006/main">
              <a:ext uri="{FF2B5EF4-FFF2-40B4-BE49-F238E27FC236}">
                <a16:creationId xmlns:a16="http://schemas.microsoft.com/office/drawing/2014/main" id="{A53BC167-7B07-4513-8D4D-7502B7E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研究要留下什麼？</a:t>
            </a:r>
          </a:p>
        </p:txBody>
      </p:sp>
      <p:sp>
        <p:nvSpPr>
          <p:cNvPr id="9" name="本次桿次、逐顆材料、實際槽位、計時與操作事件，供主管、四台天">
            <a:extLst xmlns:a="http://schemas.openxmlformats.org/drawingml/2006/main">
              <a:ext uri="{FF2B5EF4-FFF2-40B4-BE49-F238E27FC236}">
                <a16:creationId xmlns:a16="http://schemas.microsoft.com/office/drawing/2014/main" id="{E6089E1F-549D-40D6-A041-FCB1A34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本次桿次、逐顆材料、實際槽位、計時與操作事件，供主管、四台天車及後續追溯共同查詢。</a:t>
            </a:r>
          </a:p>
        </p:txBody>
      </p:sp>
      <p:sp>
        <p:nvSpPr>
          <p:cNvPr id="10" name="目標是資訊一致與可追溯；設備維修費及客訴改善仍待量測。">
            <a:extLst xmlns:a="http://schemas.openxmlformats.org/drawingml/2006/main">
              <a:ext uri="{FF2B5EF4-FFF2-40B4-BE49-F238E27FC236}">
                <a16:creationId xmlns:a16="http://schemas.microsoft.com/office/drawing/2014/main" id="{3DE794A0-9BE5-47D3-B18B-201AE5EC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目標是資訊一致與可追溯；設備維修費及客訴改善仍待量測。</a:t>
            </a:r>
          </a:p>
        </p:txBody>
      </p:sp>
    </p:spTree>
    <p:extLst>
      <p:ext uri="{BB962C8B-B14F-4D97-AF65-F5344CB8AC3E}">
        <p14:creationId xmlns:p14="http://schemas.microsoft.com/office/powerpoint/2010/main" val="14361906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現場痛點｜盤元入槽後，標示帶就看不到">
            <a:extLst xmlns:a="http://schemas.openxmlformats.org/drawingml/2006/main">
              <a:ext uri="{FF2B5EF4-FFF2-40B4-BE49-F238E27FC236}">
                <a16:creationId xmlns:a16="http://schemas.microsoft.com/office/drawing/2014/main" id="{5045C67A-6E02-4FE7-AD65-AF68065A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現場痛點｜盤元入槽後，標示帶就看不到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A9F30CB-8C74-42B9-9694-F8B0E515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DC15BAE4-A3AB-44B6-A4FB-AECE5C4B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看不清，也可能已被遮住">
            <a:extLst xmlns:a="http://schemas.openxmlformats.org/drawingml/2006/main">
              <a:ext uri="{FF2B5EF4-FFF2-40B4-BE49-F238E27FC236}">
                <a16:creationId xmlns:a16="http://schemas.microsoft.com/office/drawing/2014/main" id="{2AE4C6ED-FB48-46B6-99C9-A6D1FAE7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看不清，也可能已被遮住</a:t>
            </a:r>
          </a:p>
        </p:txBody>
      </p:sp>
      <p:sp>
        <p:nvSpPr>
          <p:cNvPr id="5" name="產線長、槽體距離遠；盤元浸入槽內後，標示帶顏色無法持續辨認。">
            <a:extLst xmlns:a="http://schemas.openxmlformats.org/drawingml/2006/main">
              <a:ext uri="{FF2B5EF4-FFF2-40B4-BE49-F238E27FC236}">
                <a16:creationId xmlns:a16="http://schemas.microsoft.com/office/drawing/2014/main" id="{40F12AC8-4BFC-4C48-A2C9-523AD64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產線長、槽體距離遠；盤元浸入槽內後，標示帶顏色無法持續辨認。</a:t>
            </a:r>
          </a:p>
        </p:txBody>
      </p:sp>
      <p:sp>
        <p:nvSpPr>
          <p:cNvPr id="6" name="計時、交接與急件資訊分散">
            <a:extLst xmlns:a="http://schemas.openxmlformats.org/drawingml/2006/main">
              <a:ext uri="{FF2B5EF4-FFF2-40B4-BE49-F238E27FC236}">
                <a16:creationId xmlns:a16="http://schemas.microsoft.com/office/drawing/2014/main" id="{60DE63C9-C927-449D-BA07-A3107A33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計時、交接與急件資訊分散</a:t>
            </a:r>
          </a:p>
        </p:txBody>
      </p:sp>
      <p:sp>
        <p:nvSpPr>
          <p:cNvPr id="7" name="不確定重置是否完成、哪桿應先吊出；主管插單與四台天車之間存在">
            <a:extLst xmlns:a="http://schemas.openxmlformats.org/drawingml/2006/main">
              <a:ext uri="{FF2B5EF4-FFF2-40B4-BE49-F238E27FC236}">
                <a16:creationId xmlns:a16="http://schemas.microsoft.com/office/drawing/2014/main" id="{EA00C4C7-E588-4DA7-8CA5-A621A5F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不確定重置是否完成、哪桿應先吊出；主管插單與四台天車之間存在口頭傳遞的時間差。</a:t>
            </a:r>
          </a:p>
        </p:txBody>
      </p:sp>
      <p:sp>
        <p:nvSpPr>
          <p:cNvPr id="8" name="資料錯配會延伸成加工風險">
            <a:extLst xmlns:a="http://schemas.openxmlformats.org/drawingml/2006/main">
              <a:ext uri="{FF2B5EF4-FFF2-40B4-BE49-F238E27FC236}">
                <a16:creationId xmlns:a16="http://schemas.microsoft.com/office/drawing/2014/main" id="{30D901F3-36E0-416C-8994-9C04117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資料錯配會延伸成加工風險</a:t>
            </a:r>
          </a:p>
        </p:txBody>
      </p:sp>
      <p:sp>
        <p:nvSpPr>
          <p:cNvPr id="9" name="不同材質或條件被配在同桿，需要有可核對的逐顆明細；相容規則與">
            <a:extLst xmlns:a="http://schemas.openxmlformats.org/drawingml/2006/main">
              <a:ext uri="{FF2B5EF4-FFF2-40B4-BE49-F238E27FC236}">
                <a16:creationId xmlns:a16="http://schemas.microsoft.com/office/drawing/2014/main" id="{3EF4E657-E0FC-4362-AA03-C79135F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不同材質或條件被配在同桿，需要有可核對的逐顆明細；相容規則與攔截成效列為後續驗證。</a:t>
            </a:r>
          </a:p>
        </p:txBody>
      </p:sp>
      <p:sp>
        <p:nvSpPr>
          <p:cNvPr id="10" name="共享槽位、桿號、材料與時間，讓看不見的標示資訊仍可查。">
            <a:extLst xmlns:a="http://schemas.openxmlformats.org/drawingml/2006/main">
              <a:ext uri="{FF2B5EF4-FFF2-40B4-BE49-F238E27FC236}">
                <a16:creationId xmlns:a16="http://schemas.microsoft.com/office/drawing/2014/main" id="{482226EB-4A9D-44A7-8FF9-55294461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共享槽位、桿號、材料與時間，讓看不見的標示資訊仍可查。</a:t>
            </a:r>
          </a:p>
        </p:txBody>
      </p:sp>
    </p:spTree>
    <p:extLst>
      <p:ext uri="{BB962C8B-B14F-4D97-AF65-F5344CB8AC3E}">
        <p14:creationId xmlns:p14="http://schemas.microsoft.com/office/powerpoint/2010/main" val="18749426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為何從 AR 收斂為 MES＋即時 3D？">
            <a:extLst xmlns:a="http://schemas.openxmlformats.org/drawingml/2006/main">
              <a:ext uri="{FF2B5EF4-FFF2-40B4-BE49-F238E27FC236}">
                <a16:creationId xmlns:a16="http://schemas.microsoft.com/office/drawing/2014/main" id="{396FA667-B19E-47B9-A091-EFC4BE24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 AR 收斂為 MES＋即時 3D？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197D7951-A2D6-4155-BD1F-20CC117D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D4916899-8C4D-4690-81C9-A43C0E21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7A9920-FA19-4E61-979B-1DC4BA5BE71E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438650"/>
                <a:gridCol w="4438650"/>
              </a:tblGrid>
              <a:tr h="7715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判斷面向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AR 現場疊圖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3D 槽位畫面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每日準備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A／B 定位、空間對齊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登入後取得同一份資料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長產線與移動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跨區追蹤、漂移與恢復待驗證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各台預設區域，可查看全場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裝置與執行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相機、追蹤及 AR 執行環境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一般網頁 3D 與計時切換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研究核心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空間疊圖是曾探索的呈現方式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資訊一致、判讀、協作與追溯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Android／iOS 已能定錨；核心需求無須精準疊圖也能服">
            <a:extLst xmlns:a="http://schemas.openxmlformats.org/drawingml/2006/main">
              <a:ext uri="{FF2B5EF4-FFF2-40B4-BE49-F238E27FC236}">
                <a16:creationId xmlns:a16="http://schemas.microsoft.com/office/drawing/2014/main" id="{3097559A-95E8-48E6-8ED3-0959A868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Android／iOS 已能定錨；核心需求無須精準疊圖也能服務現場。</a:t>
            </a:r>
          </a:p>
        </p:txBody>
      </p:sp>
    </p:spTree>
    <p:extLst>
      <p:ext uri="{BB962C8B-B14F-4D97-AF65-F5344CB8AC3E}">
        <p14:creationId xmlns:p14="http://schemas.microsoft.com/office/powerpoint/2010/main" val="5079068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現場方案｜天車支架＋可拆式平板">
            <a:extLst xmlns:a="http://schemas.openxmlformats.org/drawingml/2006/main">
              <a:ext uri="{FF2B5EF4-FFF2-40B4-BE49-F238E27FC236}">
                <a16:creationId xmlns:a16="http://schemas.microsoft.com/office/drawing/2014/main" id="{2130B3E5-260E-48BB-9593-511B0AA3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現場方案｜天車支架＋可拆式平板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A3A4966-5DF4-4301-BEE9-B28645D9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9AC1808C-613E-46BA-8B6E-E209B762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支架固定於各台天車操作位置">
            <a:extLst xmlns:a="http://schemas.openxmlformats.org/drawingml/2006/main">
              <a:ext uri="{FF2B5EF4-FFF2-40B4-BE49-F238E27FC236}">
                <a16:creationId xmlns:a16="http://schemas.microsoft.com/office/drawing/2014/main" id="{FC3E038A-0A78-41FA-89CC-7801BD3B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支架固定於各台天車操作位置</a:t>
            </a:r>
          </a:p>
        </p:txBody>
      </p:sp>
      <p:sp>
        <p:nvSpPr>
          <p:cNvPr id="5" name="採類似護理推車的可調支架；支架隨車移動，操作員不必長時間手持">
            <a:extLst xmlns:a="http://schemas.openxmlformats.org/drawingml/2006/main">
              <a:ext uri="{FF2B5EF4-FFF2-40B4-BE49-F238E27FC236}">
                <a16:creationId xmlns:a16="http://schemas.microsoft.com/office/drawing/2014/main" id="{91436365-AAE4-46CA-AF24-B5E76B57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採類似護理推車的可調支架；支架隨車移動，操作員不必長時間手持或配戴眼鏡。</a:t>
            </a:r>
          </a:p>
        </p:txBody>
      </p:sp>
      <p:sp>
        <p:nvSpPr>
          <p:cNvPr id="6" name="上工裝回，收工帶回實驗室">
            <a:extLst xmlns:a="http://schemas.openxmlformats.org/drawingml/2006/main">
              <a:ext uri="{FF2B5EF4-FFF2-40B4-BE49-F238E27FC236}">
                <a16:creationId xmlns:a16="http://schemas.microsoft.com/office/drawing/2014/main" id="{A409E42D-0003-4A33-8C14-02B6B522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上工裝回，收工帶回實驗室</a:t>
            </a:r>
          </a:p>
        </p:txBody>
      </p:sp>
      <p:sp>
        <p:nvSpPr>
          <p:cNvPr id="7" name="平板用於槽位與計時資訊，收工拆下保管、充電，減少暴露於悶熱及">
            <a:extLst xmlns:a="http://schemas.openxmlformats.org/drawingml/2006/main">
              <a:ext uri="{FF2B5EF4-FFF2-40B4-BE49-F238E27FC236}">
                <a16:creationId xmlns:a16="http://schemas.microsoft.com/office/drawing/2014/main" id="{DDB4D419-7D08-46F3-AE7F-3EE97AF6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平板用於槽位與計時資訊，收工拆下保管、充電，減少暴露於悶熱及酸氣的時間。</a:t>
            </a:r>
          </a:p>
        </p:txBody>
      </p:sp>
      <p:sp>
        <p:nvSpPr>
          <p:cNvPr id="8" name="四台天車共用資料，視角可各自選擇">
            <a:extLst xmlns:a="http://schemas.openxmlformats.org/drawingml/2006/main">
              <a:ext uri="{FF2B5EF4-FFF2-40B4-BE49-F238E27FC236}">
                <a16:creationId xmlns:a16="http://schemas.microsoft.com/office/drawing/2014/main" id="{42E2D9D4-E830-43CD-9E99-3640B475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四台天車共用資料，視角可各自選擇</a:t>
            </a:r>
          </a:p>
        </p:txBody>
      </p:sp>
      <p:sp>
        <p:nvSpPr>
          <p:cNvPr id="9" name="主管與操作員使用同一桿次及急件順位；各台可看負責區域或全場，">
            <a:extLst xmlns:a="http://schemas.openxmlformats.org/drawingml/2006/main">
              <a:ext uri="{FF2B5EF4-FFF2-40B4-BE49-F238E27FC236}">
                <a16:creationId xmlns:a16="http://schemas.microsoft.com/office/drawing/2014/main" id="{1450888B-DE45-4433-9AFA-38260E74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主管與操作員使用同一桿次及急件順位；各台可看負責區域或全場，無須每日走到同一錨點。</a:t>
            </a:r>
          </a:p>
        </p:txBody>
      </p:sp>
      <p:sp>
        <p:nvSpPr>
          <p:cNvPr id="10" name="支架尚待現場試行；耐蝕、固定安全與設備壽命不能先宣稱已改善。">
            <a:extLst xmlns:a="http://schemas.openxmlformats.org/drawingml/2006/main">
              <a:ext uri="{FF2B5EF4-FFF2-40B4-BE49-F238E27FC236}">
                <a16:creationId xmlns:a16="http://schemas.microsoft.com/office/drawing/2014/main" id="{C81F3A5C-86A7-496C-9EDE-39CCB186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支架尚待現場試行；耐蝕、固定安全與設備壽命不能先宣稱已改善。</a:t>
            </a:r>
          </a:p>
        </p:txBody>
      </p:sp>
    </p:spTree>
    <p:extLst>
      <p:ext uri="{BB962C8B-B14F-4D97-AF65-F5344CB8AC3E}">
        <p14:creationId xmlns:p14="http://schemas.microsoft.com/office/powerpoint/2010/main" val="1015065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操作介面收斂｜計時與 3D 一次只看一種">
            <a:extLst xmlns:a="http://schemas.openxmlformats.org/drawingml/2006/main">
              <a:ext uri="{FF2B5EF4-FFF2-40B4-BE49-F238E27FC236}">
                <a16:creationId xmlns:a16="http://schemas.microsoft.com/office/drawing/2014/main" id="{9649B0FF-5782-409A-9E1D-E83E7551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操作介面收斂｜計時與 3D 一次只看一種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A279DF6C-112C-4563-AB0F-3B4E784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3EDE983D-0D13-436E-A84C-693AB982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計時作業">
            <a:extLst xmlns:a="http://schemas.openxmlformats.org/drawingml/2006/main">
              <a:ext uri="{FF2B5EF4-FFF2-40B4-BE49-F238E27FC236}">
                <a16:creationId xmlns:a16="http://schemas.microsoft.com/office/drawing/2014/main" id="{BDB79110-2F23-4B75-BEA2-C779251F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計時作業</a:t>
            </a:r>
          </a:p>
        </p:txBody>
      </p:sp>
      <p:sp>
        <p:nvSpPr>
          <p:cNvPr id="5" name="核對桿號與逐顆明細，選擇實際槽位及浸泡時間，確認後開始計時。">
            <a:extLst xmlns:a="http://schemas.openxmlformats.org/drawingml/2006/main">
              <a:ext uri="{FF2B5EF4-FFF2-40B4-BE49-F238E27FC236}">
                <a16:creationId xmlns:a16="http://schemas.microsoft.com/office/drawing/2014/main" id="{A7157677-B839-4132-98EE-4F783241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核對桿號與逐顆明細，選擇實際槽位及浸泡時間，確認後開始計時。</a:t>
            </a:r>
          </a:p>
        </p:txBody>
      </p:sp>
      <p:sp>
        <p:nvSpPr>
          <p:cNvPr id="6" name="查看 3D">
            <a:extLst xmlns:a="http://schemas.openxmlformats.org/drawingml/2006/main">
              <a:ext uri="{FF2B5EF4-FFF2-40B4-BE49-F238E27FC236}">
                <a16:creationId xmlns:a16="http://schemas.microsoft.com/office/drawing/2014/main" id="{6BCD5656-1775-4655-B1EC-CB7AD164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查看 3D</a:t>
            </a:r>
          </a:p>
        </p:txBody>
      </p:sp>
      <p:sp>
        <p:nvSpPr>
          <p:cNvPr id="7" name="按一個入口開啟槽位圖；字卡顯示桿號、計時與急件數字，點字卡查">
            <a:extLst xmlns:a="http://schemas.openxmlformats.org/drawingml/2006/main">
              <a:ext uri="{FF2B5EF4-FFF2-40B4-BE49-F238E27FC236}">
                <a16:creationId xmlns:a16="http://schemas.microsoft.com/office/drawing/2014/main" id="{6DF6B07C-B5E6-45D0-BC14-BCB321B0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按一個入口開啟槽位圖；字卡顯示桿號、計時與急件數字，點字卡查看逐顆材料。</a:t>
            </a:r>
          </a:p>
        </p:txBody>
      </p:sp>
      <p:sp>
        <p:nvSpPr>
          <p:cNvPr id="8" name="返回計時">
            <a:extLst xmlns:a="http://schemas.openxmlformats.org/drawingml/2006/main">
              <a:ext uri="{FF2B5EF4-FFF2-40B4-BE49-F238E27FC236}">
                <a16:creationId xmlns:a16="http://schemas.microsoft.com/office/drawing/2014/main" id="{DCA26C03-27AC-48AF-847E-8EAC487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返回計時</a:t>
            </a:r>
          </a:p>
        </p:txBody>
      </p:sp>
      <p:sp>
        <p:nvSpPr>
          <p:cNvPr id="9" name="隱藏 3D 回到作業畫面，原計時繼續；次要查詢與範圍選擇收合">
            <a:extLst xmlns:a="http://schemas.openxmlformats.org/drawingml/2006/main">
              <a:ext uri="{FF2B5EF4-FFF2-40B4-BE49-F238E27FC236}">
                <a16:creationId xmlns:a16="http://schemas.microsoft.com/office/drawing/2014/main" id="{3BB8143F-C174-4A0F-AAFF-2FACED45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隱藏 3D 回到作業畫面，原計時繼續；次要查詢與範圍選擇收合，減少主畫面按鈕。</a:t>
            </a:r>
          </a:p>
        </p:txBody>
      </p:sp>
      <p:sp>
        <p:nvSpPr>
          <p:cNvPr id="10" name="保留 MES 登入、權限及操作確認；3D 提示不直接控制天車">
            <a:extLst xmlns:a="http://schemas.openxmlformats.org/drawingml/2006/main">
              <a:ext uri="{FF2B5EF4-FFF2-40B4-BE49-F238E27FC236}">
                <a16:creationId xmlns:a16="http://schemas.microsoft.com/office/drawing/2014/main" id="{16AED920-592D-4F4B-BB0C-93DBDB20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保留 MES 登入、權限及操作確認；3D 提示不直接控制天車。</a:t>
            </a:r>
          </a:p>
        </p:txBody>
      </p:sp>
    </p:spTree>
    <p:extLst>
      <p:ext uri="{BB962C8B-B14F-4D97-AF65-F5344CB8AC3E}">
        <p14:creationId xmlns:p14="http://schemas.microsoft.com/office/powerpoint/2010/main" val="12881763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自主表 → 天車 → 3D：建立共同資料鏈">
            <a:extLst xmlns:a="http://schemas.openxmlformats.org/drawingml/2006/main">
              <a:ext uri="{FF2B5EF4-FFF2-40B4-BE49-F238E27FC236}">
                <a16:creationId xmlns:a16="http://schemas.microsoft.com/office/drawing/2014/main" id="{7582F04D-BE32-4905-A2B4-3612ABAB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 → 天車 → 3D：建立共同資料鏈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1AE41D2-18E7-42AE-9077-DAF1F937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C8FB2E40-4B1F-40DF-A875-A599E693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自主表">
            <a:extLst xmlns:a="http://schemas.openxmlformats.org/drawingml/2006/main">
              <a:ext uri="{FF2B5EF4-FFF2-40B4-BE49-F238E27FC236}">
                <a16:creationId xmlns:a16="http://schemas.microsoft.com/office/drawing/2014/main" id="{2FFE6976-F984-494E-8727-698A095E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</a:t>
            </a:r>
          </a:p>
        </p:txBody>
      </p:sp>
      <p:sp>
        <p:nvSpPr>
          <p:cNvPr id="5" name="最新未鎖定 OPEN&#10;已標示入洗的盤元">
            <a:extLst xmlns:a="http://schemas.openxmlformats.org/drawingml/2006/main">
              <a:ext uri="{FF2B5EF4-FFF2-40B4-BE49-F238E27FC236}">
                <a16:creationId xmlns:a16="http://schemas.microsoft.com/office/drawing/2014/main" id="{A2810C85-02A6-4D78-A000-A9579EF8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最新未鎖定 OPEN</a:t>
            </a:r>
          </a:p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已標示入洗的盤元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D5B6924F-3900-4FE2-94A6-0792742A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7" name="同桿彙整">
            <a:extLst xmlns:a="http://schemas.openxmlformats.org/drawingml/2006/main">
              <a:ext uri="{FF2B5EF4-FFF2-40B4-BE49-F238E27FC236}">
                <a16:creationId xmlns:a16="http://schemas.microsoft.com/office/drawing/2014/main" id="{A4A0D7E6-2ABF-4DE8-A9EB-D1697818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同桿彙整</a:t>
            </a:r>
          </a:p>
        </p:txBody>
      </p:sp>
      <p:sp>
        <p:nvSpPr>
          <p:cNvPr id="8" name="桿號＋本次批次&#10;逐顆材料關聯">
            <a:extLst xmlns:a="http://schemas.openxmlformats.org/drawingml/2006/main">
              <a:ext uri="{FF2B5EF4-FFF2-40B4-BE49-F238E27FC236}">
                <a16:creationId xmlns:a16="http://schemas.microsoft.com/office/drawing/2014/main" id="{C5431D6B-3654-4FC1-9FD8-2CF81031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桿號＋本次批次</a:t>
            </a:r>
          </a:p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逐顆材料關聯</a:t>
            </a:r>
          </a:p>
        </p:txBody>
      </p:sp>
      <p:sp>
        <p:nvSpPr>
          <p:cNvPr id="9" name="→">
            <a:extLst xmlns:a="http://schemas.openxmlformats.org/drawingml/2006/main">
              <a:ext uri="{FF2B5EF4-FFF2-40B4-BE49-F238E27FC236}">
                <a16:creationId xmlns:a16="http://schemas.microsoft.com/office/drawing/2014/main" id="{4D390D19-4904-41D8-8504-71752132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台車確認">
            <a:extLst xmlns:a="http://schemas.openxmlformats.org/drawingml/2006/main">
              <a:ext uri="{FF2B5EF4-FFF2-40B4-BE49-F238E27FC236}">
                <a16:creationId xmlns:a16="http://schemas.microsoft.com/office/drawing/2014/main" id="{3C4A93F3-CF4B-427B-8430-F6789AC5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台車確認</a:t>
            </a:r>
          </a:p>
        </p:txBody>
      </p:sp>
      <p:sp>
        <p:nvSpPr>
          <p:cNvPr id="11" name="實際槽位＋時間&#10;記錄入槽與出槽">
            <a:extLst xmlns:a="http://schemas.openxmlformats.org/drawingml/2006/main">
              <a:ext uri="{FF2B5EF4-FFF2-40B4-BE49-F238E27FC236}">
                <a16:creationId xmlns:a16="http://schemas.microsoft.com/office/drawing/2014/main" id="{FD7AB1D5-A66C-472F-AA64-FE6968F6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實際槽位＋時間</a:t>
            </a:r>
          </a:p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記錄入槽與出槽</a:t>
            </a:r>
          </a:p>
        </p:txBody>
      </p:sp>
      <p:sp>
        <p:nvSpPr>
          <p:cNvPr id="12" name="→">
            <a:extLst xmlns:a="http://schemas.openxmlformats.org/drawingml/2006/main">
              <a:ext uri="{FF2B5EF4-FFF2-40B4-BE49-F238E27FC236}">
                <a16:creationId xmlns:a16="http://schemas.microsoft.com/office/drawing/2014/main" id="{9245840B-5C4A-4C48-AE5B-E0E4FC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共同畫面">
            <a:extLst xmlns:a="http://schemas.openxmlformats.org/drawingml/2006/main">
              <a:ext uri="{FF2B5EF4-FFF2-40B4-BE49-F238E27FC236}">
                <a16:creationId xmlns:a16="http://schemas.microsoft.com/office/drawing/2014/main" id="{07F77693-61C7-4612-AB96-9BD78E8E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共同畫面</a:t>
            </a:r>
          </a:p>
        </p:txBody>
      </p:sp>
      <p:sp>
        <p:nvSpPr>
          <p:cNvPr id="14" name="主管＋四台天車&#10;2D／3D 同步">
            <a:extLst xmlns:a="http://schemas.openxmlformats.org/drawingml/2006/main">
              <a:ext uri="{FF2B5EF4-FFF2-40B4-BE49-F238E27FC236}">
                <a16:creationId xmlns:a16="http://schemas.microsoft.com/office/drawing/2014/main" id="{1865C1FF-9C52-4BBB-8185-5A808F26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主管＋四台天車</a:t>
            </a:r>
          </a:p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2D／3D 同步</a:t>
            </a:r>
          </a:p>
        </p:txBody>
      </p:sp>
      <p:sp>
        <p:nvSpPr>
          <p:cNvPr id="15" name="自主表逐顆洗出 → 同批全部完成 → 移除目前字卡、保留完成">
            <a:extLst xmlns:a="http://schemas.openxmlformats.org/drawingml/2006/main">
              <a:ext uri="{FF2B5EF4-FFF2-40B4-BE49-F238E27FC236}">
                <a16:creationId xmlns:a16="http://schemas.microsoft.com/office/drawing/2014/main" id="{56FAFC76-C2BA-40CF-ACA6-35EA6DE8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自主表逐顆洗出 → 同批全部完成 → 移除目前字卡、保留完成歷程</a:t>
            </a:r>
          </a:p>
        </p:txBody>
      </p:sp>
      <p:sp>
        <p:nvSpPr>
          <p:cNvPr id="16" name="自主表「洗出」與天車「出槽」分開判斷，不能互相推定。">
            <a:extLst xmlns:a="http://schemas.openxmlformats.org/drawingml/2006/main">
              <a:ext uri="{FF2B5EF4-FFF2-40B4-BE49-F238E27FC236}">
                <a16:creationId xmlns:a16="http://schemas.microsoft.com/office/drawing/2014/main" id="{34AD12C9-6407-411C-B977-BD176E15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自主表「洗出」與天車「出槽」分開判斷，不能互相推定。</a:t>
            </a:r>
          </a:p>
        </p:txBody>
      </p:sp>
    </p:spTree>
    <p:extLst>
      <p:ext uri="{BB962C8B-B14F-4D97-AF65-F5344CB8AC3E}">
        <p14:creationId xmlns:p14="http://schemas.microsoft.com/office/powerpoint/2010/main" val="7324458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一｜有入洗資料，天車頁卻讀不到">
            <a:extLst xmlns:a="http://schemas.openxmlformats.org/drawingml/2006/main">
              <a:ext uri="{FF2B5EF4-FFF2-40B4-BE49-F238E27FC236}">
                <a16:creationId xmlns:a16="http://schemas.microsoft.com/office/drawing/2014/main" id="{990C2A72-46E4-4489-9B24-3076C60E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問題一｜有入洗資料，天車頁卻讀不到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05BDC40B-9A00-4B64-AFEE-811CA01A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F4AF794E-9BDF-44F2-A326-4DA6FCA0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C227A-C6BA-4B2A-9193-E5376BA97B38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667250"/>
                <a:gridCol w="3590925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遇到的問題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修正方法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驗證界線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只讀今日表，漏掉 9/29 資料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依工作日期選最新 OPEN 表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顯示來源日期與非今日提示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較新鎖定表不應優先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OPEN 不回退鎖定表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 DEMO 桿占位、訂單虛構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先備份，再清除 3 支範例桿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 16 支自主表來源桿次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核對來源關聯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未刪自主表盤元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已入洗但沒有實際槽位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先放待入槽；由台車確認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不繼承舊範例位置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不把桿號當槽號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不虛構槽內位置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資料日期、來源與位置責任要明確，才能避免把舊資料當成現況。">
            <a:extLst xmlns:a="http://schemas.openxmlformats.org/drawingml/2006/main">
              <a:ext uri="{FF2B5EF4-FFF2-40B4-BE49-F238E27FC236}">
                <a16:creationId xmlns:a16="http://schemas.microsoft.com/office/drawing/2014/main" id="{AF5DBA6D-7CCE-4586-B5D4-909F9756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資料日期、來源與位置責任要明確，才能避免把舊資料當成現況。</a:t>
            </a:r>
          </a:p>
        </p:txBody>
      </p:sp>
    </p:spTree>
    <p:extLst>
      <p:ext uri="{BB962C8B-B14F-4D97-AF65-F5344CB8AC3E}">
        <p14:creationId xmlns:p14="http://schemas.microsoft.com/office/powerpoint/2010/main" val="82020779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問題二｜顆別格式不同，同桿明細不完整">
            <a:extLst xmlns:a="http://schemas.openxmlformats.org/drawingml/2006/main">
              <a:ext uri="{FF2B5EF4-FFF2-40B4-BE49-F238E27FC236}">
                <a16:creationId xmlns:a16="http://schemas.microsoft.com/office/drawing/2014/main" id="{6D9BAD25-1545-4B2A-940E-23D1B844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問題二｜顆別格式不同，同桿明細不完整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A46C39E-952D-431D-B428-F962D912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89161B7B-EED8-4056-9E79-A7590957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來源格式">
            <a:extLst xmlns:a="http://schemas.openxmlformats.org/drawingml/2006/main">
              <a:ext uri="{FF2B5EF4-FFF2-40B4-BE49-F238E27FC236}">
                <a16:creationId xmlns:a16="http://schemas.microsoft.com/office/drawing/2014/main" id="{49DE69B5-C214-46F8-B466-678FE07E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來源格式</a:t>
            </a:r>
          </a:p>
        </p:txBody>
      </p:sp>
      <p:sp>
        <p:nvSpPr>
          <p:cNvPr id="5" name="正規化後">
            <a:extLst xmlns:a="http://schemas.openxmlformats.org/drawingml/2006/main">
              <a:ext uri="{FF2B5EF4-FFF2-40B4-BE49-F238E27FC236}">
                <a16:creationId xmlns:a16="http://schemas.microsoft.com/office/drawing/2014/main" id="{32FC2EC6-BAB5-45F3-B96E-C30165EC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正規化後</a:t>
            </a:r>
          </a:p>
        </p:txBody>
      </p:sp>
      <p:sp>
        <p:nvSpPr>
          <p:cNvPr id="6" name="同桿／同批次">
            <a:extLst xmlns:a="http://schemas.openxmlformats.org/drawingml/2006/main">
              <a:ext uri="{FF2B5EF4-FFF2-40B4-BE49-F238E27FC236}">
                <a16:creationId xmlns:a16="http://schemas.microsoft.com/office/drawing/2014/main" id="{133F3723-16CF-4EF1-A347-0A4BE614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同桿／同批次</a:t>
            </a:r>
          </a:p>
        </p:txBody>
      </p:sp>
      <p:sp>
        <p:nvSpPr>
          <p:cNvPr id="7" name="(11-1)&#10;(11-2)&#10;11-3">
            <a:extLst xmlns:a="http://schemas.openxmlformats.org/drawingml/2006/main">
              <a:ext uri="{FF2B5EF4-FFF2-40B4-BE49-F238E27FC236}">
                <a16:creationId xmlns:a16="http://schemas.microsoft.com/office/drawing/2014/main" id="{009ACC73-435C-4532-A1AD-7F7852B9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(11-1)</a:t>
            </a:r>
          </a:p>
          <a:p xmlns:a="http://schemas.openxmlformats.org/drawingml/2006/main">
            <a: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(11-2)</a:t>
            </a:r>
          </a:p>
          <a:p xmlns:a="http://schemas.openxmlformats.org/drawingml/2006/main">
            <a: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8" name="→">
            <a:extLst xmlns:a="http://schemas.openxmlformats.org/drawingml/2006/main">
              <a:ext uri="{FF2B5EF4-FFF2-40B4-BE49-F238E27FC236}">
                <a16:creationId xmlns:a16="http://schemas.microsoft.com/office/drawing/2014/main" id="{0FAB5060-CD2F-4C1F-88C1-5536BB8D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11-1&#10;11-2&#10;11-3">
            <a:extLst xmlns:a="http://schemas.openxmlformats.org/drawingml/2006/main">
              <a:ext uri="{FF2B5EF4-FFF2-40B4-BE49-F238E27FC236}">
                <a16:creationId xmlns:a16="http://schemas.microsoft.com/office/drawing/2014/main" id="{D32FF07A-3B10-40B1-A5A5-EE7F189E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11-1</a:t>
            </a:r>
          </a:p>
          <a:p xmlns:a="http://schemas.openxmlformats.org/drawingml/2006/main">
            <a: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11-2</a:t>
            </a:r>
          </a:p>
          <a:p xmlns:a="http://schemas.openxmlformats.org/drawingml/2006/main">
            <a: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B2A4EA3F-5680-40FE-A370-9198839C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1" name="11 號桿&#10;共 3 顆">
            <a:extLst xmlns:a="http://schemas.openxmlformats.org/drawingml/2006/main">
              <a:ext uri="{FF2B5EF4-FFF2-40B4-BE49-F238E27FC236}">
                <a16:creationId xmlns:a16="http://schemas.microsoft.com/office/drawing/2014/main" id="{6F0B5A5A-1388-49AA-ADEA-BE1C283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81250"/>
            <a:ext cx="3143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 號桿</a:t>
            </a:r>
          </a:p>
          <a:p xmlns:a="http://schemas.openxmlformats.org/drawingml/2006/main">
            <a: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共 3 顆</a:t>
            </a:r>
          </a:p>
        </p:txBody>
      </p:sp>
      <p:sp>
        <p:nvSpPr>
          <p:cNvPr id="12" name="逐顆保留：訂單／識別碼、材質、線徑、重量、來源紀錄與洗出狀態">
            <a:extLst xmlns:a="http://schemas.openxmlformats.org/drawingml/2006/main">
              <a:ext uri="{FF2B5EF4-FFF2-40B4-BE49-F238E27FC236}">
                <a16:creationId xmlns:a16="http://schemas.microsoft.com/office/drawing/2014/main" id="{F7CE697C-6DA3-45A1-B79F-3FD205F0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逐顆保留：訂單／識別碼、材質、線徑、重量、來源紀錄與洗出狀態。</a:t>
            </a:r>
          </a:p>
        </p:txBody>
      </p:sp>
      <p:sp>
        <p:nvSpPr>
          <p:cNvPr id="13" name="11-1、11-2、11-3 是同桿顆別，不是第 11 槽的">
            <a:extLst xmlns:a="http://schemas.openxmlformats.org/drawingml/2006/main">
              <a:ext uri="{FF2B5EF4-FFF2-40B4-BE49-F238E27FC236}">
                <a16:creationId xmlns:a16="http://schemas.microsoft.com/office/drawing/2014/main" id="{D658A7A4-FA6A-49F3-8D2F-36C5403F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11-1、11-2、11-3 是同桿顆別，不是第 11 槽的三個槽位。</a:t>
            </a:r>
          </a:p>
        </p:txBody>
      </p:sp>
    </p:spTree>
    <p:extLst>
      <p:ext uri="{BB962C8B-B14F-4D97-AF65-F5344CB8AC3E}">
        <p14:creationId xmlns:p14="http://schemas.microsoft.com/office/powerpoint/2010/main" val="10684542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三｜一顆洗出，能否直接移除整桿？">
            <a:extLst xmlns:a="http://schemas.openxmlformats.org/drawingml/2006/main">
              <a:ext uri="{FF2B5EF4-FFF2-40B4-BE49-F238E27FC236}">
                <a16:creationId xmlns:a16="http://schemas.microsoft.com/office/drawing/2014/main" id="{84267F18-863D-4790-87DC-16CF544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問題三｜一顆洗出，能否直接移除整桿？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1A2CF2C-A903-4D91-B8A8-41E59519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8D34DD55-0D7F-461B-A030-566330E2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54F9C-39CD-4360-B86F-F5F81958388F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190750"/>
                <a:gridCol w="4210050"/>
              </a:tblGrid>
              <a:tr h="8810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自主表狀態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整桿判斷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11-1 完成，其他未完成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1／3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保留整桿與未完成明細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11-2 也完成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2／3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繼續保留，顯示逐顆進度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三顆皆有有效旗標與洗出時間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整桿完成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移除目前字卡並關閉明細</a:t>
                      </a:r>
                    </a:p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保留歷史，不刪自主表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回報與查核須分開：使用者曾看到首顆掃描後消失；後續查核時三顆">
            <a:extLst xmlns:a="http://schemas.openxmlformats.org/drawingml/2006/main">
              <a:ext uri="{FF2B5EF4-FFF2-40B4-BE49-F238E27FC236}">
                <a16:creationId xmlns:a16="http://schemas.microsoft.com/office/drawing/2014/main" id="{A818551C-EFBB-433D-823C-972479BA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回報與查核須分開：使用者曾看到首顆掃描後消失；後續查核時三顆各有不同洗出時間，無法據此還原第一顆當下的畫面。</a:t>
            </a:r>
          </a:p>
        </p:txBody>
      </p:sp>
    </p:spTree>
    <p:extLst>
      <p:ext uri="{BB962C8B-B14F-4D97-AF65-F5344CB8AC3E}">
        <p14:creationId xmlns:p14="http://schemas.microsoft.com/office/powerpoint/2010/main" val="4172273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批次規則｜同一桿號不能沿用上一批狀態">
            <a:extLst xmlns:a="http://schemas.openxmlformats.org/drawingml/2006/main">
              <a:ext uri="{FF2B5EF4-FFF2-40B4-BE49-F238E27FC236}">
                <a16:creationId xmlns:a16="http://schemas.microsoft.com/office/drawing/2014/main" id="{2B6F57A4-DC3A-4C07-955E-5550B0F9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批次規則｜同一桿號不能沿用上一批狀態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2D76DCC-FC56-42AA-96A2-0E6D341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AAADDD4F-5CF9-413C-B1C9-5312058B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同一桿號，可能是不同批盤元">
            <a:extLst xmlns:a="http://schemas.openxmlformats.org/drawingml/2006/main">
              <a:ext uri="{FF2B5EF4-FFF2-40B4-BE49-F238E27FC236}">
                <a16:creationId xmlns:a16="http://schemas.microsoft.com/office/drawing/2014/main" id="{CEE0445E-5B15-4BC1-937A-6427256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同一桿號，可能是不同批盤元</a:t>
            </a:r>
          </a:p>
        </p:txBody>
      </p:sp>
      <p:sp>
        <p:nvSpPr>
          <p:cNvPr id="5" name="洗出完成後，11 號桿可能重新裝料；只以「11」作識別，會混">
            <a:extLst xmlns:a="http://schemas.openxmlformats.org/drawingml/2006/main">
              <a:ext uri="{FF2B5EF4-FFF2-40B4-BE49-F238E27FC236}">
                <a16:creationId xmlns:a16="http://schemas.microsoft.com/office/drawing/2014/main" id="{80A7B090-DD6C-4D64-9CB6-91174711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洗出完成後，11 號桿可能重新裝料；只以「11」作識別，會混用新舊明細與作業狀態。</a:t>
            </a:r>
          </a:p>
        </p:txBody>
      </p:sp>
      <p:sp>
        <p:nvSpPr>
          <p:cNvPr id="6" name="桿次需綁定本次來源紀錄">
            <a:extLst xmlns:a="http://schemas.openxmlformats.org/drawingml/2006/main">
              <a:ext uri="{FF2B5EF4-FFF2-40B4-BE49-F238E27FC236}">
                <a16:creationId xmlns:a16="http://schemas.microsoft.com/office/drawing/2014/main" id="{E42D704F-1B44-4793-9058-668B59FA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桿次需綁定本次來源紀錄</a:t>
            </a:r>
          </a:p>
        </p:txBody>
      </p:sp>
      <p:sp>
        <p:nvSpPr>
          <p:cNvPr id="7" name="以自主表與批次來源關聯保存本次逐顆明細；新批次建立獨立桿次，">
            <a:extLst xmlns:a="http://schemas.openxmlformats.org/drawingml/2006/main">
              <a:ext uri="{FF2B5EF4-FFF2-40B4-BE49-F238E27FC236}">
                <a16:creationId xmlns:a16="http://schemas.microsoft.com/office/drawing/2014/main" id="{D36AC8D1-2657-4BB7-9878-7AE29AE8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以自主表與批次來源關聯保存本次逐顆明細；新批次建立獨立桿次，不承接舊槽位、計時或急件。</a:t>
            </a:r>
          </a:p>
        </p:txBody>
      </p:sp>
      <p:sp>
        <p:nvSpPr>
          <p:cNvPr id="8" name="資料異常要能被看見">
            <a:extLst xmlns:a="http://schemas.openxmlformats.org/drawingml/2006/main">
              <a:ext uri="{FF2B5EF4-FFF2-40B4-BE49-F238E27FC236}">
                <a16:creationId xmlns:a16="http://schemas.microsoft.com/office/drawing/2014/main" id="{AEBC47AE-3A26-4D4C-B465-4BE6F4B3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資料異常要能被看見</a:t>
            </a:r>
          </a:p>
        </p:txBody>
      </p:sp>
      <p:sp>
        <p:nvSpPr>
          <p:cNvPr id="9" name="重複顆別列為衝突，不能默默合併；補登、改桿、跨表與跨日案例列">
            <a:extLst xmlns:a="http://schemas.openxmlformats.org/drawingml/2006/main">
              <a:ext uri="{FF2B5EF4-FFF2-40B4-BE49-F238E27FC236}">
                <a16:creationId xmlns:a16="http://schemas.microsoft.com/office/drawing/2014/main" id="{F8AFF79B-99BB-40AD-88F6-F1B37CCA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重複顆別列為衝突，不能默默合併；補登、改桿、跨表與跨日案例列入後續現場驗收。</a:t>
            </a:r>
          </a:p>
        </p:txBody>
      </p:sp>
      <p:sp>
        <p:nvSpPr>
          <p:cNvPr id="10" name="桿號方便現場辨認；本次批次識別負責確保資料不混用。">
            <a:extLst xmlns:a="http://schemas.openxmlformats.org/drawingml/2006/main">
              <a:ext uri="{FF2B5EF4-FFF2-40B4-BE49-F238E27FC236}">
                <a16:creationId xmlns:a16="http://schemas.microsoft.com/office/drawing/2014/main" id="{635555D6-0045-418D-A412-3E4B3BFA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桿號方便現場辨認；本次批次識別負責確保資料不混用。</a:t>
            </a:r>
          </a:p>
        </p:txBody>
      </p:sp>
    </p:spTree>
    <p:extLst>
      <p:ext uri="{BB962C8B-B14F-4D97-AF65-F5344CB8AC3E}">
        <p14:creationId xmlns:p14="http://schemas.microsoft.com/office/powerpoint/2010/main" val="7476301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四｜資料已洗出，畫面卻要重整才消失">
            <a:extLst xmlns:a="http://schemas.openxmlformats.org/drawingml/2006/main">
              <a:ext uri="{FF2B5EF4-FFF2-40B4-BE49-F238E27FC236}">
                <a16:creationId xmlns:a16="http://schemas.microsoft.com/office/drawing/2014/main" id="{F6998BC4-1917-4F7F-8E72-23403831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問題四｜資料已洗出，畫面卻要重整才消失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72B2A67-6605-4487-8641-1B61CD0D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4909193C-DEEC-488F-9EC3-2A666891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2A3D8-17A5-40B1-8DC8-D134BC876845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32575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發現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卡片更新延遲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約每 2 秒重新核對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切回分頁、恢復顯示時補查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不重整也能看到狀態變化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明細視窗仍停在舊桿次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資料變動更新內容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完成桿次消失時自動關閉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2D／3D 明細與卡片一致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舊模組或失敗回應仍留內容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上游不使用快取、版本化載入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讀取失敗清除舊 3D 字卡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避免把舊字卡當最新資料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已確認明細更新缺口；原卡片延遲的全部成因，仍缺真實請求紀錄。">
            <a:extLst xmlns:a="http://schemas.openxmlformats.org/drawingml/2006/main">
              <a:ext uri="{FF2B5EF4-FFF2-40B4-BE49-F238E27FC236}">
                <a16:creationId xmlns:a16="http://schemas.microsoft.com/office/drawing/2014/main" id="{77F1E541-A029-4F64-9AAA-04E411EC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已確認明細更新缺口；原卡片延遲的全部成因，仍缺真實請求紀錄。</a:t>
            </a:r>
          </a:p>
        </p:txBody>
      </p:sp>
    </p:spTree>
    <p:extLst>
      <p:ext uri="{BB962C8B-B14F-4D97-AF65-F5344CB8AC3E}">
        <p14:creationId xmlns:p14="http://schemas.microsoft.com/office/powerpoint/2010/main" val="176743826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目前證據｜哪些完成，哪些仍待驗收？">
            <a:extLst xmlns:a="http://schemas.openxmlformats.org/drawingml/2006/main">
              <a:ext uri="{FF2B5EF4-FFF2-40B4-BE49-F238E27FC236}">
                <a16:creationId xmlns:a16="http://schemas.microsoft.com/office/drawing/2014/main" id="{4BDCD4AC-2F4C-4468-B3D2-B37ECB0D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目前證據｜哪些完成，哪些仍待驗收？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6994204-1C88-476C-BD5C-856F8F10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818E7A0B-841D-479A-B88D-F606C29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794AC-85C1-4791-B623-B30A22E9B336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762500"/>
                <a:gridCol w="34480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驗證層級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尚不能推論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來源資料與清理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9/29 OPEN 表、逐顆明細核對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 DEMO，保留自主表桿次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不代表正式生產上線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程式與模擬瀏覽器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 → 2／3 → 完成移除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手機 393px／平板 1024px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不代表實際掃碼已整輪回測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使用者與現場驗收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先前 AR 急件修正獲確認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最新洗出／同步修正待實測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整班、多使用者、跨日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斷線恢復及客訴效益未驗收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可以報告「已部署 DEMO 並通過指定測試」，不能把假設寫成">
            <a:extLst xmlns:a="http://schemas.openxmlformats.org/drawingml/2006/main">
              <a:ext uri="{FF2B5EF4-FFF2-40B4-BE49-F238E27FC236}">
                <a16:creationId xmlns:a16="http://schemas.microsoft.com/office/drawing/2014/main" id="{B7A0EF72-E635-45D3-BB90-48C29939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可以報告「已部署 DEMO 並通過指定測試」，不能把假設寫成成效。</a:t>
            </a:r>
          </a:p>
        </p:txBody>
      </p:sp>
    </p:spTree>
    <p:extLst>
      <p:ext uri="{BB962C8B-B14F-4D97-AF65-F5344CB8AC3E}">
        <p14:creationId xmlns:p14="http://schemas.microsoft.com/office/powerpoint/2010/main" val="5992114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論文主軸｜比較現況與 MES＋即時 3D">
            <a:extLst xmlns:a="http://schemas.openxmlformats.org/drawingml/2006/main">
              <a:ext uri="{FF2B5EF4-FFF2-40B4-BE49-F238E27FC236}">
                <a16:creationId xmlns:a16="http://schemas.microsoft.com/office/drawing/2014/main" id="{06526378-D0A4-47EF-8DBA-0838DA37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論文主軸｜比較現況與 MES＋即時 3D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80365E7-CC6F-40A1-B6D7-8029313C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71A8B98A-DDE1-48EC-AE9F-C3B588F5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2C84C-A131-4A16-8931-642C7D553622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905250"/>
                <a:gridCol w="4686300"/>
              </a:tblGrid>
              <a:tr h="7810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分析面向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現況限制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預定量測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入槽後辨識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標示帶被遮住、需再問資料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辨識時間、錯誤數、實物對應率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計時與交接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燈號與口頭交代分散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優先吊出辨識、交接理解時間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四台天車與急件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各自更新，有訊息時間差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狀態一致率、同步與急件反應時間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批次與追溯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逐顆完成與歷程不易核對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整桿誤判數、LOG 完整率、查詢耗時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以相同任務做前後比較；訪談補充操作感受，事件紀錄支撐研究結論">
            <a:extLst xmlns:a="http://schemas.openxmlformats.org/drawingml/2006/main">
              <a:ext uri="{FF2B5EF4-FFF2-40B4-BE49-F238E27FC236}">
                <a16:creationId xmlns:a16="http://schemas.microsoft.com/office/drawing/2014/main" id="{BC640F23-5662-4FFE-9201-039600BF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以相同任務做前後比較；訪談補充操作感受，事件紀錄支撐研究結論。</a:t>
            </a:r>
          </a:p>
        </p:txBody>
      </p:sp>
    </p:spTree>
    <p:extLst>
      <p:ext uri="{BB962C8B-B14F-4D97-AF65-F5344CB8AC3E}">
        <p14:creationId xmlns:p14="http://schemas.microsoft.com/office/powerpoint/2010/main" val="8591068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至 11/10 的進度與驗收安排">
            <a:extLst xmlns:a="http://schemas.openxmlformats.org/drawingml/2006/main">
              <a:ext uri="{FF2B5EF4-FFF2-40B4-BE49-F238E27FC236}">
                <a16:creationId xmlns:a16="http://schemas.microsoft.com/office/drawing/2014/main" id="{3FD7F5E3-100B-4A8F-ACC4-B7755F3D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至 11/10 的進度與驗收安排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FD33CF8-55E3-4847-BF49-AAB49E1F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C9295525-9CCC-48BD-A51C-1DD27A58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AB70E-6DA3-4400-8ED1-CFBCBC0C3F24}"/>
              </a:ext>
            </a:extLst>
          </p:cNvPr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72800" cy="4238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191000"/>
                <a:gridCol w="4257675"/>
              </a:tblGrid>
              <a:tr h="7064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工作重點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應帶到報告的證據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10/27｜上期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客訴 LOG 缺口與天車 AR 展示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現場問題與研究動機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10/28–29｜已進行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收斂 3D、自主表 DEMO、同步修正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版本、資料規則與測試結果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10/30–11/3｜預定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實際逐顆洗出與四台同步複測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1／3、2／3、完成移除與延遲紀錄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11/4–11/9｜預定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單台支架試行、異常案例與基準設計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準備時間、操作步驟、待驗收項目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11/10｜報告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展示資料鏈，討論研究指標與樣本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區分完成成果、限制及下一階段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4757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1/10 DEMO｜從真實來源到畫面一致">
            <a:extLst xmlns:a="http://schemas.openxmlformats.org/drawingml/2006/main">
              <a:ext uri="{FF2B5EF4-FFF2-40B4-BE49-F238E27FC236}">
                <a16:creationId xmlns:a16="http://schemas.microsoft.com/office/drawing/2014/main" id="{EF7A1323-551D-4C24-98CD-E5AB273E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11/10 DEMO｜從真實來源到畫面一致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D4AD30-F1FB-4660-B4EF-68CB6478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201E0E40-E0B6-43D1-915B-B589B831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4" name="第一步：自主表入洗 → 待入槽">
            <a:extLst xmlns:a="http://schemas.openxmlformats.org/drawingml/2006/main">
              <a:ext uri="{FF2B5EF4-FFF2-40B4-BE49-F238E27FC236}">
                <a16:creationId xmlns:a16="http://schemas.microsoft.com/office/drawing/2014/main" id="{B89679A5-DA98-4330-9133-CD78B20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第一步：自主表入洗 → 待入槽</a:t>
            </a:r>
          </a:p>
        </p:txBody>
      </p:sp>
      <p:sp>
        <p:nvSpPr>
          <p:cNvPr id="5" name="確認最新 OPEN 表與資料日期；查看同桿逐顆材料，台車選槽">
            <a:extLst xmlns:a="http://schemas.openxmlformats.org/drawingml/2006/main">
              <a:ext uri="{FF2B5EF4-FFF2-40B4-BE49-F238E27FC236}">
                <a16:creationId xmlns:a16="http://schemas.microsoft.com/office/drawing/2014/main" id="{49DB9DB2-9BB7-4EC3-90CB-BA115817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確認最新 OPEN 表與資料日期；查看同桿逐顆材料，台車選槽並計時，3D 顯示對應字卡。</a:t>
            </a:r>
          </a:p>
        </p:txBody>
      </p:sp>
      <p:sp>
        <p:nvSpPr>
          <p:cNvPr id="6" name="第二步：主管急件 → 四台共同查看">
            <a:extLst xmlns:a="http://schemas.openxmlformats.org/drawingml/2006/main">
              <a:ext uri="{FF2B5EF4-FFF2-40B4-BE49-F238E27FC236}">
                <a16:creationId xmlns:a16="http://schemas.microsoft.com/office/drawing/2014/main" id="{36C0803E-BF2B-4E34-8FA7-3C8AD967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第二步：主管急件 → 四台共同查看</a:t>
            </a:r>
          </a:p>
        </p:txBody>
      </p:sp>
      <p:sp>
        <p:nvSpPr>
          <p:cNvPr id="7" name="主管標示急件 1，確認台車、主管及 3D 看到相同桿次與順位">
            <a:extLst xmlns:a="http://schemas.openxmlformats.org/drawingml/2006/main">
              <a:ext uri="{FF2B5EF4-FFF2-40B4-BE49-F238E27FC236}">
                <a16:creationId xmlns:a16="http://schemas.microsoft.com/office/drawing/2014/main" id="{B62A05A7-47E1-4983-B192-06A0BC73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 1，確認台車、主管及 3D 看到相同桿次與順位；記錄各畫面更新時間。</a:t>
            </a:r>
          </a:p>
        </p:txBody>
      </p:sp>
      <p:sp>
        <p:nvSpPr>
          <p:cNvPr id="8" name="第三步：逐顆洗出 → 整桿完成">
            <a:extLst xmlns:a="http://schemas.openxmlformats.org/drawingml/2006/main">
              <a:ext uri="{FF2B5EF4-FFF2-40B4-BE49-F238E27FC236}">
                <a16:creationId xmlns:a16="http://schemas.microsoft.com/office/drawing/2014/main" id="{EACF1426-4AAA-41DF-A3FC-06EAD751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第三步：逐顆洗出 → 整桿完成</a:t>
            </a:r>
          </a:p>
        </p:txBody>
      </p:sp>
      <p:sp>
        <p:nvSpPr>
          <p:cNvPr id="9" name="依序驗證 1／3、2／3 保留；全數完成才移除卡片、關閉明細">
            <a:extLst xmlns:a="http://schemas.openxmlformats.org/drawingml/2006/main">
              <a:ext uri="{FF2B5EF4-FFF2-40B4-BE49-F238E27FC236}">
                <a16:creationId xmlns:a16="http://schemas.microsoft.com/office/drawing/2014/main" id="{ECF75E07-EAD7-4340-84E9-F5EDAD1E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依序驗證 1／3、2／3 保留；全數完成才移除卡片、關閉明細，歷史仍可查，再驗證同桿換批。</a:t>
            </a:r>
          </a:p>
        </p:txBody>
      </p:sp>
      <p:sp>
        <p:nvSpPr>
          <p:cNvPr id="10" name="使用可測試的新桿次；來源業務操作由有權限人員確認。">
            <a:extLst xmlns:a="http://schemas.openxmlformats.org/drawingml/2006/main">
              <a:ext uri="{FF2B5EF4-FFF2-40B4-BE49-F238E27FC236}">
                <a16:creationId xmlns:a16="http://schemas.microsoft.com/office/drawing/2014/main" id="{E303791B-B289-4530-8B76-2C41FDF8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使用可測試的新桿次；來源業務操作由有權限人員確認。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103966721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85B62-2D36-45AB-BE0E-91D653B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1/4：既有加工需求的來源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6FFD6-0549-4DB7-B526-A060BDA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66A32-6E27-4B6D-A129-DD28AD8D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44FB9-D5E4-4C8A-A963-44A7047E42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a4036eaeb41f7"/>
          <a:stretch xmlns:a="http://schemas.openxmlformats.org/drawingml/2006/main"/>
        </p:blipFill>
        <p:spPr>
          <a:xfrm xmlns:a="http://schemas.openxmlformats.org/drawingml/2006/main">
            <a:off x="88421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08A47F-555F-4704-A5C1-D58BED602F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13a7a6bfd5460e"/>
          <a:stretch xmlns:a="http://schemas.openxmlformats.org/drawingml/2006/main"/>
        </p:blipFill>
        <p:spPr>
          <a:xfrm xmlns:a="http://schemas.openxmlformats.org/drawingml/2006/main">
            <a:off x="459896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2C74BA-6E8F-4C65-A9AD-6439087FF7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b45ec960f403d"/>
          <a:stretch xmlns:a="http://schemas.openxmlformats.org/drawingml/2006/main"/>
        </p:blipFill>
        <p:spPr>
          <a:xfrm xmlns:a="http://schemas.openxmlformats.org/drawingml/2006/main">
            <a:off x="8313712" y="1285875"/>
            <a:ext cx="2784527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55F38-4260-4CA5-A991-8EF79BDA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委外加工排程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55B3B-1D9B-40E0-912F-6830DC2A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盤元催料資料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B0BCF-6793-479F-AFDA-3A66A13B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球化相關催料資料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AD1AC-F06F-4F61-8C4B-6EB62A7C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既有單位決定加工安排；本系統接收需求，從實際入庫開始串接。</a:t>
            </a:r>
          </a:p>
        </p:txBody>
      </p:sp>
    </p:spTree>
    <p:extLst>
      <p:ext uri="{BB962C8B-B14F-4D97-AF65-F5344CB8AC3E}">
        <p14:creationId xmlns:p14="http://schemas.microsoft.com/office/powerpoint/2010/main" val="3293441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6FF42-B238-48B7-A452-F17EDC8C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2/4：生管建立 MES 催料單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24E29-B0DE-4227-ABC9-B19E4F92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7265E-5D8A-4488-A91F-84A5121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52787-264C-4ADF-BBE0-126CB309BA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4b58e2856479f"/>
          <a:stretch xmlns:a="http://schemas.openxmlformats.org/drawingml/2006/main"/>
        </p:blipFill>
        <p:spPr>
          <a:xfrm xmlns:a="http://schemas.openxmlformats.org/drawingml/2006/main">
            <a:off x="609600" y="1745601"/>
            <a:ext cx="10972800" cy="20332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DF5F0-76DB-4226-B60A-46613239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　核對工令與客戶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08910-2F66-498D-8B02-BC899DC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2　登錄規格與預計件數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F6408-80C6-4BE4-A12C-B9003389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3　儲存催料單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CB78E-F440-4788-94E9-883B45BF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紙本需求提供輸入依據，MES 保存工令、製程、材質、線徑與件數。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6C76E-9A7D-4B2E-9868-7E0EAF86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此時只有預計加工資料，是否到場仍待收料人員確認。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41496167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C1737-1832-4D80-B5A9-E4DA7B88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3/4：訂單找資料，條碼認物料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8B733-95B3-4658-94D6-72FD695D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41221-CFC2-46BD-BC56-719F7E2A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FBAA6-0E36-46E2-A462-F37BEE92B3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6460ae685435d"/>
          <a:stretch xmlns:a="http://schemas.openxmlformats.org/drawingml/2006/main"/>
        </p:blipFill>
        <p:spPr>
          <a:xfrm xmlns:a="http://schemas.openxmlformats.org/drawingml/2006/main">
            <a:off x="633459" y="1381125"/>
            <a:ext cx="3381283" cy="3143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3BDEE-4977-4D74-87A8-10E0782AF3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8dc0f5b2f4851"/>
          <a:stretch xmlns:a="http://schemas.openxmlformats.org/drawingml/2006/main"/>
        </p:blipFill>
        <p:spPr>
          <a:xfrm xmlns:a="http://schemas.openxmlformats.org/drawingml/2006/main">
            <a:off x="5031921" y="1333500"/>
            <a:ext cx="2032909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7BC6D-8FBA-4676-970A-DEDE9F7D43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b797c6b7c45bd"/>
          <a:stretch xmlns:a="http://schemas.openxmlformats.org/drawingml/2006/main"/>
        </p:blipFill>
        <p:spPr>
          <a:xfrm xmlns:a="http://schemas.openxmlformats.org/drawingml/2006/main">
            <a:off x="8512687" y="1333500"/>
            <a:ext cx="2500877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EB3E1-0004-4E18-BFB0-FA4F46FA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訂單／工令號碼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717EA-72D1-450D-BD74-CFEB1615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搜尋對應催料單。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CFEB0-8BF7-405E-99F3-34236D8A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原鐵牌條碼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36F2B-A390-4177-876C-4E39D332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可讀取且能區分盤元時沿用。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A2EAB-96BC-4EC1-BD7C-B26C5512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備用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5A32B-A00C-4A1E-919B-D97C4784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原碼損毀時才補貼。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A9ECF-69F6-46C4-B9C3-E4FF06BE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同一工單可串接多顆盤元，每顆保存自己的識別碼與重量。</a:t>
            </a:r>
          </a:p>
        </p:txBody>
      </p:sp>
    </p:spTree>
    <p:extLst>
      <p:ext uri="{BB962C8B-B14F-4D97-AF65-F5344CB8AC3E}">
        <p14:creationId xmlns:p14="http://schemas.microsoft.com/office/powerpoint/2010/main" val="15501286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09B46-E30F-413B-9210-181D3BEA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4/4：收料人員確認入庫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7E104-099A-4A46-8EE4-FF60495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4437B-0E9B-4E95-94C1-17109506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D2860-F924-41F9-B52E-7FB9129B0E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cfb09efcd48ad"/>
          <a:stretch xmlns:a="http://schemas.openxmlformats.org/drawingml/2006/main"/>
        </p:blipFill>
        <p:spPr>
          <a:xfrm xmlns:a="http://schemas.openxmlformats.org/drawingml/2006/main">
            <a:off x="654685" y="1285875"/>
            <a:ext cx="1088263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E049B-925A-4625-88D9-6C39E3F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① 搜尋並選取工單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85BCF-FB17-4DF5-BAA8-D69222BE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② 核對物料資料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BF6BC-5D05-451E-A0B4-4F062D45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③ 掃描條碼／QR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B6975-9213-4F40-B4D3-A08ED8F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④ 確認重量、入庫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F48EC-FF54-4F12-A930-B252B0E6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完成入庫後，後續人員掃描同一識別碼，就能連到既有物料資料。</a:t>
            </a:r>
          </a:p>
        </p:txBody>
      </p:sp>
    </p:spTree>
    <p:extLst>
      <p:ext uri="{BB962C8B-B14F-4D97-AF65-F5344CB8AC3E}">
        <p14:creationId xmlns:p14="http://schemas.microsoft.com/office/powerpoint/2010/main" val="168294653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31163-2DEB-40C1-A6DC-5BCF68F7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洗入回報：掃碼後記錄進場酸洗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984C9-B405-4562-8EC7-BF2A9FB7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C28D2-64E7-4D13-A0F0-AA53CC3C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D90D9-7A62-49A5-BE43-B79186BF71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a7a66b402404c"/>
          <a:stretch xmlns:a="http://schemas.openxmlformats.org/drawingml/2006/main"/>
        </p:blipFill>
        <p:spPr>
          <a:xfrm xmlns:a="http://schemas.openxmlformats.org/drawingml/2006/main">
            <a:off x="620183" y="1333500"/>
            <a:ext cx="10951633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DC6C1-98D8-4761-AF58-4B26304A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選擇藍底「掃碼洗入」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15A08-893B-4CF6-9F38-73DCA578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掃碼並填爐號、桿號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DCFCE-0832-4604-BF32-681772DE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按下「確認洗入」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A7885-435B-4867-96D5-3D234785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系統回報入洗時間與物料資料，讓其他人知道這顆盤元已進入加工。</a:t>
            </a:r>
          </a:p>
        </p:txBody>
      </p:sp>
    </p:spTree>
    <p:extLst>
      <p:ext uri="{BB962C8B-B14F-4D97-AF65-F5344CB8AC3E}">
        <p14:creationId xmlns:p14="http://schemas.microsoft.com/office/powerpoint/2010/main" val="3177239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69F67-3435-442C-9A42-705CE71F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洗出回報：再次掃碼確認酸洗完工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DCD11-5F5E-4A6A-8D95-3E92E4B8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8F43E-3E4C-43CF-AF94-487EB4E2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B24A1-5117-427D-8E66-90553F5B0A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8557160764f86"/>
          <a:stretch xmlns:a="http://schemas.openxmlformats.org/drawingml/2006/main"/>
        </p:blipFill>
        <p:spPr>
          <a:xfrm xmlns:a="http://schemas.openxmlformats.org/drawingml/2006/main">
            <a:off x="793494" y="1333500"/>
            <a:ext cx="1060501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581A3-99A8-4EDD-B2E4-61F0E4A7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選擇橘底「掃碼洗出」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40E3-72B4-47B9-AB1B-E0C0E9F3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掃碼、核對原洗入資料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FF0E4-475B-4916-BEEB-CA0BD01B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按下「確認洗出」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5A718-17D2-48CC-9518-920C5A31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確認洗出才代表酸洗完工，洗出時間提供中央生管及下游準備依據。</a:t>
            </a:r>
          </a:p>
        </p:txBody>
      </p:sp>
    </p:spTree>
    <p:extLst>
      <p:ext uri="{BB962C8B-B14F-4D97-AF65-F5344CB8AC3E}">
        <p14:creationId xmlns:p14="http://schemas.microsoft.com/office/powerpoint/2010/main" val="687521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2026-10-29T07:25:34.7030000Z</dcterms:created>
  <dcterms:modified xsi:type="dcterms:W3CDTF">2026-10-29T07:25:34.7030000Z</dcterms:modified>
</coreProperties>
</file>
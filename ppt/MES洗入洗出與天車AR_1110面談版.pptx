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225a2595274fd8" /><Relationship Type="http://schemas.openxmlformats.org/officeDocument/2006/relationships/extended-properties" Target="/docProps/app.xml" Id="R8b9caea1d94240e7" /><Relationship Type="http://schemas.openxmlformats.org/officeDocument/2006/relationships/officeDocument" Target="/ppt/presentation.xml" Id="R523998a816804d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eb0dc5c3224813"/>
  </p:sldMasterIdLst>
  <p:notesMasterIdLst>
    <p:notesMasterId xmlns:r="http://schemas.openxmlformats.org/officeDocument/2006/relationships" r:id="R7882c3c3115a4257"/>
  </p:notesMasterIdLst>
  <p:sldIdLst>
    <p:sldId xmlns:r="http://schemas.openxmlformats.org/officeDocument/2006/relationships" id="256" r:id="R0573de1c4d214030"/>
    <p:sldId xmlns:r="http://schemas.openxmlformats.org/officeDocument/2006/relationships" id="257" r:id="R2fd928502481463f"/>
    <p:sldId xmlns:r="http://schemas.openxmlformats.org/officeDocument/2006/relationships" id="258" r:id="R780a671ec7f040eb"/>
    <p:sldId xmlns:r="http://schemas.openxmlformats.org/officeDocument/2006/relationships" id="259" r:id="R8f2f73ce9e8a4191"/>
    <p:sldId xmlns:r="http://schemas.openxmlformats.org/officeDocument/2006/relationships" id="260" r:id="R53952c0f080549db"/>
    <p:sldId xmlns:r="http://schemas.openxmlformats.org/officeDocument/2006/relationships" id="261" r:id="R711cf347bebf433a"/>
    <p:sldId xmlns:r="http://schemas.openxmlformats.org/officeDocument/2006/relationships" id="262" r:id="Rfa44c7d088604886"/>
    <p:sldId xmlns:r="http://schemas.openxmlformats.org/officeDocument/2006/relationships" id="263" r:id="R5a28c55186174557"/>
    <p:sldId xmlns:r="http://schemas.openxmlformats.org/officeDocument/2006/relationships" id="264" r:id="R7ec1659b35a74ec2"/>
    <p:sldId xmlns:r="http://schemas.openxmlformats.org/officeDocument/2006/relationships" id="265" r:id="R710b898f8e8c40df"/>
    <p:sldId xmlns:r="http://schemas.openxmlformats.org/officeDocument/2006/relationships" id="266" r:id="R372480c7a6e446d6"/>
    <p:sldId xmlns:r="http://schemas.openxmlformats.org/officeDocument/2006/relationships" id="267" r:id="R4b0f6fab936d42d9"/>
    <p:sldId xmlns:r="http://schemas.openxmlformats.org/officeDocument/2006/relationships" id="268" r:id="R57343e3c7d3a4994"/>
    <p:sldId xmlns:r="http://schemas.openxmlformats.org/officeDocument/2006/relationships" id="269" r:id="R3064ea51ab694460"/>
    <p:sldId xmlns:r="http://schemas.openxmlformats.org/officeDocument/2006/relationships" id="270" r:id="R7a2008b22ea544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99f30d0419427d" /><Relationship Type="http://schemas.openxmlformats.org/officeDocument/2006/relationships/slideMaster" Target="/ppt/slideMasters/slideMaster1.xml" Id="R9ceb0dc5c3224813" /><Relationship Type="http://schemas.openxmlformats.org/officeDocument/2006/relationships/notesMaster" Target="/ppt/notesMasters/notesMaster1.xml" Id="R7882c3c3115a4257" /><Relationship Type="http://schemas.openxmlformats.org/officeDocument/2006/relationships/presProps" Target="/ppt/presProps.xml" Id="Rb4e45fcd85e140bb" /><Relationship Type="http://schemas.openxmlformats.org/officeDocument/2006/relationships/tableStyles" Target="/ppt/tableStyles.xml" Id="Re82a0b1f3b6d4286" /><Relationship Type="http://schemas.openxmlformats.org/officeDocument/2006/relationships/slide" Target="/ppt/slides/slide1.xml" Id="R0573de1c4d214030" /><Relationship Type="http://schemas.openxmlformats.org/officeDocument/2006/relationships/slide" Target="/ppt/slides/slide2.xml" Id="R2fd928502481463f" /><Relationship Type="http://schemas.openxmlformats.org/officeDocument/2006/relationships/slide" Target="/ppt/slides/slide3.xml" Id="R780a671ec7f040eb" /><Relationship Type="http://schemas.openxmlformats.org/officeDocument/2006/relationships/slide" Target="/ppt/slides/slide4.xml" Id="R8f2f73ce9e8a4191" /><Relationship Type="http://schemas.openxmlformats.org/officeDocument/2006/relationships/slide" Target="/ppt/slides/slide5.xml" Id="R53952c0f080549db" /><Relationship Type="http://schemas.openxmlformats.org/officeDocument/2006/relationships/slide" Target="/ppt/slides/slide6.xml" Id="R711cf347bebf433a" /><Relationship Type="http://schemas.openxmlformats.org/officeDocument/2006/relationships/slide" Target="/ppt/slides/slide7.xml" Id="Rfa44c7d088604886" /><Relationship Type="http://schemas.openxmlformats.org/officeDocument/2006/relationships/slide" Target="/ppt/slides/slide8.xml" Id="R5a28c55186174557" /><Relationship Type="http://schemas.openxmlformats.org/officeDocument/2006/relationships/slide" Target="/ppt/slides/slide9.xml" Id="R7ec1659b35a74ec2" /><Relationship Type="http://schemas.openxmlformats.org/officeDocument/2006/relationships/slide" Target="/ppt/slides/slide10.xml" Id="R710b898f8e8c40df" /><Relationship Type="http://schemas.openxmlformats.org/officeDocument/2006/relationships/slide" Target="/ppt/slides/slide11.xml" Id="R372480c7a6e446d6" /><Relationship Type="http://schemas.openxmlformats.org/officeDocument/2006/relationships/slide" Target="/ppt/slides/slide12.xml" Id="R4b0f6fab936d42d9" /><Relationship Type="http://schemas.openxmlformats.org/officeDocument/2006/relationships/slide" Target="/ppt/slides/slide13.xml" Id="R57343e3c7d3a4994" /><Relationship Type="http://schemas.openxmlformats.org/officeDocument/2006/relationships/slide" Target="/ppt/slides/slide14.xml" Id="R3064ea51ab694460" /><Relationship Type="http://schemas.openxmlformats.org/officeDocument/2006/relationships/slide" Target="/ppt/slides/slide15.xml" Id="R7a2008b22ea544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baa021565045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ba3e44695c4578" /><Relationship Type="http://schemas.openxmlformats.org/officeDocument/2006/relationships/notesMaster" Target="/ppt/notesMasters/notesMaster1.xml" Id="Ref88a81021e24b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104612e11c4160" /><Relationship Type="http://schemas.openxmlformats.org/officeDocument/2006/relationships/notesMaster" Target="/ppt/notesMasters/notesMaster1.xml" Id="R8ed3bf0a401846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d074c55eaa4a99" /><Relationship Type="http://schemas.openxmlformats.org/officeDocument/2006/relationships/notesMaster" Target="/ppt/notesMasters/notesMaster1.xml" Id="Rd34d6373a14146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89b525cab34e24" /><Relationship Type="http://schemas.openxmlformats.org/officeDocument/2006/relationships/notesMaster" Target="/ppt/notesMasters/notesMaster1.xml" Id="R550986720a4947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9bf9b56504408f" /><Relationship Type="http://schemas.openxmlformats.org/officeDocument/2006/relationships/notesMaster" Target="/ppt/notesMasters/notesMaster1.xml" Id="R79d206c0d54f4e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539bfafbb441c8" /><Relationship Type="http://schemas.openxmlformats.org/officeDocument/2006/relationships/notesMaster" Target="/ppt/notesMasters/notesMaster1.xml" Id="Rc70da3f9bcff44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9b97b90ae84e64" /><Relationship Type="http://schemas.openxmlformats.org/officeDocument/2006/relationships/notesMaster" Target="/ppt/notesMasters/notesMaster1.xml" Id="Rbd91de2a434341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5aa27a29454595" /><Relationship Type="http://schemas.openxmlformats.org/officeDocument/2006/relationships/notesMaster" Target="/ppt/notesMasters/notesMaster1.xml" Id="R5ab1d31bdb9a46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631b8a24f642bf" /><Relationship Type="http://schemas.openxmlformats.org/officeDocument/2006/relationships/notesMaster" Target="/ppt/notesMasters/notesMaster1.xml" Id="R5b3cf52c815c4c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1fe8bddbe545f9" /><Relationship Type="http://schemas.openxmlformats.org/officeDocument/2006/relationships/notesMaster" Target="/ppt/notesMasters/notesMaster1.xml" Id="R92be1978a1744d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a3721eb43648f4" /><Relationship Type="http://schemas.openxmlformats.org/officeDocument/2006/relationships/notesMaster" Target="/ppt/notesMasters/notesMaster1.xml" Id="R8e14180f69ba4c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c5d7fc2cb248d1" /><Relationship Type="http://schemas.openxmlformats.org/officeDocument/2006/relationships/notesMaster" Target="/ppt/notesMasters/notesMaster1.xml" Id="R47c5c525bf0b41a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2dcfb926ed461b" /><Relationship Type="http://schemas.openxmlformats.org/officeDocument/2006/relationships/notesMaster" Target="/ppt/notesMasters/notesMaster1.xml" Id="R0619321b221843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c67a7e5fadc477f" /><Relationship Type="http://schemas.openxmlformats.org/officeDocument/2006/relationships/notesMaster" Target="/ppt/notesMasters/notesMaster1.xml" Id="R07cbe2df460b463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28c46149bd04370" /><Relationship Type="http://schemas.openxmlformats.org/officeDocument/2006/relationships/notesMaster" Target="/ppt/notesMasters/notesMaster1.xml" Id="R4659290c612c44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本頁依 10/6、10/13、10/20、10/27 的面談脈絡整理，11/10 為本次報告。時間軸是研究進度摘要，不代表每一階段都已完成正式效益驗證。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加工安排由既有生管／派工權責決定。本研究接收需求並從入庫開始串接資料。這四頁為入庫前情，後六頁聚焦洗入、洗出與資訊回饋。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製程日期依既有加工安排登錄，紙本申請日期不直接等同製程日期。生管建單只是資料準備，不代表實物已入場。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原照片內的真實碼已遮蔽，圖中補上的碼值為測試資料。各照片不同物料，不能當作同一物料的連續履歷。訂單可對應多顆盤元，各顆需可區分的識別碼。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圖一使用藍底洗入模式。欄位為爐號與桿號，每支QR對應一個桿號。確認洗入是開始加工事件，不是酸洗完工。畫面只證明介面存在，未量測寫入時間。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圖二橘底洗出模式，掃碼後顯示既有工令、材質、重量、爐號與洗入桿號供核對。示範遮罩替換客戶及識別資訊，時間與數量沒有改寫。洗出不等於出貨或下游已收料。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使用者提供圖三頂端顯示當日洗入117、已洗出78、待洗出39。這些是當時系統快照，非本次研究樣本結果。可見明細仍為待洗出，未提供同筆洗出後截圖。即時意指回報後可查，未驗證刷新或推播方式。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概念流程圖，並非實測時間軸。照片三個畫面不是同一盤元的連續紀錄。將更新狀態與發送通知分開，沒有證據宣稱自動推播。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使用者的現場作業說明：中央生管與球化、伸線人員依洗出時間預排開爐、換模。這是資訊支援用途，不宣稱MES自動派工或已接通各廠設備。洗出時間加上出貨、運輸、收料與設備條件，才可確認實際開工。球化與伸線為依工單路徑使用資訊，非每筆皆同時流向兩者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實作前確認3445的測試物料已完成入庫綁定。觀察查詢端是否需要刷新，記錄送出成功到顯示更新的時間，不能把畫面存在當成零延遲證據。當日不在3443寫入，也不調整任何設備或工廠排程。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10/27 面談結果整理。以下說明是導入動機與預期改善方向，不把AR展示本身當成已完成的效益證明。正式成效仍需以實際操作紀錄、設備壽命與維修成本資料驗證。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本表區分已完成展示、正在補齊的資料與尚未驗證的效益。日期為目前排程，實際面談內容依老師確認調整。</a:t>
            </a:r>
          </a:p>
          <a:p xmlns:a="http://schemas.openxmlformats.org/drawingml/2006/main">
            <a:r>
              <a:t>來源：使用者2026/10/27面談後提供的作業說明、現場照片與MES／AR測試紀錄。照片及截圖為不同時點和個案，不是同一盤元的連續操作紀錄。客戶、工單、人名及識別碼使用遮蔽或假資料，時間與件數保留。即時回饋與AR展示仍需依進度表完成正式量測與現場驗證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本頁討論方向，不宣稱已完成系統改版。目標是減少重複輸入與抄寫錯誤，同時保留實物、工單與本次作業的核對責任。</a:t>
            </a:r>
          </a:p>
          <a:p xmlns:a="http://schemas.openxmlformats.org/drawingml/2006/main">
            <a:r>
              <a:t>來源：使用者2026/10/27面談後提供的作業說明、現場照片與MES／AR測試紀錄。新增識別碼簡化內容是討論方向，尚非已完成效益。僅在3445進行DEMO，不操作3443。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簡化流程仍需以現場測試確認，不能只看畫面操作變少。應比較完成同一任務所需時間、錯誤與補登情形。</a:t>
            </a:r>
          </a:p>
          <a:p xmlns:a="http://schemas.openxmlformats.org/drawingml/2006/main">
            <a:r>
              <a:t>來源：使用者2026/10/27面談後提供的作業說明、現場照片與MES／AR測試紀錄。新增識別碼簡化內容是討論方向，尚非已完成效益。僅在3445進行DEMO，不操作3443。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2cda053cf544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d1917671cc42e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6fd94546d4e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2517e0ae1d439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d736fa8c5548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078e0a21914b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0B849F-9CB3-4336-AE26-38BA5E1955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5FCFEC6-0BCF-452E-A953-6F0141637F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32ECA5-C79B-43E2-BB36-8944FF1FD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C2FFF-E372-4D33-ACBE-B6B77052CA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BEEB8F-379F-44A6-AF7E-CC229E30B2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9AA87C-F18E-4066-9FE8-0160FA40A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ED62E6-140D-44A0-B828-5C6CF24A3E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1D815E-2ECE-40C6-963D-C38854AD58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2300E7-835D-4EDF-BC69-4DC45BAC66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DD4CE4-1363-4B96-9092-E799C3582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4ed08ec21a4e10" /><Relationship Type="http://schemas.openxmlformats.org/officeDocument/2006/relationships/slideLayout" Target="/ppt/slideLayouts/slideLayout1.xml" Id="Ra865682cec9e4660" /><Relationship Type="http://schemas.openxmlformats.org/officeDocument/2006/relationships/slideLayout" Target="/ppt/slideLayouts/slideLayout2.xml" Id="R7eb1d185da6c48df" /><Relationship Type="http://schemas.openxmlformats.org/officeDocument/2006/relationships/slideLayout" Target="/ppt/slideLayouts/slideLayout3.xml" Id="R63616e2a23874bff" /><Relationship Type="http://schemas.openxmlformats.org/officeDocument/2006/relationships/slideLayout" Target="/ppt/slideLayouts/slideLayout4.xml" Id="R3fd78dc9190b489c" /><Relationship Type="http://schemas.openxmlformats.org/officeDocument/2006/relationships/slideLayout" Target="/ppt/slideLayouts/slideLayout5.xml" Id="R49c65978f8e64716" /><Relationship Type="http://schemas.openxmlformats.org/officeDocument/2006/relationships/slideLayout" Target="/ppt/slideLayouts/slideLayout6.xml" Id="Racd8f077418d4b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65682cec9e4660"/>
    <p:sldLayoutId xmlns:r="http://schemas.openxmlformats.org/officeDocument/2006/relationships" id="2147483650" r:id="R7eb1d185da6c48df"/>
    <p:sldLayoutId xmlns:r="http://schemas.openxmlformats.org/officeDocument/2006/relationships" id="2147483651" r:id="R63616e2a23874bff"/>
    <p:sldLayoutId xmlns:r="http://schemas.openxmlformats.org/officeDocument/2006/relationships" id="2147483652" r:id="R3fd78dc9190b489c"/>
    <p:sldLayoutId xmlns:r="http://schemas.openxmlformats.org/officeDocument/2006/relationships" id="2147483653" r:id="R49c65978f8e64716"/>
    <p:sldLayoutId xmlns:r="http://schemas.openxmlformats.org/officeDocument/2006/relationships" id="2147483654" r:id="Racd8f077418d4b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5e84e97d384c3b" /><Relationship Type="http://schemas.openxmlformats.org/officeDocument/2006/relationships/notesSlide" Target="/ppt/notesSlides/notesSlide1.xml" Id="R53e41eda1cc741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b0031ab9b545e8" /><Relationship Type="http://schemas.openxmlformats.org/officeDocument/2006/relationships/image" Target="/ppt/media/image.jpeg" Id="Re163c5a807ee4e20" /><Relationship Type="http://schemas.openxmlformats.org/officeDocument/2006/relationships/image" Target="/ppt/media/image2.jpeg" Id="R2590ca3d172a4e44" /><Relationship Type="http://schemas.openxmlformats.org/officeDocument/2006/relationships/image" Target="/ppt/media/image3.jpeg" Id="R0328f45cfd27432d" /><Relationship Type="http://schemas.openxmlformats.org/officeDocument/2006/relationships/notesSlide" Target="/ppt/notesSlides/notesSlide2.xml" Id="R9d942db5cd5d46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ede55b9d3c47e1" /><Relationship Type="http://schemas.openxmlformats.org/officeDocument/2006/relationships/image" Target="/ppt/media/image.png" Id="Re1d076c9625a4ed0" /><Relationship Type="http://schemas.openxmlformats.org/officeDocument/2006/relationships/notesSlide" Target="/ppt/notesSlides/notesSlide3.xml" Id="Rf532a25a158549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a3dc542636491e" /><Relationship Type="http://schemas.openxmlformats.org/officeDocument/2006/relationships/image" Target="/ppt/media/image2.png" Id="Rc9de83beb8e1486b" /><Relationship Type="http://schemas.openxmlformats.org/officeDocument/2006/relationships/image" Target="/ppt/media/image4.jpeg" Id="R46c99520ae274484" /><Relationship Type="http://schemas.openxmlformats.org/officeDocument/2006/relationships/image" Target="/ppt/media/image5.jpeg" Id="Rdd19451517f340b3" /><Relationship Type="http://schemas.openxmlformats.org/officeDocument/2006/relationships/notesSlide" Target="/ppt/notesSlides/notesSlide4.xml" Id="R16321230d7c24a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46d475505f46e5" /><Relationship Type="http://schemas.openxmlformats.org/officeDocument/2006/relationships/image" Target="/ppt/media/image3.png" Id="R2f5e0944e3f64d9b" /><Relationship Type="http://schemas.openxmlformats.org/officeDocument/2006/relationships/notesSlide" Target="/ppt/notesSlides/notesSlide5.xml" Id="R1a9fabb51bc742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cae2082cc24172" /><Relationship Type="http://schemas.openxmlformats.org/officeDocument/2006/relationships/image" Target="/ppt/media/image4.png" Id="R0f714d8b64ab4092" /><Relationship Type="http://schemas.openxmlformats.org/officeDocument/2006/relationships/notesSlide" Target="/ppt/notesSlides/notesSlide6.xml" Id="Rfa73cccf114e48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9337e5d9bd4f5e" /><Relationship Type="http://schemas.openxmlformats.org/officeDocument/2006/relationships/image" Target="/ppt/media/image5.png" Id="R3a75dc973e1a4dc8" /><Relationship Type="http://schemas.openxmlformats.org/officeDocument/2006/relationships/notesSlide" Target="/ppt/notesSlides/notesSlide7.xml" Id="Rf84ada07a00245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a612b33ba74b33" /><Relationship Type="http://schemas.openxmlformats.org/officeDocument/2006/relationships/image" Target="/ppt/media/image6.png" Id="Re1122957baf940cd" /><Relationship Type="http://schemas.openxmlformats.org/officeDocument/2006/relationships/notesSlide" Target="/ppt/notesSlides/notesSlide8.xml" Id="R39e2bdae1ccb4a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1e876adf114360" /><Relationship Type="http://schemas.openxmlformats.org/officeDocument/2006/relationships/notesSlide" Target="/ppt/notesSlides/notesSlide9.xml" Id="Rbe0da7cdab6441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b3b2fd028c46c3" /><Relationship Type="http://schemas.openxmlformats.org/officeDocument/2006/relationships/notesSlide" Target="/ppt/notesSlides/notesSlide10.xml" Id="R31da7d80dad643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a5b50ded3243d8" /><Relationship Type="http://schemas.openxmlformats.org/officeDocument/2006/relationships/notesSlide" Target="/ppt/notesSlides/notesSlide11.xml" Id="R8d2cc682d50e4b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838329a07e43a8" /><Relationship Type="http://schemas.openxmlformats.org/officeDocument/2006/relationships/notesSlide" Target="/ppt/notesSlides/notesSlide12.xml" Id="R997aea8ad219452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86d4de3e494a22" /><Relationship Type="http://schemas.openxmlformats.org/officeDocument/2006/relationships/notesSlide" Target="/ppt/notesSlides/notesSlide13.xml" Id="R9c72da9055ba48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279f6c877c454e" /><Relationship Type="http://schemas.openxmlformats.org/officeDocument/2006/relationships/notesSlide" Target="/ppt/notesSlides/notesSlide14.xml" Id="Rfe7bc740d20d4b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8707658f54dec" /><Relationship Type="http://schemas.openxmlformats.org/officeDocument/2006/relationships/notesSlide" Target="/ppt/notesSlides/notesSlide15.xml" Id="R90a28b3222ea45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101AB3-E6E1-4FC3-A49F-07FB9262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研究進度時間軸｜11/10 報告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9246D-1736-4723-A294-AD995DED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MES 現場回報與天車 AR 研究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3A5B2-E9CF-4AA3-AEE2-53B62C5B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5750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1C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0C8E5-0915-4F4F-A9CF-FD6B7B18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743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C1C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948FB-1BCE-413C-AB4C-8F190184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76375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rPr>
              <a:t>10/6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10D24-DF6C-4128-B211-8DE1FEC6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8C064-F3B6-4473-9496-2353BBA8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公司需求與研究場域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35CA8-926A-48AB-9F0E-C1AF219A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C1C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0530C-FB30-455F-BB0D-8267C601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76375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1E751-A420-4D8D-84F0-65DDE9DE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526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C5D0E-BD24-4C5B-972E-E9836800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333750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盤元入庫 AR 虛擬環境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C9197-8C5A-4312-86D2-5ED196C7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43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C1C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CA2FA0-D63E-44B9-B064-01FC118C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76375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rPr>
              <a:t>10/20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5D2E5-A056-4E5A-8057-91BB2815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A838B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4380DA-B979-4290-9EE7-9FCE3A83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333750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掃碼與派工流程收斂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2D990-2B14-438C-810A-1DCC38DF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43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92A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2500BC-7139-43C8-BC94-3BACC452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76375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rPr>
              <a:t>10/27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A74D0-38DD-4183-B80B-3B739D23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0A92A7"/>
                </a:solidFill>
                <a:latin typeface="Microsoft JhengHei"/>
                <a:ea typeface="Microsoft JhengHei"/>
                <a:cs typeface="Microsoft JhengHei"/>
              </a:rPr>
              <a:t>本期回顧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A6E7DB-F2C7-4738-BF26-CBDEF428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33750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客訴 LOG 導出 AR＋MES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066033-D26C-4AE4-9B31-B58D216C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11/10｜本次報告：把前期成果串成研究脈絡，並討論如何簡化識別碼與回報步驟。</a:t>
            </a:r>
          </a:p>
        </p:txBody>
      </p:sp>
    </p:spTree>
    <p:extLst>
      <p:ext uri="{BB962C8B-B14F-4D97-AF65-F5344CB8AC3E}">
        <p14:creationId xmlns:p14="http://schemas.microsoft.com/office/powerpoint/2010/main" val="4770490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C62E3-A9BE-4C6B-BC75-3B81BA7F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1/4：既有加工需求的來源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853C0-FB06-485D-9AFA-686A7292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4E73F-5790-4F93-94A0-F7B0F31F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74160-0358-4AF4-8B2B-673614FDDD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3c5a807ee4e20"/>
          <a:stretch xmlns:a="http://schemas.openxmlformats.org/drawingml/2006/main"/>
        </p:blipFill>
        <p:spPr>
          <a:xfrm xmlns:a="http://schemas.openxmlformats.org/drawingml/2006/main">
            <a:off x="88421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ACDCF-691B-4345-AA18-24A9E91219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0ca3d172a4e44"/>
          <a:stretch xmlns:a="http://schemas.openxmlformats.org/drawingml/2006/main"/>
        </p:blipFill>
        <p:spPr>
          <a:xfrm xmlns:a="http://schemas.openxmlformats.org/drawingml/2006/main">
            <a:off x="459896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9CB5A-451F-4514-A614-C49848E6DB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28f45cfd27432d"/>
          <a:stretch xmlns:a="http://schemas.openxmlformats.org/drawingml/2006/main"/>
        </p:blipFill>
        <p:spPr>
          <a:xfrm xmlns:a="http://schemas.openxmlformats.org/drawingml/2006/main">
            <a:off x="8313712" y="1285875"/>
            <a:ext cx="2784527" cy="3857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EBEAB-9F23-497D-A456-1C8DB3FD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委外加工排程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F85A62-A838-455F-80C8-6F765568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盤元催料資料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17464-6145-468E-9A3F-D791E8C6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球化相關催料資料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47E77-E356-4788-9542-A818AECD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既有單位決定加工安排；本系統接收需求，從實際入庫開始串接。</a:t>
            </a:r>
          </a:p>
        </p:txBody>
      </p:sp>
    </p:spTree>
    <p:extLst>
      <p:ext uri="{BB962C8B-B14F-4D97-AF65-F5344CB8AC3E}">
        <p14:creationId xmlns:p14="http://schemas.microsoft.com/office/powerpoint/2010/main" val="3293441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C1132-BF51-4B24-B76E-A2D4342E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2/4：生管建立 MES 催料單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A1802-9C92-489C-B7CB-12E39F75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9BDA3-99D6-4F4F-9736-59ABDD64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54D20-2FE1-4F61-8BB4-776B33A448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d076c9625a4ed0"/>
          <a:stretch xmlns:a="http://schemas.openxmlformats.org/drawingml/2006/main"/>
        </p:blipFill>
        <p:spPr>
          <a:xfrm xmlns:a="http://schemas.openxmlformats.org/drawingml/2006/main">
            <a:off x="609600" y="1745601"/>
            <a:ext cx="10972800" cy="20332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138B7-8A52-4BFB-98B7-A5A9994B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　核對工令與客戶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ADA351-26CC-4B64-A3E1-DB4304E3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2　登錄規格與預計件數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7190B4-F17B-4F1F-B62B-EDB7A3E4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3　儲存催料單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DE6D9-CE9F-478A-A465-63A44733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紙本需求提供輸入依據，MES 保存工令、製程、材質、線徑與件數。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9B7A6D-B60F-4B49-8AD3-892802D1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此時只有預計加工資料，是否到場仍待收料人員確認。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4149616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2D818-4D37-473B-9291-D5B64F51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3/4：訂單找資料，條碼認物料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DC2A39-2AF7-4491-A68F-ADAA1995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DFB11-FBEA-46BC-B669-B5F6F52E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333A4-01DB-4E2C-9C0C-85B03AFC74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de83beb8e1486b"/>
          <a:stretch xmlns:a="http://schemas.openxmlformats.org/drawingml/2006/main"/>
        </p:blipFill>
        <p:spPr>
          <a:xfrm xmlns:a="http://schemas.openxmlformats.org/drawingml/2006/main">
            <a:off x="633459" y="1381125"/>
            <a:ext cx="3381283" cy="3143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8ABDF-CFCD-4057-9D06-59ABC16CA8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c99520ae274484"/>
          <a:stretch xmlns:a="http://schemas.openxmlformats.org/drawingml/2006/main"/>
        </p:blipFill>
        <p:spPr>
          <a:xfrm xmlns:a="http://schemas.openxmlformats.org/drawingml/2006/main">
            <a:off x="5031921" y="1333500"/>
            <a:ext cx="2032909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F4A27-3F35-4A75-A70E-FFDED7D28E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19451517f340b3"/>
          <a:stretch xmlns:a="http://schemas.openxmlformats.org/drawingml/2006/main"/>
        </p:blipFill>
        <p:spPr>
          <a:xfrm xmlns:a="http://schemas.openxmlformats.org/drawingml/2006/main">
            <a:off x="8512687" y="1333500"/>
            <a:ext cx="2500877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43D98-3F8C-46F6-B285-A8913C44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訂單／工令號碼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1E1BC-A3DD-4408-8B2E-BE672A2E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搜尋對應催料單。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3B179-7242-4CBC-9510-6EE8161A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原鐵牌條碼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F035CF-F823-4936-A0D7-D10976EE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可讀取且能區分盤元時沿用。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D33DF2-0986-4CEE-B868-2CCF1CC2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備用 QR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B6BD55-435E-4CC7-B0C4-55438667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00650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原碼損毀時才補貼。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4D5E2-3E06-4DB5-A69A-8905656C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同一工單可串接多顆盤元，每顆保存自己的識別碼與重量。</a:t>
            </a:r>
          </a:p>
        </p:txBody>
      </p:sp>
    </p:spTree>
    <p:extLst>
      <p:ext uri="{BB962C8B-B14F-4D97-AF65-F5344CB8AC3E}">
        <p14:creationId xmlns:p14="http://schemas.microsoft.com/office/powerpoint/2010/main" val="1550128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78924-D290-49D1-9A9B-27F2FF56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4/4：收料人員確認入庫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1111D-2CC4-4D5C-88FB-3B7CFCC8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F0D45C-19D6-4329-89FC-A6958105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3FF87-F978-4CC6-B9CC-80AE8EBCDF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e0944e3f64d9b"/>
          <a:stretch xmlns:a="http://schemas.openxmlformats.org/drawingml/2006/main"/>
        </p:blipFill>
        <p:spPr>
          <a:xfrm xmlns:a="http://schemas.openxmlformats.org/drawingml/2006/main">
            <a:off x="654685" y="1285875"/>
            <a:ext cx="1088263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C0E19-C1E1-4FAD-AAFE-96B48A40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① 搜尋並選取工單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1BBB6-6B99-4E1A-9E52-94864AC6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② 核對物料資料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99C14-D170-4995-8A4A-611F117C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③ 掃描條碼／QR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82C2D-327A-4C58-84D5-089631FB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④ 確認重量、入庫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948CD5-2F8C-4E38-9981-163963FF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完成入庫後，後續人員掃描同一識別碼，就能連到既有物料資料。</a:t>
            </a:r>
          </a:p>
        </p:txBody>
      </p:sp>
    </p:spTree>
    <p:extLst>
      <p:ext uri="{BB962C8B-B14F-4D97-AF65-F5344CB8AC3E}">
        <p14:creationId xmlns:p14="http://schemas.microsoft.com/office/powerpoint/2010/main" val="16829465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0FC28-B25E-4803-B5DD-F0A7CECF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洗入回報：掃碼後記錄進場酸洗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6B1DA-EF81-46EB-A177-AB3AC520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95E9B-F9EB-41C4-9647-1B791869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B7111-9891-48A1-8DFD-3633827274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14d8b64ab4092"/>
          <a:stretch xmlns:a="http://schemas.openxmlformats.org/drawingml/2006/main"/>
        </p:blipFill>
        <p:spPr>
          <a:xfrm xmlns:a="http://schemas.openxmlformats.org/drawingml/2006/main">
            <a:off x="620183" y="1333500"/>
            <a:ext cx="10951633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58808-F1CE-4701-9EC7-99EC510C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選擇藍底「掃碼洗入」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27205-11F3-43BE-B792-94B2B596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掃碼並填爐號、桿號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3F358-1910-44EC-965F-2F1DF2D0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按下「確認洗入」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11685-8A95-4113-AE20-5A9FA67A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系統回報入洗時間與物料資料，讓其他人知道這顆盤元已進入加工。</a:t>
            </a:r>
          </a:p>
        </p:txBody>
      </p:sp>
    </p:spTree>
    <p:extLst>
      <p:ext uri="{BB962C8B-B14F-4D97-AF65-F5344CB8AC3E}">
        <p14:creationId xmlns:p14="http://schemas.microsoft.com/office/powerpoint/2010/main" val="3177239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5973B-1690-4B47-B86A-14AFEA59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洗出回報：再次掃碼確認酸洗完工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460C0-EA13-417B-91F6-51DCC088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A6656-211B-45F9-B3C8-B0352569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D07D4D-0CCD-46DD-9612-8B7C1C602C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5dc973e1a4dc8"/>
          <a:stretch xmlns:a="http://schemas.openxmlformats.org/drawingml/2006/main"/>
        </p:blipFill>
        <p:spPr>
          <a:xfrm xmlns:a="http://schemas.openxmlformats.org/drawingml/2006/main">
            <a:off x="793494" y="1333500"/>
            <a:ext cx="10605012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310D2-D6D1-4116-8232-11002618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選擇橘底「掃碼洗出」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C28049-88EB-445F-8C92-EC7D87E9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掃碼、核對原洗入資料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CE484-A747-454F-842E-CF5B080B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按下「確認洗出」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6FDBA-E998-4F9B-81B7-BD5FFEFC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確認洗出才代表酸洗完工，洗出時間提供中央生管及下游準備依據。</a:t>
            </a:r>
          </a:p>
        </p:txBody>
      </p:sp>
    </p:spTree>
    <p:extLst>
      <p:ext uri="{BB962C8B-B14F-4D97-AF65-F5344CB8AC3E}">
        <p14:creationId xmlns:p14="http://schemas.microsoft.com/office/powerpoint/2010/main" val="6875212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9EA7C-062E-402F-83AE-93D0FA76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共享明細：洗入後可查，洗出後更新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4F889-48D5-4E85-B17F-04C81F3B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B1820-0CE9-4B02-A30B-0D055170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FD6DF-CF90-4D2E-A079-8087145D72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22957baf940cd"/>
          <a:stretch xmlns:a="http://schemas.openxmlformats.org/drawingml/2006/main"/>
        </p:blipFill>
        <p:spPr>
          <a:xfrm xmlns:a="http://schemas.openxmlformats.org/drawingml/2006/main">
            <a:off x="1680850" y="1285875"/>
            <a:ext cx="8830301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78ECA-A7B9-4B09-AE2E-AC3E77F2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洗入：新增入洗時間、桿號與物料資料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B1E45-AE87-4FC4-9330-7F153DE1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8162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洗出：更新洗出時間與完成狀態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DC824C-9085-4006-97C2-17851911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本圖可見列仍為「待洗出」；同筆完工後的更新將以現場 DEMO 核對。</a:t>
            </a:r>
          </a:p>
        </p:txBody>
      </p:sp>
    </p:spTree>
    <p:extLst>
      <p:ext uri="{BB962C8B-B14F-4D97-AF65-F5344CB8AC3E}">
        <p14:creationId xmlns:p14="http://schemas.microsoft.com/office/powerpoint/2010/main" val="20673944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730702-8216-4F04-BC53-F74455BF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同一顆盤元的回報與查詢關係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9978C-6CB1-4021-B62F-A42AFD2C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B3036-E10B-4F46-BD22-69DEFA0A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8CE2C-2391-42E7-A6E9-C460CFD6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入庫完成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6060C-4E97-4027-91C5-D8E5C007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實物連到工單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8F0F49-C702-435F-82D1-C4C4D135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有到場紀錄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897585-073A-4DC8-BDE4-477CD3AE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385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5A885A-3ABC-4D6B-A1D8-B2CBFE88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確認洗入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0FF31-AADC-40A7-BD71-970395C2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掃同一物料碼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0B764-5FC4-472D-8B40-6BEA80A1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出現入洗時間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D958E-1F5F-41EF-BA43-1ACB47F0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2385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8B3C0-A11E-49F4-8B1A-9AD9AD2E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5436EA-BB2E-4D8D-AF2A-DF471020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核對後回報完工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6D9F4C-31EF-4281-B513-841A8470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出現洗出時間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DDC5D3-3579-4988-895B-B5A06494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385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DDDD1C-F60B-43FB-A527-4EFFFF70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09750"/>
            <a:ext cx="2619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相關人員查詢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3467C-891F-4514-814F-969044E8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670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查看最新回報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98CF91-DE15-49AF-A789-76BBBE2C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905250"/>
            <a:ext cx="2619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安排後續準備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2FD859-9E5F-44FC-8F84-D0F11AA7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工令與物料識別碼串起各次現場回報，相關角色查詢同一份紀錄。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19D2B2-6B86-4C41-828A-90E021AA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洗入代表開始加工；洗出代表酸洗完工，仍需另行安排出貨與運送。</a:t>
            </a:r>
          </a:p>
        </p:txBody>
      </p:sp>
    </p:spTree>
    <p:extLst>
      <p:ext uri="{BB962C8B-B14F-4D97-AF65-F5344CB8AC3E}">
        <p14:creationId xmlns:p14="http://schemas.microsoft.com/office/powerpoint/2010/main" val="295121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84080-B55D-41CA-A109-18BF6CB1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洗出時間如何支援下游提前準備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9A8AC6-D797-4FC3-BF17-30D844A5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EB98D-7E21-4937-AAAB-69F82686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44936-BFB2-4581-A0BA-FA4D119C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中央生管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45388-6E3C-419C-B368-7E46827E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確認急件已酸洗完工，協調出貨與後續製程銜接。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474F3-B252-4417-9DE9-68618671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球化人員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468C6-9DFF-4582-A2C3-E29D9C1C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依預計可到料時間，提前安排爐次與開爐準備。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27D60-CCCE-44FA-9700-BE589BA3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伸線人員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84C56-1C53-4A09-9E6B-F2C2566E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依下一批物料的材質與線徑，提前預排更換模具。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F7CAC8-546D-4C68-960B-A7857F7E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MES 提供回報資訊，由人員依製程路徑、運輸與設備條件決定安排。</a:t>
            </a:r>
          </a:p>
        </p:txBody>
      </p:sp>
    </p:spTree>
    <p:extLst>
      <p:ext uri="{BB962C8B-B14F-4D97-AF65-F5344CB8AC3E}">
        <p14:creationId xmlns:p14="http://schemas.microsoft.com/office/powerpoint/2010/main" val="6048625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848F4-CCAC-48EA-AE6D-F78083BD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本次 DEMO：現場回報與另一端查詢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88F6C-2EA8-4ED6-84B4-1CE11C42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49E79F-96C1-499E-8040-8EFB907D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36310-8C30-4CAC-ADFA-AB9DC77B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操作端：入洗人員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AC32E-6B57-4612-922D-420CBF12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掃描已綁定的測試碼並確認洗入，再掃同一碼確認洗出。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391B5-998E-41AB-B524-0E1D47C2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查詢端：生管／下游角色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D36E5-CC2C-4A41-B5C9-F5E09BAF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查看同一筆資料的入洗時間、洗出時間與狀態變化。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599935-085F-4570-AD2C-B925AD0D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A3637-E6AD-4042-B506-DC0AAC65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碼值與工單一致、洗入與洗出時間正確，其他角色能查到更新。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E6DC6-9F22-4F6C-9047-C45636AF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3445 測試環境展示；另記錄回報到可查詢的時間及是否需要刷新。</a:t>
            </a:r>
          </a:p>
        </p:txBody>
      </p:sp>
    </p:spTree>
    <p:extLst>
      <p:ext uri="{BB962C8B-B14F-4D97-AF65-F5344CB8AC3E}">
        <p14:creationId xmlns:p14="http://schemas.microsoft.com/office/powerpoint/2010/main" val="10563159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4335C-F632-4DFF-89DF-A8F4AD72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為何導入天車作業 AR：補足可追溯證據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46B13-EA89-4A87-BF81-A13537B3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E8AA8-B466-4933-A81B-4387D3D0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4431F-DE71-4A18-AC37-E866CBA6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現況缺口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18949-EDFA-4DDF-8AAF-8CEF25F5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每支桿號在各槽的入洗時間，原本依機械式計時器與 LED 燈閃爍判讀，沒有留下可回查的 LOG 檔。遇到客訴時，難以提出完整且可核對的入洗時間證據。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D5E69-5F5E-486A-B7B9-16D6295A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設備維護負擔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08D65-25BD-4B93-8C08-0AE4FF5D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鹽酸區的實體計數器與 LED 燈容易受環境影響，壽命與維修更換成本需要持續負擔。實際故障率與費用仍需建立基準資料。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F2C6C-E7FC-4ACD-B893-DFC55255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導入方向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DF8BF-BD64-4CA4-A1C3-AF3241BE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以工時與平板回報取代只靠現場燈號判讀。操作人員在天車作業時回報桿號、槽位與時間，收班後將平板帶回實驗室充電，讓資料可保存、查詢並支援客訴追溯。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208CE-7882-43AC-A0B2-D175395F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天車 AR 的目的：讓「哪一支桿、在哪一槽、何時入洗」形成可查詢的作業證據，並評估降低現場計時器維護依賴。</a:t>
            </a:r>
          </a:p>
        </p:txBody>
      </p:sp>
    </p:spTree>
    <p:extLst>
      <p:ext uri="{BB962C8B-B14F-4D97-AF65-F5344CB8AC3E}">
        <p14:creationId xmlns:p14="http://schemas.microsoft.com/office/powerpoint/2010/main" val="4943734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FDD839-867B-4115-9ECC-613D6FF5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10/27 面談後進度與 11/10 報告安排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02ACB-2454-4170-A826-B43760F0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05BDA-D754-42F3-A3F3-F0BCAA9E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44F08-E009-4DAD-9533-EA4D2132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2B7D3-A86C-4726-B777-ED5E4660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33350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10/27 面談後狀態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343EF-B362-47DB-BB50-9DAFF0FA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335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11/10 報告要帶的證據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4822F2-C224-4856-B97D-5C06254A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AR 報告展示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C6F65D-9158-4754-965F-A706F493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0025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生產線展示效果良好；前置 15 分鐘配對仍偏繁瑣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1B661D-B6CB-42CB-B63D-8D5EC559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002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整理使用流程與縮短前置作業的待辦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6D050-BC7E-4DBD-9895-1A07F032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天車作業目的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80BA8-E0FE-4BE7-9A75-5AD2607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6700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已釐清為補足入洗 LOG、客訴追溯與降低計時器維護依賴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D303E9-BBB9-4756-9927-984BB0E6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670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說明現況缺口、導入邏輯與資料欄位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CE6B4-0420-4612-96C5-EF69D148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作業資料串接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51E600-472A-4099-8BBB-E54A066C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3375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AR 測試可操作；自主表尚未完成串接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BD9A20-EFF8-4949-842D-095DAB3A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337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列出資料介面與責任邊界，不宣稱已完成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77DFE-CFF9-4A3D-BBA8-B45B5A7C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效益驗證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1ED4B3-7083-43EC-A672-4DEE59A7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0050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尚無設備壽命、維修費用或客訴證據的量化基準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DC6D99-CF57-488A-9705-9163E754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提出計時、故障／維修與客訴追溯的量測表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B76E5F-F425-4456-838E-965A1226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17CB3A-B970-4374-8494-95E9FC37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667250"/>
            <a:ext cx="3981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建立桿號、槽位、入洗時間與操作者的可回查紀錄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37C6F2-5116-45E4-B149-ABF7F7B8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672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確認樣本範圍、欄位與現場測試方式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2C76C9-EB97-4483-8D01-4DFA5D15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下一次報告：2026/11/10；先完成證據欄位與量測方法，再判斷是否能證明時間、維修與客訴處理改善。</a:t>
            </a:r>
          </a:p>
        </p:txBody>
      </p:sp>
    </p:spTree>
    <p:extLst>
      <p:ext uri="{BB962C8B-B14F-4D97-AF65-F5344CB8AC3E}">
        <p14:creationId xmlns:p14="http://schemas.microsoft.com/office/powerpoint/2010/main" val="19709366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A1F535-E392-4573-BC37-BF6E27B3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識別碼流程簡化：把人工輸入留給必要核對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144DB-1268-4AFB-9CFC-548A3CE8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B35CE1-7C0C-4E83-BB82-093B103B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36E4E-0430-4AE1-86D2-504CF3D9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314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目前步驟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D74D0-E557-4F9B-B42B-A265AB43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38112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可簡化方式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42507-DA6F-417C-95BA-E862E2E5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381125"/>
            <a:ext cx="3028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仍需保留的核對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FEFBF-2F70-4A2B-9815-57F5505A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3314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找工單、抄訂單號、抄材質／線徑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86147-A171-4D3D-9A36-78868946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0977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先選工單，系統帶出已建資料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DC9ADA-786B-4078-A1ED-748D3CDC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9775"/>
            <a:ext cx="3028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確認工單與實物標籤一致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D586E-31E6-4662-BB02-B44ADDEB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3314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逐字輸入盤元識別碼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6F2746-B6C1-4818-A304-15254C84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63842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掃描一維碼／二維碼，讀取識別碼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FDCEEC-96F7-4873-9BD2-5CD4BD74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38425"/>
            <a:ext cx="3028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掃描失敗時人工補登並記錄原因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DC0E9C-5C9C-47EA-B107-C576240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14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重複輸入槽位、桿號與操作資訊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DBBD5-CE27-4D5F-990E-22AEE627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6707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依已選槽位與天車介面預填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D93643-099E-4043-93CE-5F265FA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67075"/>
            <a:ext cx="3028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操作員確認實際槽位／桿號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13F24F-535D-41D9-B69B-5597FC1F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3314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入洗、洗出再次尋找同一筆資料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77BF5D-2548-443C-A307-B67DA782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9572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沿用同一入庫關聯與事件編號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35A58-E248-486E-BE6D-FBAF4DAC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95725"/>
            <a:ext cx="3028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每次事件仍按下確認，避免誤記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C8B83-5023-4B9D-A47B-DEBC7AED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14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收班整理紙本與計時器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A26056-2ACA-4D60-BB3F-C78447A7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2437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平板直接回報，收班回實驗室充電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792229-E666-4633-9A60-AEFCC5D9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24375"/>
            <a:ext cx="3028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確認回報成功與異常清單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D7D000-F8DA-485E-AAF6-7B0DA8C1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簡化原則：系統自動帶入可確定的資料，現場只核對「這一顆、這一槽、這一次事件」是否正確。</a:t>
            </a:r>
          </a:p>
        </p:txBody>
      </p:sp>
    </p:spTree>
    <p:extLst>
      <p:ext uri="{BB962C8B-B14F-4D97-AF65-F5344CB8AC3E}">
        <p14:creationId xmlns:p14="http://schemas.microsoft.com/office/powerpoint/2010/main" val="19838390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FDF44-0376-4267-AD24-C5BB2376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識別碼簡化的驗證方式與下一步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CD9A2-78D9-4087-A5AA-D23BDE44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7BFD75-9401-4C93-BBBA-B60FA3C6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1606A-70E4-4842-AE73-7F299EFB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先建立基準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426C8-FF6E-40CE-A46A-6C47924F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記錄目前從找工單、掃碼／輸入、核對到確認入庫或入洗的步驟數與操作時間。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017CA-BC7A-43DD-849E-17FC803B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再測試簡化版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93F2B-1201-4752-A9B2-78382A99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以相同角色、相同類型物料與相同核對規則，測試系統帶入識別碼、工單與槽位後的操作時間。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E8D06-CDEC-457D-A982-09111472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最後看證據品質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8BDA8-ED31-4167-8DC0-B35F3D26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檢查錯綁工單、重複識別碼、掃描失敗、人工補登與事件 LOG 是否能完整回查。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1634B-D71E-4D09-808F-96FEBBAF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11/10 先確認欄位與流程；後續再用現場樣本判斷是否真的降低操作負擔。</a:t>
            </a:r>
          </a:p>
        </p:txBody>
      </p:sp>
    </p:spTree>
    <p:extLst>
      <p:ext uri="{BB962C8B-B14F-4D97-AF65-F5344CB8AC3E}">
        <p14:creationId xmlns:p14="http://schemas.microsoft.com/office/powerpoint/2010/main" val="4583692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2026-10-28T08:07:49.1280000Z</dcterms:created>
  <dcterms:modified xsi:type="dcterms:W3CDTF">2026-10-28T08:07:49.1280000Z</dcterms:modified>
</coreProperties>
</file>
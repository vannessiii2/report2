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39d71160914e1a" /><Relationship Type="http://schemas.openxmlformats.org/officeDocument/2006/relationships/extended-properties" Target="/docProps/app.xml" Id="R4440ba081957416a" /><Relationship Type="http://schemas.openxmlformats.org/officeDocument/2006/relationships/officeDocument" Target="/ppt/presentation.xml" Id="Rced8b3d1de3f4a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33682ce1ef48cf"/>
  </p:sldMasterIdLst>
  <p:notesMasterIdLst>
    <p:notesMasterId xmlns:r="http://schemas.openxmlformats.org/officeDocument/2006/relationships" r:id="Rf25fd96728954a08"/>
  </p:notesMasterIdLst>
  <p:sldIdLst>
    <p:sldId xmlns:r="http://schemas.openxmlformats.org/officeDocument/2006/relationships" id="256" r:id="Rc1088229bcb444fc"/>
    <p:sldId xmlns:r="http://schemas.openxmlformats.org/officeDocument/2006/relationships" id="257" r:id="R7679c7b50e8b4e6b"/>
    <p:sldId xmlns:r="http://schemas.openxmlformats.org/officeDocument/2006/relationships" id="258" r:id="R5dad6dd63f6a47eb"/>
    <p:sldId xmlns:r="http://schemas.openxmlformats.org/officeDocument/2006/relationships" id="259" r:id="R86ed0558bb2f483f"/>
    <p:sldId xmlns:r="http://schemas.openxmlformats.org/officeDocument/2006/relationships" id="260" r:id="Rd6c19469fa444672"/>
    <p:sldId xmlns:r="http://schemas.openxmlformats.org/officeDocument/2006/relationships" id="261" r:id="R44f939e7cd894642"/>
    <p:sldId xmlns:r="http://schemas.openxmlformats.org/officeDocument/2006/relationships" id="262" r:id="R022185dd19c04d48"/>
    <p:sldId xmlns:r="http://schemas.openxmlformats.org/officeDocument/2006/relationships" id="263" r:id="R1e9277206ab24583"/>
    <p:sldId xmlns:r="http://schemas.openxmlformats.org/officeDocument/2006/relationships" id="264" r:id="R9790b8262aee4cfd"/>
    <p:sldId xmlns:r="http://schemas.openxmlformats.org/officeDocument/2006/relationships" id="265" r:id="Ra9442d9a35b14936"/>
    <p:sldId xmlns:r="http://schemas.openxmlformats.org/officeDocument/2006/relationships" id="266" r:id="R9d0d813396394d24"/>
    <p:sldId xmlns:r="http://schemas.openxmlformats.org/officeDocument/2006/relationships" id="267" r:id="Rab9f167e8e884f9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1dc8562e944709" /><Relationship Type="http://schemas.openxmlformats.org/officeDocument/2006/relationships/slideMaster" Target="/ppt/slideMasters/slideMaster1.xml" Id="Ra033682ce1ef48cf" /><Relationship Type="http://schemas.openxmlformats.org/officeDocument/2006/relationships/notesMaster" Target="/ppt/notesMasters/notesMaster1.xml" Id="Rf25fd96728954a08" /><Relationship Type="http://schemas.openxmlformats.org/officeDocument/2006/relationships/presProps" Target="/ppt/presProps.xml" Id="Rf493babb41a94554" /><Relationship Type="http://schemas.openxmlformats.org/officeDocument/2006/relationships/tableStyles" Target="/ppt/tableStyles.xml" Id="Rf005662251154f62" /><Relationship Type="http://schemas.openxmlformats.org/officeDocument/2006/relationships/slide" Target="/ppt/slides/slide1.xml" Id="Rc1088229bcb444fc" /><Relationship Type="http://schemas.openxmlformats.org/officeDocument/2006/relationships/slide" Target="/ppt/slides/slide2.xml" Id="R7679c7b50e8b4e6b" /><Relationship Type="http://schemas.openxmlformats.org/officeDocument/2006/relationships/slide" Target="/ppt/slides/slide3.xml" Id="R5dad6dd63f6a47eb" /><Relationship Type="http://schemas.openxmlformats.org/officeDocument/2006/relationships/slide" Target="/ppt/slides/slide4.xml" Id="R86ed0558bb2f483f" /><Relationship Type="http://schemas.openxmlformats.org/officeDocument/2006/relationships/slide" Target="/ppt/slides/slide5.xml" Id="Rd6c19469fa444672" /><Relationship Type="http://schemas.openxmlformats.org/officeDocument/2006/relationships/slide" Target="/ppt/slides/slide6.xml" Id="R44f939e7cd894642" /><Relationship Type="http://schemas.openxmlformats.org/officeDocument/2006/relationships/slide" Target="/ppt/slides/slide7.xml" Id="R022185dd19c04d48" /><Relationship Type="http://schemas.openxmlformats.org/officeDocument/2006/relationships/slide" Target="/ppt/slides/slide8.xml" Id="R1e9277206ab24583" /><Relationship Type="http://schemas.openxmlformats.org/officeDocument/2006/relationships/slide" Target="/ppt/slides/slide9.xml" Id="R9790b8262aee4cfd" /><Relationship Type="http://schemas.openxmlformats.org/officeDocument/2006/relationships/slide" Target="/ppt/slides/slide10.xml" Id="Ra9442d9a35b14936" /><Relationship Type="http://schemas.openxmlformats.org/officeDocument/2006/relationships/slide" Target="/ppt/slides/slide11.xml" Id="R9d0d813396394d24" /><Relationship Type="http://schemas.openxmlformats.org/officeDocument/2006/relationships/slide" Target="/ppt/slides/slide12.xml" Id="Rab9f167e8e884f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51b1f0577744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b6160a6cb648a7" /><Relationship Type="http://schemas.openxmlformats.org/officeDocument/2006/relationships/notesMaster" Target="/ppt/notesMasters/notesMaster1.xml" Id="Re921e2c8985543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5e2ade98264775" /><Relationship Type="http://schemas.openxmlformats.org/officeDocument/2006/relationships/notesMaster" Target="/ppt/notesMasters/notesMaster1.xml" Id="Rfe298d3362b346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9e979beae14eb9" /><Relationship Type="http://schemas.openxmlformats.org/officeDocument/2006/relationships/notesMaster" Target="/ppt/notesMasters/notesMaster1.xml" Id="R90e13118a55f46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5e3229962f4ab3" /><Relationship Type="http://schemas.openxmlformats.org/officeDocument/2006/relationships/notesMaster" Target="/ppt/notesMasters/notesMaster1.xml" Id="R2858d0eecaab42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4e2c66076c4cc3" /><Relationship Type="http://schemas.openxmlformats.org/officeDocument/2006/relationships/notesMaster" Target="/ppt/notesMasters/notesMaster1.xml" Id="Re6fbaec95b0f43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b0046dd28c45dc" /><Relationship Type="http://schemas.openxmlformats.org/officeDocument/2006/relationships/notesMaster" Target="/ppt/notesMasters/notesMaster1.xml" Id="R6313362525cf4d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34786d5f054a4b" /><Relationship Type="http://schemas.openxmlformats.org/officeDocument/2006/relationships/notesMaster" Target="/ppt/notesMasters/notesMaster1.xml" Id="R9dec7bcf977147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7542817536464a" /><Relationship Type="http://schemas.openxmlformats.org/officeDocument/2006/relationships/notesMaster" Target="/ppt/notesMasters/notesMaster1.xml" Id="R0979fa3050ee48f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82a0827b4e045dd" /><Relationship Type="http://schemas.openxmlformats.org/officeDocument/2006/relationships/notesMaster" Target="/ppt/notesMasters/notesMaster1.xml" Id="R245c9ad042c044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0edf9a1d7164419" /><Relationship Type="http://schemas.openxmlformats.org/officeDocument/2006/relationships/notesMaster" Target="/ppt/notesMasters/notesMaster1.xml" Id="R58e79b6d232b4a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41dc6b3953c4ee2" /><Relationship Type="http://schemas.openxmlformats.org/officeDocument/2006/relationships/notesMaster" Target="/ppt/notesMasters/notesMaster1.xml" Id="R4ed98947b5134b2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9bd28ce41242f3" /><Relationship Type="http://schemas.openxmlformats.org/officeDocument/2006/relationships/notesMaster" Target="/ppt/notesMasters/notesMaster1.xml" Id="R843ce2d922b44a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加工安排由既有生管／派工權責決定。本研究接收需求並從入庫開始串接資料。這四頁為入庫前情，後六頁聚焦洗入、洗出與資訊回饋。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製程日期依既有加工安排登錄，紙本申請日期不直接等同製程日期。生管建單只是資料準備，不代表實物已入場。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原照片內的真實碼已遮蔽，圖中補上的碼值為測試資料。各照片不同物料，不能當作同一物料的連續履歷。訂單可對應多顆盤元，各顆需可區分的識別碼。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圖一使用藍底洗入模式。欄位為爐號與桿號，每支QR對應一個桿號。確認洗入是開始加工事件，不是酸洗完工。畫面只證明介面存在，未量測寫入時間。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圖二橘底洗出模式，掃碼後顯示既有工令、材質、重量、爐號與洗入桿號供核對。示範遮罩替換客戶及識別資訊，時間與數量沒有改寫。洗出不等於出貨或下游已收料。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使用者提供圖三頂端顯示當日洗入117、已洗出78、待洗出39。這些是當時系統快照，非本次研究樣本結果。可見明細仍為待洗出，未提供同筆洗出後截圖。即時意指回報後可查，未驗證刷新或推播方式。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概念流程圖，並非實測時間軸。照片三個畫面不是同一盤元的連續紀錄。將更新狀態與發送通知分開，沒有證據宣稱自動推播。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使用者的現場作業說明：中央生管與球化、伸線人員依洗出時間預排開爐、換模。這是資訊支援用途，不宣稱MES自動派工或已接通各廠設備。洗出時間加上出貨、運輸、收料與設備條件，才可確認實際開工。球化與伸線為依工單路徑使用資訊，非每筆皆同時流向兩者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實作前確認3445的測試物料已完成入庫綁定。觀察查詢端是否需要刷新，記錄送出成功到顯示更新的時間，不能把畫面存在當成零延遲證據。當日不在3443寫入，也不調整任何設備或工廠排程。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10/27 面談結果整理。以下說明是導入動機與預期改善方向，不把AR展示本身當成已完成的效益證明。正式成效仍需以實際操作紀錄、設備壽命與維修成本資料驗證。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本表區分已完成展示、正在補齊的資料與尚未驗證的效益。日期為目前排程，實際面談內容依老師確認調整。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63fdeea92d42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dbd98e95f44c3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2d651a91c14b6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d4187de29a45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63dc4d028d4ff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1231dbbc7a4cd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0B849F-9CB3-4336-AE26-38BA5E1955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5FCFEC6-0BCF-452E-A953-6F0141637F6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A32ECA5-C79B-43E2-BB36-8944FF1FD7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8C2FFF-E372-4D33-ACBE-B6B77052CA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CBEEB8F-379F-44A6-AF7E-CC229E30B2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9AA87C-F18E-4066-9FE8-0160FA40A4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6ED62E6-140D-44A0-B828-5C6CF24A3E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A1D815E-2ECE-40C6-963D-C38854AD586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62300E7-835D-4EDF-BC69-4DC45BAC66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DD4CE4-1363-4B96-9092-E799C35829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1fe5290d66401e" /><Relationship Type="http://schemas.openxmlformats.org/officeDocument/2006/relationships/slideLayout" Target="/ppt/slideLayouts/slideLayout1.xml" Id="R2f8a8d0543244a0f" /><Relationship Type="http://schemas.openxmlformats.org/officeDocument/2006/relationships/slideLayout" Target="/ppt/slideLayouts/slideLayout2.xml" Id="Rd0762bc786f24546" /><Relationship Type="http://schemas.openxmlformats.org/officeDocument/2006/relationships/slideLayout" Target="/ppt/slideLayouts/slideLayout3.xml" Id="R1968ab7965504ada" /><Relationship Type="http://schemas.openxmlformats.org/officeDocument/2006/relationships/slideLayout" Target="/ppt/slideLayouts/slideLayout4.xml" Id="R788e2c8fd85947e4" /><Relationship Type="http://schemas.openxmlformats.org/officeDocument/2006/relationships/slideLayout" Target="/ppt/slideLayouts/slideLayout5.xml" Id="R5ad3b41659984f91" /><Relationship Type="http://schemas.openxmlformats.org/officeDocument/2006/relationships/slideLayout" Target="/ppt/slideLayouts/slideLayout6.xml" Id="Rd22777d67fa349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8a8d0543244a0f"/>
    <p:sldLayoutId xmlns:r="http://schemas.openxmlformats.org/officeDocument/2006/relationships" id="2147483650" r:id="Rd0762bc786f24546"/>
    <p:sldLayoutId xmlns:r="http://schemas.openxmlformats.org/officeDocument/2006/relationships" id="2147483651" r:id="R1968ab7965504ada"/>
    <p:sldLayoutId xmlns:r="http://schemas.openxmlformats.org/officeDocument/2006/relationships" id="2147483652" r:id="R788e2c8fd85947e4"/>
    <p:sldLayoutId xmlns:r="http://schemas.openxmlformats.org/officeDocument/2006/relationships" id="2147483653" r:id="R5ad3b41659984f91"/>
    <p:sldLayoutId xmlns:r="http://schemas.openxmlformats.org/officeDocument/2006/relationships" id="2147483654" r:id="Rd22777d67fa349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071fa02d4043dc" /><Relationship Type="http://schemas.openxmlformats.org/officeDocument/2006/relationships/image" Target="/ppt/media/image.jpeg" Id="Rebe42a42327f4f94" /><Relationship Type="http://schemas.openxmlformats.org/officeDocument/2006/relationships/image" Target="/ppt/media/image2.jpeg" Id="Raf77162a4bb34266" /><Relationship Type="http://schemas.openxmlformats.org/officeDocument/2006/relationships/image" Target="/ppt/media/image3.jpeg" Id="Rad76d55ccdb24195" /><Relationship Type="http://schemas.openxmlformats.org/officeDocument/2006/relationships/notesSlide" Target="/ppt/notesSlides/notesSlide1.xml" Id="R98cd3fe3b8f04e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7ddea415f14563" /><Relationship Type="http://schemas.openxmlformats.org/officeDocument/2006/relationships/image" Target="/ppt/media/image.png" Id="R3732a49edc724e6c" /><Relationship Type="http://schemas.openxmlformats.org/officeDocument/2006/relationships/notesSlide" Target="/ppt/notesSlides/notesSlide2.xml" Id="R66577ce957d14c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36588f30794711" /><Relationship Type="http://schemas.openxmlformats.org/officeDocument/2006/relationships/image" Target="/ppt/media/image2.png" Id="R7ff6cf1d37f94aac" /><Relationship Type="http://schemas.openxmlformats.org/officeDocument/2006/relationships/image" Target="/ppt/media/image4.jpeg" Id="R90d9544f541b4efe" /><Relationship Type="http://schemas.openxmlformats.org/officeDocument/2006/relationships/image" Target="/ppt/media/image5.jpeg" Id="R444959c5e72847bc" /><Relationship Type="http://schemas.openxmlformats.org/officeDocument/2006/relationships/notesSlide" Target="/ppt/notesSlides/notesSlide3.xml" Id="Re52df76491ba4c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3198b498a141a0" /><Relationship Type="http://schemas.openxmlformats.org/officeDocument/2006/relationships/image" Target="/ppt/media/image3.png" Id="R5c0f3d9f16524f33" /><Relationship Type="http://schemas.openxmlformats.org/officeDocument/2006/relationships/notesSlide" Target="/ppt/notesSlides/notesSlide4.xml" Id="R4d50d6df98d748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02acbb61e44dbc" /><Relationship Type="http://schemas.openxmlformats.org/officeDocument/2006/relationships/image" Target="/ppt/media/image4.png" Id="R202914fc278346a6" /><Relationship Type="http://schemas.openxmlformats.org/officeDocument/2006/relationships/notesSlide" Target="/ppt/notesSlides/notesSlide5.xml" Id="Rb0a70f99082e419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8b6eeadc2a4229" /><Relationship Type="http://schemas.openxmlformats.org/officeDocument/2006/relationships/image" Target="/ppt/media/image5.png" Id="R436da340b44a43d2" /><Relationship Type="http://schemas.openxmlformats.org/officeDocument/2006/relationships/notesSlide" Target="/ppt/notesSlides/notesSlide6.xml" Id="Ra639e7cd4bda4a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078d30d95b466f" /><Relationship Type="http://schemas.openxmlformats.org/officeDocument/2006/relationships/image" Target="/ppt/media/image6.png" Id="R2087a6569e5b4425" /><Relationship Type="http://schemas.openxmlformats.org/officeDocument/2006/relationships/notesSlide" Target="/ppt/notesSlides/notesSlide7.xml" Id="Rc380eb5d3a6549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18135fcc4b498b" /><Relationship Type="http://schemas.openxmlformats.org/officeDocument/2006/relationships/notesSlide" Target="/ppt/notesSlides/notesSlide8.xml" Id="R5b7def9e5ad3492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33bb09dd9b4f1a" /><Relationship Type="http://schemas.openxmlformats.org/officeDocument/2006/relationships/notesSlide" Target="/ppt/notesSlides/notesSlide9.xml" Id="R8484c3d9b98b445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2f2c7b409c46fd" /><Relationship Type="http://schemas.openxmlformats.org/officeDocument/2006/relationships/notesSlide" Target="/ppt/notesSlides/notesSlide10.xml" Id="Rd99bbe53aa5443f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d14687f12943ca" /><Relationship Type="http://schemas.openxmlformats.org/officeDocument/2006/relationships/notesSlide" Target="/ppt/notesSlides/notesSlide11.xml" Id="Ra6d560c4e1d540c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0b50645c9344e0" /><Relationship Type="http://schemas.openxmlformats.org/officeDocument/2006/relationships/notesSlide" Target="/ppt/notesSlides/notesSlide12.xml" Id="R1cbd44c51f564a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155E34-1A0C-4D0C-9158-60067C85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1/4：既有加工需求的來源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41473F-43C4-41D2-905D-E6B2ED3F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388927-4385-4230-ACB0-3F008257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FA357-D873-4E9A-9CDE-0F0DE9A66C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e42a42327f4f94"/>
          <a:stretch xmlns:a="http://schemas.openxmlformats.org/drawingml/2006/main"/>
        </p:blipFill>
        <p:spPr>
          <a:xfrm xmlns:a="http://schemas.openxmlformats.org/drawingml/2006/main">
            <a:off x="884212" y="1285875"/>
            <a:ext cx="2784527" cy="3857625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2F236B-B931-4882-868E-1A5109FF64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77162a4bb34266"/>
          <a:stretch xmlns:a="http://schemas.openxmlformats.org/drawingml/2006/main"/>
        </p:blipFill>
        <p:spPr>
          <a:xfrm xmlns:a="http://schemas.openxmlformats.org/drawingml/2006/main">
            <a:off x="4598962" y="1285875"/>
            <a:ext cx="2784527" cy="385762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3BAD5-1623-485A-8F59-8420F32251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6d55ccdb24195"/>
          <a:stretch xmlns:a="http://schemas.openxmlformats.org/drawingml/2006/main"/>
        </p:blipFill>
        <p:spPr>
          <a:xfrm xmlns:a="http://schemas.openxmlformats.org/drawingml/2006/main">
            <a:off x="8313712" y="1285875"/>
            <a:ext cx="2784527" cy="3857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B9F8D-EBE1-47B7-A5C4-F47EB586A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委外加工排程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EB8BC0-4E3B-4EC7-BAB0-7829E6EC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盤元催料資料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38DB4-12D4-4E92-A025-FB9345BC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球化相關催料資料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547EDB-3DE3-4401-8A79-EBA7C9BB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既有單位決定加工安排；本系統接收需求，從實際入庫開始串接。</a:t>
            </a:r>
          </a:p>
        </p:txBody>
      </p:sp>
    </p:spTree>
    <p:extLst>
      <p:ext uri="{BB962C8B-B14F-4D97-AF65-F5344CB8AC3E}">
        <p14:creationId xmlns:p14="http://schemas.microsoft.com/office/powerpoint/2010/main" val="3293441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CC375B-A6E4-4994-9A14-647BC5AB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2/4：生管建立 MES 催料單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674680-CFD6-4EA7-9EBF-F6F0A694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D2990-FABB-4942-A59C-76FED77A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93C73-EA59-4F64-A790-55AF7AD10D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2a49edc724e6c"/>
          <a:stretch xmlns:a="http://schemas.openxmlformats.org/drawingml/2006/main"/>
        </p:blipFill>
        <p:spPr>
          <a:xfrm xmlns:a="http://schemas.openxmlformats.org/drawingml/2006/main">
            <a:off x="609600" y="1745601"/>
            <a:ext cx="10972800" cy="203329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CFA927-C9A6-46BB-909A-4E0A4E0F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　核對工令與客戶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30AD49-4FEA-4A3C-ACFC-82D237D56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2　登錄規格與預計件數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77F248-FCBD-4748-827C-25AE245A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3　儲存催料單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C00C3B-9643-45FE-A983-94C9FA9A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紙本需求提供輸入依據，MES 保存工令、製程、材質、線徑與件數。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19FE1-513F-42E8-9A42-06040F71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此時只有預計加工資料，是否到場仍待收料人員確認。</a:t>
            </a:r>
          </a:p>
        </p:txBody>
      </p:sp>
    </p:spTree>
    <p:extLst>
      <p:ext uri="{BB962C8B-B14F-4D97-AF65-F5344CB8AC3E}">
        <p14:creationId xmlns:p14="http://schemas.microsoft.com/office/powerpoint/2010/main" val="4149616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E5A762-916A-4F89-9DD1-4D756C1D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3/4：訂單找資料，條碼認物料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A3071E-80EB-446C-BC52-93E57706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1C37EB-261E-4072-A49D-4BDDD5FD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9938E9-C317-4057-A095-6D17E578C3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f6cf1d37f94aac"/>
          <a:stretch xmlns:a="http://schemas.openxmlformats.org/drawingml/2006/main"/>
        </p:blipFill>
        <p:spPr>
          <a:xfrm xmlns:a="http://schemas.openxmlformats.org/drawingml/2006/main">
            <a:off x="633459" y="1381125"/>
            <a:ext cx="3381283" cy="314325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820CD8-D721-4438-84AE-BAA7C8B1B9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d9544f541b4efe"/>
          <a:stretch xmlns:a="http://schemas.openxmlformats.org/drawingml/2006/main"/>
        </p:blipFill>
        <p:spPr>
          <a:xfrm xmlns:a="http://schemas.openxmlformats.org/drawingml/2006/main">
            <a:off x="5031921" y="1333500"/>
            <a:ext cx="2032909" cy="33337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C44E2D-02A1-4503-8979-2474D27108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959c5e72847bc"/>
          <a:stretch xmlns:a="http://schemas.openxmlformats.org/drawingml/2006/main"/>
        </p:blipFill>
        <p:spPr>
          <a:xfrm xmlns:a="http://schemas.openxmlformats.org/drawingml/2006/main">
            <a:off x="8512687" y="1333500"/>
            <a:ext cx="2500877" cy="3333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82C12-373C-4A05-97E3-22E8B753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訂單／工令號碼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1C5F1F-C701-4D0A-8216-78B10E64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342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搜尋對應催料單。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FFA2F6-31AC-4CE7-A0AD-A2FC4DE4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原鐵牌條碼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189CBC-2E74-4739-87E8-BF169E85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200650"/>
            <a:ext cx="342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可讀取且能區分盤元時沿用。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14ED8C-6C8F-4B01-AD0E-EB38284B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備用 QR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1A0042-5BA4-44ED-93C6-E4EFD1252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00650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原碼損毀時才補貼。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31D52C-68BE-41A9-A839-D30DF995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同一工單可串接多顆盤元，每顆保存自己的識別碼與重量。</a:t>
            </a:r>
          </a:p>
        </p:txBody>
      </p:sp>
    </p:spTree>
    <p:extLst>
      <p:ext uri="{BB962C8B-B14F-4D97-AF65-F5344CB8AC3E}">
        <p14:creationId xmlns:p14="http://schemas.microsoft.com/office/powerpoint/2010/main" val="1550128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0609F6-C773-4451-A01D-9DB6E111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4/4：收料人員確認入庫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87656A-E5A5-4C01-9F65-46317E7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6562C7-35AD-4C16-96A8-4BB3F027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269924-54C1-484D-86B2-4F818C5216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0f3d9f16524f33"/>
          <a:stretch xmlns:a="http://schemas.openxmlformats.org/drawingml/2006/main"/>
        </p:blipFill>
        <p:spPr>
          <a:xfrm xmlns:a="http://schemas.openxmlformats.org/drawingml/2006/main">
            <a:off x="654685" y="1285875"/>
            <a:ext cx="10882630" cy="3667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FB5B6-B442-4D82-B5B6-896D6AC5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① 搜尋並選取工單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50D99-8A52-42C5-BCAE-5C47CC30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② 核對物料資料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ADD012-9AC2-44B7-9D4A-3BDA1D29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③ 掃描條碼／QR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B27E78-A0C0-4953-BD30-1B6E1304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④ 確認重量、入庫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6F7902-2948-408C-ACC1-8CC037CA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完成入庫後，後續人員掃描同一識別碼，就能連到既有物料資料。</a:t>
            </a:r>
          </a:p>
        </p:txBody>
      </p:sp>
    </p:spTree>
    <p:extLst>
      <p:ext uri="{BB962C8B-B14F-4D97-AF65-F5344CB8AC3E}">
        <p14:creationId xmlns:p14="http://schemas.microsoft.com/office/powerpoint/2010/main" val="16829465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3ED31-CD3E-4917-9587-168818E4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洗入回報：掃碼後記錄進場酸洗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ED0361-F2F9-435C-A11E-220C896D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68D9D1-6721-47E9-AB78-E1CA6283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BB507-9A17-4AB0-A9C3-C1A7B22C7D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2914fc278346a6"/>
          <a:stretch xmlns:a="http://schemas.openxmlformats.org/drawingml/2006/main"/>
        </p:blipFill>
        <p:spPr>
          <a:xfrm xmlns:a="http://schemas.openxmlformats.org/drawingml/2006/main">
            <a:off x="620183" y="1333500"/>
            <a:ext cx="10951633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0CF397-1934-4150-8167-6DF2E758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選擇藍底「掃碼洗入」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25A57-D4E7-411E-892C-0DF0DE890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掃碼並填爐號、桿號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8673A6-96D7-479F-B1F9-11649DA8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按下「確認洗入」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6B9627-F2E5-460D-9531-04493C04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系統回報入洗時間與物料資料，讓其他人知道這顆盤元已進入加工。</a:t>
            </a:r>
          </a:p>
        </p:txBody>
      </p:sp>
    </p:spTree>
    <p:extLst>
      <p:ext uri="{BB962C8B-B14F-4D97-AF65-F5344CB8AC3E}">
        <p14:creationId xmlns:p14="http://schemas.microsoft.com/office/powerpoint/2010/main" val="3177239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7095F7-60ED-491F-B032-C0D9B8CE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洗出回報：再次掃碼確認酸洗完工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9E18A5-7BF3-4173-AFFF-ED531D84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2BFD6B-10C8-45E0-A2BF-EBE9B671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52A610-9D36-4F6F-8DF1-AC8BC5047F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6da340b44a43d2"/>
          <a:stretch xmlns:a="http://schemas.openxmlformats.org/drawingml/2006/main"/>
        </p:blipFill>
        <p:spPr>
          <a:xfrm xmlns:a="http://schemas.openxmlformats.org/drawingml/2006/main">
            <a:off x="793494" y="1333500"/>
            <a:ext cx="10605012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729904-B648-4642-8827-5DA37B68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選擇橘底「掃碼洗出」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731CC-BB06-4487-8828-1B00F91A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掃碼、核對原洗入資料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C19A8-7E51-47BA-8508-5EB4DCFA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按下「確認洗出」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DDC83A-CEF8-472F-92E8-DD4FED07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確認洗出才代表酸洗完工，洗出時間提供中央生管及下游準備依據。</a:t>
            </a:r>
          </a:p>
        </p:txBody>
      </p:sp>
    </p:spTree>
    <p:extLst>
      <p:ext uri="{BB962C8B-B14F-4D97-AF65-F5344CB8AC3E}">
        <p14:creationId xmlns:p14="http://schemas.microsoft.com/office/powerpoint/2010/main" val="6875212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1AFC75-C63D-42D8-B346-D1632D4A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共享明細：洗入後可查，洗出後更新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0D1A11-FC3A-489B-8331-F9B982D4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EE900D-9E6E-4344-9903-581EF8D9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A9A313-4BE5-4317-AA1A-37095974E9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87a6569e5b4425"/>
          <a:stretch xmlns:a="http://schemas.openxmlformats.org/drawingml/2006/main"/>
        </p:blipFill>
        <p:spPr>
          <a:xfrm xmlns:a="http://schemas.openxmlformats.org/drawingml/2006/main">
            <a:off x="1680850" y="1285875"/>
            <a:ext cx="8830301" cy="4000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893952-8F42-4FC3-9650-749D7DF5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洗入：新增入洗時間、桿號與物料資料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C26DE-8CE6-4A5C-8615-98496CF7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8162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洗出：更新洗出時間與完成狀態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7CC9C-0E9A-4688-851D-2F6DE6BF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本圖可見列仍為「待洗出」；同筆完工後的更新將以現場 DEMO 核對。</a:t>
            </a:r>
          </a:p>
        </p:txBody>
      </p:sp>
    </p:spTree>
    <p:extLst>
      <p:ext uri="{BB962C8B-B14F-4D97-AF65-F5344CB8AC3E}">
        <p14:creationId xmlns:p14="http://schemas.microsoft.com/office/powerpoint/2010/main" val="20673944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2AD211-2BBF-493C-B80F-A913FA3C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同一顆盤元的回報與查詢關係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8D49C9-2E3D-4A8A-8D66-7B3BAAD4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4925B-46D2-4EF7-A45E-F0F421E6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A3945-7C68-41DE-8ECD-33C37957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619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入庫完成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172ECD-50C9-46E3-AC77-12245E3A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619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實物連到工單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78B4DE-9D92-460F-9F3A-D33CA307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619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有到場紀錄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7D2CE4-A563-4908-AF89-B6FD08D0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3850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376F7-4BFD-4882-8C00-F9550706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809750"/>
            <a:ext cx="2619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確認洗入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1C3E4B-7C8E-49C4-92AD-9E842525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667000"/>
            <a:ext cx="2619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掃同一物料碼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1AB8DD-A94C-4C64-AA4A-08E535C8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905250"/>
            <a:ext cx="2619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出現入洗時間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102073-C596-442C-9C83-B637DC4C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23850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FFC5E-834D-4100-ADDC-8536A492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2619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確認洗出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346284-77F8-4B55-A8E7-CD92100D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2619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核對後回報完工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A7BEED-267A-4EB6-A9EA-97C60C0F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05250"/>
            <a:ext cx="2619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出現洗出時間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3CEA60-3F47-4E2A-9364-7313B23D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3850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172EC6-D828-46C8-AFE0-AE5752A28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809750"/>
            <a:ext cx="2619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相關人員查詢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4A726E-710F-446C-8459-30B8502B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667000"/>
            <a:ext cx="2619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查看最新回報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755DA2-B424-41EE-8500-2E7B3BB0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905250"/>
            <a:ext cx="2619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安排後續準備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6F4314-837D-4786-9A16-A1ADE8E6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工令與物料識別碼串起各次現場回報，相關角色查詢同一份紀錄。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CA0E41-9FEC-4954-9AB0-8783B7FF2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洗入代表開始加工；洗出代表酸洗完工，仍需另行安排出貨與運送。</a:t>
            </a:r>
          </a:p>
        </p:txBody>
      </p:sp>
    </p:spTree>
    <p:extLst>
      <p:ext uri="{BB962C8B-B14F-4D97-AF65-F5344CB8AC3E}">
        <p14:creationId xmlns:p14="http://schemas.microsoft.com/office/powerpoint/2010/main" val="295121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1534D7-8159-449E-8D5E-F8A33073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洗出時間如何支援下游提前準備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BDCB5-0CEF-4EFA-BE66-AC2C45C6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6A114D-6F67-42A8-83E2-FABB4C85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9C7EA-172C-4B24-87B9-8B16AF3B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中央生管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E62AD-3E42-4AE6-91B4-B5FE0BA0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確認急件已酸洗完工，協調出貨與後續製程銜接。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41BADA-25E3-48B1-BE7B-348BB0A6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球化人員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A2457-859B-492A-BE01-28E22EA0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依預計可到料時間，提前安排爐次與開爐準備。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73677A-874D-4261-9A69-492FC743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伸線人員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C4C72-4AEC-4582-B1B9-AF491EDF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依下一批物料的材質與線徑，提前預排更換模具。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0ED7C9-552E-423D-AE97-4DB67F7B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MES 提供回報資訊，由人員依製程路徑、運輸與設備條件決定安排。</a:t>
            </a:r>
          </a:p>
        </p:txBody>
      </p:sp>
    </p:spTree>
    <p:extLst>
      <p:ext uri="{BB962C8B-B14F-4D97-AF65-F5344CB8AC3E}">
        <p14:creationId xmlns:p14="http://schemas.microsoft.com/office/powerpoint/2010/main" val="6048625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2C32B7-6A0B-457F-9632-3A4D893C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本次 DEMO：現場回報與另一端查詢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17C415-272E-4898-98D3-59EBA3F0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6339BD-044A-44E2-81B0-C776C913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486785-453E-497D-A94A-00D5B04D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操作端：入洗人員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31D87-1DDD-4329-A56D-2AADD437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掃描已綁定的測試碼並確認洗入，再掃同一碼確認洗出。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5F9A0C-E7F5-417D-9701-2D7FEAB9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查詢端：生管／下游角色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95B8BD-C109-4F77-9C71-60565E4A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查看同一筆資料的入洗時間、洗出時間與狀態變化。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8B7126-5353-43AB-8C04-F7735923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CBB51-6D19-4F78-A0B2-2D367E77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碼值與工單一致、洗入與洗出時間正確，其他角色能查到更新。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1473DE-5876-46E7-9CE8-56FCB650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3445 測試環境展示；另記錄回報到可查詢的時間及是否需要刷新。</a:t>
            </a:r>
          </a:p>
        </p:txBody>
      </p:sp>
    </p:spTree>
    <p:extLst>
      <p:ext uri="{BB962C8B-B14F-4D97-AF65-F5344CB8AC3E}">
        <p14:creationId xmlns:p14="http://schemas.microsoft.com/office/powerpoint/2010/main" val="10563159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8154B3-4CD1-4E2E-98A5-617F797B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為何導入天車作業 AR：補足可追溯證據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CFCDED-D634-4B96-BD81-42535DCA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09BEA-5CDE-4650-BD82-72E4BA94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FD5A94-07AB-4935-84C1-E4BA1003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現況缺口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34C65A-174E-4C77-A06C-8B0DC449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每支桿號在各槽的入洗時間，原本依機械式計時器與 LED 燈閃爍判讀，沒有留下可回查的 LOG 檔。遇到客訴時，難以提出完整且可核對的入洗時間證據。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66961-4615-4A83-A2A3-CE2B07A0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設備維護負擔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4E7A7-ACB8-4B25-9A63-AFEC0A79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鹽酸區的實體計數器與 LED 燈容易受環境影響，壽命與維修更換成本需要持續負擔。實際故障率與費用仍需建立基準資料。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A27CDB-A617-46CD-9269-D7D4606C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導入方向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D537DA-FE30-4DD9-8490-4DE67528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以工時與平板回報取代只靠現場燈號判讀。操作人員在天車作業時回報桿號、槽位與時間，收班後將平板帶回實驗室充電，讓資料可保存、查詢並支援客訴追溯。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208250-E29D-4686-BC0B-C5D52D16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天車 AR 的目的：讓「哪一支桿、在哪一槽、何時入洗」形成可查詢的作業證據，並評估降低現場計時器維護依賴。</a:t>
            </a:r>
          </a:p>
        </p:txBody>
      </p:sp>
    </p:spTree>
    <p:extLst>
      <p:ext uri="{BB962C8B-B14F-4D97-AF65-F5344CB8AC3E}">
        <p14:creationId xmlns:p14="http://schemas.microsoft.com/office/powerpoint/2010/main" val="10110393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6B31DA-0658-42D5-983F-1E80DD9E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10/27 面談後進度與 11/10 報告安排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3C1127-3F0B-4654-89E1-B61D9534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63F3CA-C9E0-4B28-96D7-07B6213A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796C91-9E4B-479C-ADE4-948F2466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項目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1AE3F6-A679-4FBA-B5EC-DC625A9A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33350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10/27 面談後狀態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0DAC0-93F2-4530-BE88-E89531AF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33350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11/10 報告要帶的證據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6DF10-7AE7-4024-B6A1-CB81A2A1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AR 報告展示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96C203-633A-4DD5-BC73-82E22E9B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0025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生產線展示效果良好；前置 15 分鐘配對仍偏繁瑣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1B05BC-6737-4350-8AAD-F1156851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002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整理使用流程與縮短前置作業的待辦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E85E9-BEA0-4901-91BB-2B96BE87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天車作業目的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34B91-38F6-4317-844E-92B7A4BD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6700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已釐清為補足入洗 LOG、客訴追溯與降低計時器維護依賴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33C6D9-6EEF-49DD-9D41-E43F311F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6700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說明現況缺口、導入邏輯與資料欄位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F1A1A6-3CC1-4A05-A33E-F38EB04A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作業資料串接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038101-9A03-4844-B72F-EF1BDE78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33375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AR 測試可操作；自主表尚未完成串接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90663C-FDB5-4F60-8986-CA4B2E33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337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列出資料介面與責任邊界，不宣稱已完成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A2416-03B7-4051-9922-B04DEB08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效益驗證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6A807C-D1EC-4BF1-9540-5DFF4A35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00050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尚無設備壽命、維修費用或客訴證據的量化基準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A07BF4-5AD7-47A9-8D78-D42BF874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0050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提出計時、故障／維修與客訴追溯的量測表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2E3CDC-67E0-46D1-85EE-7CB5E8EE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59D4AE-A104-4271-9DD6-0A20126F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66725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建立桿號、槽位、入洗時間與操作者的可回查紀錄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0557E9-406F-4354-B788-D1FC9B7C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672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確認樣本範圍、欄位與現場測試方式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4858FF-8A32-4ED8-B7A7-9957C141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下一次報告：2026/11/10；先完成證據欄位與量測方法，再判斷是否能證明時間、維修與客訴處理改善。</a:t>
            </a:r>
          </a:p>
        </p:txBody>
      </p:sp>
    </p:spTree>
    <p:extLst>
      <p:ext uri="{BB962C8B-B14F-4D97-AF65-F5344CB8AC3E}">
        <p14:creationId xmlns:p14="http://schemas.microsoft.com/office/powerpoint/2010/main" val="6857562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2026-10-28T06:55:36.6390000Z</dcterms:created>
  <dcterms:modified xsi:type="dcterms:W3CDTF">2026-10-28T06:55:36.6390000Z</dcterms:modified>
</coreProperties>
</file>
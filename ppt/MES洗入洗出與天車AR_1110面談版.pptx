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3b60fa54d646bb" /><Relationship Type="http://schemas.openxmlformats.org/officeDocument/2006/relationships/extended-properties" Target="/docProps/app.xml" Id="R03dcf1c6a2824ad3" /><Relationship Type="http://schemas.openxmlformats.org/officeDocument/2006/relationships/officeDocument" Target="/ppt/presentation.xml" Id="Ra14d6500858d45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2157e44e8c45d6"/>
  </p:sldMasterIdLst>
  <p:notesMasterIdLst>
    <p:notesMasterId xmlns:r="http://schemas.openxmlformats.org/officeDocument/2006/relationships" r:id="R502c611d5c994a2d"/>
  </p:notesMasterIdLst>
  <p:sldIdLst>
    <p:sldId xmlns:r="http://schemas.openxmlformats.org/officeDocument/2006/relationships" id="256" r:id="R5b564a259df2496c"/>
    <p:sldId xmlns:r="http://schemas.openxmlformats.org/officeDocument/2006/relationships" id="257" r:id="R3de263f04aa3467e"/>
    <p:sldId xmlns:r="http://schemas.openxmlformats.org/officeDocument/2006/relationships" id="258" r:id="R93880347ee894374"/>
    <p:sldId xmlns:r="http://schemas.openxmlformats.org/officeDocument/2006/relationships" id="259" r:id="Rd464b42a9b7440a3"/>
    <p:sldId xmlns:r="http://schemas.openxmlformats.org/officeDocument/2006/relationships" id="260" r:id="Rff6a0d1c04d144ca"/>
    <p:sldId xmlns:r="http://schemas.openxmlformats.org/officeDocument/2006/relationships" id="261" r:id="R57802fe33e2648e2"/>
    <p:sldId xmlns:r="http://schemas.openxmlformats.org/officeDocument/2006/relationships" id="262" r:id="R9d85f579a4874dc7"/>
    <p:sldId xmlns:r="http://schemas.openxmlformats.org/officeDocument/2006/relationships" id="263" r:id="R645c0b61366d41b3"/>
    <p:sldId xmlns:r="http://schemas.openxmlformats.org/officeDocument/2006/relationships" id="264" r:id="R3eb54ce32bc34646"/>
    <p:sldId xmlns:r="http://schemas.openxmlformats.org/officeDocument/2006/relationships" id="265" r:id="R202bbfdd09fe463e"/>
    <p:sldId xmlns:r="http://schemas.openxmlformats.org/officeDocument/2006/relationships" id="266" r:id="Rfcdab9bb6244429f"/>
    <p:sldId xmlns:r="http://schemas.openxmlformats.org/officeDocument/2006/relationships" id="267" r:id="R58b6134f87fa4aba"/>
    <p:sldId xmlns:r="http://schemas.openxmlformats.org/officeDocument/2006/relationships" id="268" r:id="Rc4858d148297464b"/>
    <p:sldId xmlns:r="http://schemas.openxmlformats.org/officeDocument/2006/relationships" id="269" r:id="R480fd60cd05a46c1"/>
    <p:sldId xmlns:r="http://schemas.openxmlformats.org/officeDocument/2006/relationships" id="270" r:id="Reb8faa9ee4ae4575"/>
    <p:sldId xmlns:r="http://schemas.openxmlformats.org/officeDocument/2006/relationships" id="271" r:id="R5955043389a946c3"/>
    <p:sldId xmlns:r="http://schemas.openxmlformats.org/officeDocument/2006/relationships" id="272" r:id="R1024e82db82a4d17"/>
    <p:sldId xmlns:r="http://schemas.openxmlformats.org/officeDocument/2006/relationships" id="273" r:id="R092d8acbc9a444f4"/>
    <p:sldId xmlns:r="http://schemas.openxmlformats.org/officeDocument/2006/relationships" id="274" r:id="R949a41439d8444e1"/>
    <p:sldId xmlns:r="http://schemas.openxmlformats.org/officeDocument/2006/relationships" id="275" r:id="Rea5b6a52802f4348"/>
    <p:sldId xmlns:r="http://schemas.openxmlformats.org/officeDocument/2006/relationships" id="276" r:id="R21640985b66544b1"/>
    <p:sldId xmlns:r="http://schemas.openxmlformats.org/officeDocument/2006/relationships" id="277" r:id="Rff16042f7b1c49b2"/>
    <p:sldId xmlns:r="http://schemas.openxmlformats.org/officeDocument/2006/relationships" id="278" r:id="R584df624a29942ee"/>
    <p:sldId xmlns:r="http://schemas.openxmlformats.org/officeDocument/2006/relationships" id="279" r:id="R0c5d70b8a11e40ed"/>
    <p:sldId xmlns:r="http://schemas.openxmlformats.org/officeDocument/2006/relationships" id="280" r:id="R21d217639da8411e"/>
    <p:sldId xmlns:r="http://schemas.openxmlformats.org/officeDocument/2006/relationships" id="281" r:id="R7a3193bb0c5b4184"/>
    <p:sldId xmlns:r="http://schemas.openxmlformats.org/officeDocument/2006/relationships" id="282" r:id="R435f1037ba3241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ce66b337d447a8" /><Relationship Type="http://schemas.openxmlformats.org/officeDocument/2006/relationships/slideMaster" Target="/ppt/slideMasters/slideMaster1.xml" Id="R512157e44e8c45d6" /><Relationship Type="http://schemas.openxmlformats.org/officeDocument/2006/relationships/notesMaster" Target="/ppt/notesMasters/notesMaster1.xml" Id="R502c611d5c994a2d" /><Relationship Type="http://schemas.openxmlformats.org/officeDocument/2006/relationships/presProps" Target="/ppt/presProps.xml" Id="R3d8eb35c14f54136" /><Relationship Type="http://schemas.openxmlformats.org/officeDocument/2006/relationships/tableStyles" Target="/ppt/tableStyles.xml" Id="Rb811a4b83398403b" /><Relationship Type="http://schemas.openxmlformats.org/officeDocument/2006/relationships/slide" Target="/ppt/slides/slide1.xml" Id="R5b564a259df2496c" /><Relationship Type="http://schemas.openxmlformats.org/officeDocument/2006/relationships/slide" Target="/ppt/slides/slide2.xml" Id="R3de263f04aa3467e" /><Relationship Type="http://schemas.openxmlformats.org/officeDocument/2006/relationships/slide" Target="/ppt/slides/slide3.xml" Id="R93880347ee894374" /><Relationship Type="http://schemas.openxmlformats.org/officeDocument/2006/relationships/slide" Target="/ppt/slides/slide4.xml" Id="Rd464b42a9b7440a3" /><Relationship Type="http://schemas.openxmlformats.org/officeDocument/2006/relationships/slide" Target="/ppt/slides/slide5.xml" Id="Rff6a0d1c04d144ca" /><Relationship Type="http://schemas.openxmlformats.org/officeDocument/2006/relationships/slide" Target="/ppt/slides/slide6.xml" Id="R57802fe33e2648e2" /><Relationship Type="http://schemas.openxmlformats.org/officeDocument/2006/relationships/slide" Target="/ppt/slides/slide7.xml" Id="R9d85f579a4874dc7" /><Relationship Type="http://schemas.openxmlformats.org/officeDocument/2006/relationships/slide" Target="/ppt/slides/slide8.xml" Id="R645c0b61366d41b3" /><Relationship Type="http://schemas.openxmlformats.org/officeDocument/2006/relationships/slide" Target="/ppt/slides/slide9.xml" Id="R3eb54ce32bc34646" /><Relationship Type="http://schemas.openxmlformats.org/officeDocument/2006/relationships/slide" Target="/ppt/slides/slide10.xml" Id="R202bbfdd09fe463e" /><Relationship Type="http://schemas.openxmlformats.org/officeDocument/2006/relationships/slide" Target="/ppt/slides/slide11.xml" Id="Rfcdab9bb6244429f" /><Relationship Type="http://schemas.openxmlformats.org/officeDocument/2006/relationships/slide" Target="/ppt/slides/slide12.xml" Id="R58b6134f87fa4aba" /><Relationship Type="http://schemas.openxmlformats.org/officeDocument/2006/relationships/slide" Target="/ppt/slides/slide13.xml" Id="Rc4858d148297464b" /><Relationship Type="http://schemas.openxmlformats.org/officeDocument/2006/relationships/slide" Target="/ppt/slides/slide14.xml" Id="R480fd60cd05a46c1" /><Relationship Type="http://schemas.openxmlformats.org/officeDocument/2006/relationships/slide" Target="/ppt/slides/slide15.xml" Id="Reb8faa9ee4ae4575" /><Relationship Type="http://schemas.openxmlformats.org/officeDocument/2006/relationships/slide" Target="/ppt/slides/slide16.xml" Id="R5955043389a946c3" /><Relationship Type="http://schemas.openxmlformats.org/officeDocument/2006/relationships/slide" Target="/ppt/slides/slide17.xml" Id="R1024e82db82a4d17" /><Relationship Type="http://schemas.openxmlformats.org/officeDocument/2006/relationships/slide" Target="/ppt/slides/slide18.xml" Id="R092d8acbc9a444f4" /><Relationship Type="http://schemas.openxmlformats.org/officeDocument/2006/relationships/slide" Target="/ppt/slides/slide19.xml" Id="R949a41439d8444e1" /><Relationship Type="http://schemas.openxmlformats.org/officeDocument/2006/relationships/slide" Target="/ppt/slides/slide20.xml" Id="Rea5b6a52802f4348" /><Relationship Type="http://schemas.openxmlformats.org/officeDocument/2006/relationships/slide" Target="/ppt/slides/slide21.xml" Id="R21640985b66544b1" /><Relationship Type="http://schemas.openxmlformats.org/officeDocument/2006/relationships/slide" Target="/ppt/slides/slide22.xml" Id="Rff16042f7b1c49b2" /><Relationship Type="http://schemas.openxmlformats.org/officeDocument/2006/relationships/slide" Target="/ppt/slides/slide23.xml" Id="R584df624a29942ee" /><Relationship Type="http://schemas.openxmlformats.org/officeDocument/2006/relationships/slide" Target="/ppt/slides/slide24.xml" Id="R0c5d70b8a11e40ed" /><Relationship Type="http://schemas.openxmlformats.org/officeDocument/2006/relationships/slide" Target="/ppt/slides/slide25.xml" Id="R21d217639da8411e" /><Relationship Type="http://schemas.openxmlformats.org/officeDocument/2006/relationships/slide" Target="/ppt/slides/slide26.xml" Id="R7a3193bb0c5b4184" /><Relationship Type="http://schemas.openxmlformats.org/officeDocument/2006/relationships/slide" Target="/ppt/slides/slide27.xml" Id="R435f1037ba3241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1871046a7245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923183d4684e08" /><Relationship Type="http://schemas.openxmlformats.org/officeDocument/2006/relationships/notesMaster" Target="/ppt/notesMasters/notesMaster1.xml" Id="R96098c3878964b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52b166053949f0" /><Relationship Type="http://schemas.openxmlformats.org/officeDocument/2006/relationships/notesMaster" Target="/ppt/notesMasters/notesMaster1.xml" Id="R7a6eec33ecfb4d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120a2eb7ea4944" /><Relationship Type="http://schemas.openxmlformats.org/officeDocument/2006/relationships/notesMaster" Target="/ppt/notesMasters/notesMaster1.xml" Id="R75a704e0e6b645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e8631f6b9f43ec" /><Relationship Type="http://schemas.openxmlformats.org/officeDocument/2006/relationships/notesMaster" Target="/ppt/notesMasters/notesMaster1.xml" Id="R528e87d9399148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a5fbde58f24e9c" /><Relationship Type="http://schemas.openxmlformats.org/officeDocument/2006/relationships/notesMaster" Target="/ppt/notesMasters/notesMaster1.xml" Id="Re95ec678913948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826baa965d44da7" /><Relationship Type="http://schemas.openxmlformats.org/officeDocument/2006/relationships/notesMaster" Target="/ppt/notesMasters/notesMaster1.xml" Id="Rdf7198f799da4f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fefd4cfd9c46f7" /><Relationship Type="http://schemas.openxmlformats.org/officeDocument/2006/relationships/notesMaster" Target="/ppt/notesMasters/notesMaster1.xml" Id="Rede02c0c5ba147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838711fa28450e" /><Relationship Type="http://schemas.openxmlformats.org/officeDocument/2006/relationships/notesMaster" Target="/ppt/notesMasters/notesMaster1.xml" Id="R7c1cc62de0f041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f964f172d5945fa" /><Relationship Type="http://schemas.openxmlformats.org/officeDocument/2006/relationships/notesMaster" Target="/ppt/notesMasters/notesMaster1.xml" Id="Rb6d4eba5128244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77da95987f641ca" /><Relationship Type="http://schemas.openxmlformats.org/officeDocument/2006/relationships/notesMaster" Target="/ppt/notesMasters/notesMaster1.xml" Id="R75bec79e1ca5459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27ce6842b54d78" /><Relationship Type="http://schemas.openxmlformats.org/officeDocument/2006/relationships/notesMaster" Target="/ppt/notesMasters/notesMaster1.xml" Id="R0f28483b810544d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d6fc874ed94d5b" /><Relationship Type="http://schemas.openxmlformats.org/officeDocument/2006/relationships/notesMaster" Target="/ppt/notesMasters/notesMaster1.xml" Id="R8e54ff91c3df4eb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d89a594f3d6418b" /><Relationship Type="http://schemas.openxmlformats.org/officeDocument/2006/relationships/notesMaster" Target="/ppt/notesMasters/notesMaster1.xml" Id="R1d33f3fb794d456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53aa16ac5c34675" /><Relationship Type="http://schemas.openxmlformats.org/officeDocument/2006/relationships/notesMaster" Target="/ppt/notesMasters/notesMaster1.xml" Id="R037c05b782de419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f842ac6c2d3496b" /><Relationship Type="http://schemas.openxmlformats.org/officeDocument/2006/relationships/notesMaster" Target="/ppt/notesMasters/notesMaster1.xml" Id="R3e2441130a5a4f5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bb713a03e3b4ea3" /><Relationship Type="http://schemas.openxmlformats.org/officeDocument/2006/relationships/notesMaster" Target="/ppt/notesMasters/notesMaster1.xml" Id="Rb6006a75998a47f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30fc9a527c44f0d" /><Relationship Type="http://schemas.openxmlformats.org/officeDocument/2006/relationships/notesMaster" Target="/ppt/notesMasters/notesMaster1.xml" Id="R0024120de2f74ba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a0b0f0f29a14665" /><Relationship Type="http://schemas.openxmlformats.org/officeDocument/2006/relationships/notesMaster" Target="/ppt/notesMasters/notesMaster1.xml" Id="R89b4a3142a4047b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cfb99bd7a654faf" /><Relationship Type="http://schemas.openxmlformats.org/officeDocument/2006/relationships/notesMaster" Target="/ppt/notesMasters/notesMaster1.xml" Id="R15e8da3c7321425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1baf602e9c4426b" /><Relationship Type="http://schemas.openxmlformats.org/officeDocument/2006/relationships/notesMaster" Target="/ppt/notesMasters/notesMaster1.xml" Id="Rdccbf4b186b34a8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02d261930354e52" /><Relationship Type="http://schemas.openxmlformats.org/officeDocument/2006/relationships/notesMaster" Target="/ppt/notesMasters/notesMaster1.xml" Id="Rdc9c63c5088a4ed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8d3321cc32b443f" /><Relationship Type="http://schemas.openxmlformats.org/officeDocument/2006/relationships/notesMaster" Target="/ppt/notesMasters/notesMaster1.xml" Id="R1408038194fd4d4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5c487772a294670" /><Relationship Type="http://schemas.openxmlformats.org/officeDocument/2006/relationships/notesMaster" Target="/ppt/notesMasters/notesMaster1.xml" Id="Rcac59f17e12940b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011b5c4551a4534" /><Relationship Type="http://schemas.openxmlformats.org/officeDocument/2006/relationships/notesMaster" Target="/ppt/notesMasters/notesMaster1.xml" Id="R7bc5bf92c315485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ee82ef0e26e4616" /><Relationship Type="http://schemas.openxmlformats.org/officeDocument/2006/relationships/notesMaster" Target="/ppt/notesMasters/notesMaster1.xml" Id="Raf73d6e2448c471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36eeb039e8c4b2f" /><Relationship Type="http://schemas.openxmlformats.org/officeDocument/2006/relationships/notesMaster" Target="/ppt/notesMasters/notesMaster1.xml" Id="R9475e9809f284b9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cfdd7d8e5934dfb" /><Relationship Type="http://schemas.openxmlformats.org/officeDocument/2006/relationships/notesMaster" Target="/ppt/notesMasters/notesMaster1.xml" Id="R0e14ce3f0c7348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10/6、10/13、10/20、10/27 為歷次進度；10/28–29 為後續實作；11/10 為預定報告。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為何從酸洗廠切入？：酸洗廠承接派工與實物流動；入庫 → 入洗 → 洗出 → 出貨，是跨角色共同紀錄的起點。</a:t>
            </a:r>
          </a:p>
          <a:p xmlns:a="http://schemas.openxmlformats.org/drawingml/2006/main">
            <a:r>
              <a:t>客訴時缺少什麼？：原機械計時器與 LED 未回饋每桿、每槽的入槽時間 LOG，難以提交完整且可核對的加工證據。</a:t>
            </a:r>
          </a:p>
          <a:p xmlns:a="http://schemas.openxmlformats.org/drawingml/2006/main">
            <a:r>
              <a:t>研究要留下什麼？：本次桿次、逐顆材料、實際槽位、計時與操作事件，供主管、四台天車及後續追溯共同查詢。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看不清，也可能已被遮住：產線長、槽體距離遠；盤元浸入槽內後，標示帶顏色無法持續辨認。</a:t>
            </a:r>
          </a:p>
          <a:p xmlns:a="http://schemas.openxmlformats.org/drawingml/2006/main">
            <a:r>
              <a:t>計時、交接與急件資訊分散：不確定重置是否完成、哪桿應先吊出；主管插單與四台天車之間存在口頭傳遞的時間差。</a:t>
            </a:r>
          </a:p>
          <a:p xmlns:a="http://schemas.openxmlformats.org/drawingml/2006/main">
            <a:r>
              <a:t>資料錯配會延伸成加工風險：不同材質或條件被配在同桿，需要有可核對的逐顆明細；相容規則與攔截成效列為後續驗證。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使用者提供的 AR 與平板即時 3D 方案比較圖，呈現早期定位與追蹤的限制及後續的平板方向。圖中的設備取代、成本和效率等敘述屬方案示意，實際作法及效果需經現場驗證；MES 登入與權限仍保留。原表格要點：AR 使用 A/B 定位與相機追蹤；3D 登入後共享資料，各台可選區域或全場，研究核心為資訊一致、判讀、協作與追溯。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2026/10/30 依使用者提供的兩張圖片更新。圖一為天車立柱安裝構想，使用抱箍與夾具固定可調支臂；圖二為護理推車支架的參考。兩圖用於解釋固定及調整概念，不代表現場已安裝。平板上工裝回、收工拆下帶回實驗室保管與充電。實際固定、吊掛動線、耐蝕及試行由現場確認。圖片來源：使用者於本對話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計時作業：核對桿號與逐顆明細，選擇實際槽位及浸泡時間，確認後開始計時。</a:t>
            </a:r>
          </a:p>
          <a:p xmlns:a="http://schemas.openxmlformats.org/drawingml/2006/main">
            <a:r>
              <a:t>查看 3D：按一個入口開啟槽位圖；字卡顯示桿號、計時與急件數字，點字卡查看逐顆材料。</a:t>
            </a:r>
          </a:p>
          <a:p xmlns:a="http://schemas.openxmlformats.org/drawingml/2006/main">
            <a:r>
              <a:t>返回計時：隱藏 3D 回到作業畫面，原計時繼續；次要查詢與範圍選擇收合，減少主畫面按鈕。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此圖由使用者提供，補充前一頁的計時與 3D 畫面切換。第 1 步核對逐顆明細並由操作員選擇實際槽位與浸泡時間，確認後計時；查看 3D 時原計時不中斷；返回後繼續操作。圖示畫面、數據及取代實體設備的安排均屬示意，仍待現場驗證。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天車展示工作區保存試用位置與計時；自主表讀取不自動修改洗入／洗出業務紀錄。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清除數量為本輪清理當時的狀態，不是目前固定桿數。自主表來源為測試服務端既有資料。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正規化涵蓋半／全形括號、連字號與空白。此三顆用於說明同桿規則，不代表每桿固定三顆。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不能宣稱已證明一次掃描會自動洗出三顆，也不能宣稱已直接重現早退原因。明確補上部分洗出與全部洗出的判斷及測試。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同一桿號，可能是不同批盤元：洗出完成後，11 號桿可能重新裝料；只以「11」作識別，會混用新舊明細與作業狀態。</a:t>
            </a:r>
          </a:p>
          <a:p xmlns:a="http://schemas.openxmlformats.org/drawingml/2006/main">
            <a:r>
              <a:t>桿次需綁定本次來源紀錄：以自主表與批次來源關聯保存本次逐顆明細；新批次建立獨立桿次，不承接舊槽位、計時或急件。</a:t>
            </a:r>
          </a:p>
          <a:p xmlns:a="http://schemas.openxmlformats.org/drawingml/2006/main">
            <a:r>
              <a:t>資料異常要能被看見：重複顆別列為衝突，不能默默合併；補登、改桿、跨表與跨日案例列入後續現場驗收。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約 2 秒輪詢再加網路與處理耗時，不代表零延遲。發布檔案的瀏覽器連續變化驗證使用攔截的模擬 API。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程式測試另涵蓋最新 OPEN、正規化、批次、重複顆別、權限及來源失敗。發布檔實測用模擬回應，未為驗證而修改業務洗出紀錄。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相容配料攔截、維修費與客訴率改善需另定規則、基準與樣本，現階段沒有量化成果。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圖由使用者提供，用於說明第 14 頁的第 1 個比較項目。此圖為情境示意，不代表圖中距離、介面、數據與改善效果已完成現場驗證；量測結果與正式生產驗收仍待確認。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圖由使用者提供，用於說明第 14 頁的第 2 個比較項目。此圖為情境示意，不代表圖中距離、介面、數據與改善效果已完成現場驗證；量測結果與正式生產驗收仍待確認。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圖由使用者提供，用於說明第 14 頁的第 3 個比較項目。此圖為情境示意，不代表圖中距離、介面、數據與改善效果已完成現場驗證；量測結果與正式生產驗收仍待確認。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圖由使用者提供，用於說明第 14 頁的第 4 個比較項目。此圖為情境示意，不代表圖中距離、介面、數據與改善效果已完成現場驗證；量測結果與正式生產驗收仍待確認。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未來時程是建議驗證安排，並非承諾已完成的里程碑。現場支架與班次測試須依場域安排。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第一步：自主表入洗 → 待入槽：確認最新 OPEN 表與資料日期；查看同桿逐顆材料，台車選槽並計時，3D 顯示對應字卡。</a:t>
            </a:r>
          </a:p>
          <a:p xmlns:a="http://schemas.openxmlformats.org/drawingml/2006/main">
            <a:r>
              <a:t>第二步：主管急件 → 四台共同查看：主管標示急件 1，確認台車、主管及 3D 看到相同桿次與順位；記錄各畫面更新時間。</a:t>
            </a:r>
          </a:p>
          <a:p xmlns:a="http://schemas.openxmlformats.org/drawingml/2006/main">
            <a:r>
              <a:t>第三步：逐顆洗出 → 整桿完成：依序驗證 1／3、2／3 保留；全數完成才移除卡片、關閉明細，歷史仍可查，再驗證同桿換批。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2a7fc6d2424d1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21baf8e51441c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1709c118b34d6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7aa541511b4ec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1f7fece66f4da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66c7a9f1bc43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0B849F-9CB3-4336-AE26-38BA5E1955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5FCFEC6-0BCF-452E-A953-6F0141637F6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A32ECA5-C79B-43E2-BB36-8944FF1FD7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8C2FFF-E372-4D33-ACBE-B6B77052CA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CBEEB8F-379F-44A6-AF7E-CC229E30B2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9AA87C-F18E-4066-9FE8-0160FA40A4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6ED62E6-140D-44A0-B828-5C6CF24A3E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A1D815E-2ECE-40C6-963D-C38854AD586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62300E7-835D-4EDF-BC69-4DC45BAC66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DD4CE4-1363-4B96-9092-E799C35829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277e4f6b164cde" /><Relationship Type="http://schemas.openxmlformats.org/officeDocument/2006/relationships/slideLayout" Target="/ppt/slideLayouts/slideLayout1.xml" Id="R3ae276616d1448ad" /><Relationship Type="http://schemas.openxmlformats.org/officeDocument/2006/relationships/slideLayout" Target="/ppt/slideLayouts/slideLayout2.xml" Id="Rb94053e2d9934521" /><Relationship Type="http://schemas.openxmlformats.org/officeDocument/2006/relationships/slideLayout" Target="/ppt/slideLayouts/slideLayout3.xml" Id="R3f59a6c2fab442be" /><Relationship Type="http://schemas.openxmlformats.org/officeDocument/2006/relationships/slideLayout" Target="/ppt/slideLayouts/slideLayout4.xml" Id="R98840188e53f43d8" /><Relationship Type="http://schemas.openxmlformats.org/officeDocument/2006/relationships/slideLayout" Target="/ppt/slideLayouts/slideLayout5.xml" Id="R6ff2ee98f1be408c" /><Relationship Type="http://schemas.openxmlformats.org/officeDocument/2006/relationships/slideLayout" Target="/ppt/slideLayouts/slideLayout6.xml" Id="Rd95f5ab4ab474b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e276616d1448ad"/>
    <p:sldLayoutId xmlns:r="http://schemas.openxmlformats.org/officeDocument/2006/relationships" id="2147483650" r:id="Rb94053e2d9934521"/>
    <p:sldLayoutId xmlns:r="http://schemas.openxmlformats.org/officeDocument/2006/relationships" id="2147483651" r:id="R3f59a6c2fab442be"/>
    <p:sldLayoutId xmlns:r="http://schemas.openxmlformats.org/officeDocument/2006/relationships" id="2147483652" r:id="R98840188e53f43d8"/>
    <p:sldLayoutId xmlns:r="http://schemas.openxmlformats.org/officeDocument/2006/relationships" id="2147483653" r:id="R6ff2ee98f1be408c"/>
    <p:sldLayoutId xmlns:r="http://schemas.openxmlformats.org/officeDocument/2006/relationships" id="2147483654" r:id="Rd95f5ab4ab474b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ce04b965b74792" /><Relationship Type="http://schemas.openxmlformats.org/officeDocument/2006/relationships/notesSlide" Target="/ppt/notesSlides/notesSlide1.xml" Id="R98b482eb44e343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3f2a7c6e27405e" /><Relationship Type="http://schemas.openxmlformats.org/officeDocument/2006/relationships/notesSlide" Target="/ppt/notesSlides/notesSlide2.xml" Id="R566004ee58dc4f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e4dde329084141" /><Relationship Type="http://schemas.openxmlformats.org/officeDocument/2006/relationships/notesSlide" Target="/ppt/notesSlides/notesSlide3.xml" Id="Rdc8129380b414e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7ba474693f409e" /><Relationship Type="http://schemas.openxmlformats.org/officeDocument/2006/relationships/image" Target="/ppt/media/image.png" Id="R141ba97f83674b22" /><Relationship Type="http://schemas.openxmlformats.org/officeDocument/2006/relationships/notesSlide" Target="/ppt/notesSlides/notesSlide4.xml" Id="R8bbee1c241ec47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f320356c664bf3" /><Relationship Type="http://schemas.openxmlformats.org/officeDocument/2006/relationships/image" Target="/ppt/media/image2.png" Id="Rba7942f0073843f5" /><Relationship Type="http://schemas.openxmlformats.org/officeDocument/2006/relationships/image" Target="/ppt/media/image3.png" Id="Rac726626258a4601" /><Relationship Type="http://schemas.openxmlformats.org/officeDocument/2006/relationships/notesSlide" Target="/ppt/notesSlides/notesSlide5.xml" Id="R01279b7c737d4be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be132317bc47ee" /><Relationship Type="http://schemas.openxmlformats.org/officeDocument/2006/relationships/notesSlide" Target="/ppt/notesSlides/notesSlide6.xml" Id="R1e490bad2fc54e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96b3d3a2e24aa0" /><Relationship Type="http://schemas.openxmlformats.org/officeDocument/2006/relationships/image" Target="/ppt/media/image4.png" Id="R45ea14d802824a60" /><Relationship Type="http://schemas.openxmlformats.org/officeDocument/2006/relationships/notesSlide" Target="/ppt/notesSlides/notesSlide7.xml" Id="R43ebcfd5762e48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9124c2538747a5" /><Relationship Type="http://schemas.openxmlformats.org/officeDocument/2006/relationships/notesSlide" Target="/ppt/notesSlides/notesSlide8.xml" Id="R31cc3cad7c504b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59135b7de9402b" /><Relationship Type="http://schemas.openxmlformats.org/officeDocument/2006/relationships/notesSlide" Target="/ppt/notesSlides/notesSlide9.xml" Id="Rf6f3239630d54e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0d35ff287846e4" /><Relationship Type="http://schemas.openxmlformats.org/officeDocument/2006/relationships/notesSlide" Target="/ppt/notesSlides/notesSlide10.xml" Id="Rf768d4611eb540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d9d970748149c8" /><Relationship Type="http://schemas.openxmlformats.org/officeDocument/2006/relationships/notesSlide" Target="/ppt/notesSlides/notesSlide11.xml" Id="Rafa705a9aee2437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8ec5c5a2174d6f" /><Relationship Type="http://schemas.openxmlformats.org/officeDocument/2006/relationships/notesSlide" Target="/ppt/notesSlides/notesSlide12.xml" Id="R9759b9611eae484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31f9cd004242de" /><Relationship Type="http://schemas.openxmlformats.org/officeDocument/2006/relationships/notesSlide" Target="/ppt/notesSlides/notesSlide13.xml" Id="R6767291a5a3e4f7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8b1fcf95ba4c88" /><Relationship Type="http://schemas.openxmlformats.org/officeDocument/2006/relationships/notesSlide" Target="/ppt/notesSlides/notesSlide14.xml" Id="R48ecf8ceb36f4a2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d66194de684baf" /><Relationship Type="http://schemas.openxmlformats.org/officeDocument/2006/relationships/notesSlide" Target="/ppt/notesSlides/notesSlide15.xml" Id="R36a0b26a09df448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c431d8bf8d43aa" /><Relationship Type="http://schemas.openxmlformats.org/officeDocument/2006/relationships/image" Target="/ppt/media/image5.png" Id="Reb17fb61602e43f1" /><Relationship Type="http://schemas.openxmlformats.org/officeDocument/2006/relationships/notesSlide" Target="/ppt/notesSlides/notesSlide16.xml" Id="R52b45607b3244d2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30ff151de64ae0" /><Relationship Type="http://schemas.openxmlformats.org/officeDocument/2006/relationships/image" Target="/ppt/media/image6.png" Id="Re879238bffb4476b" /><Relationship Type="http://schemas.openxmlformats.org/officeDocument/2006/relationships/notesSlide" Target="/ppt/notesSlides/notesSlide17.xml" Id="Rfcf13636f05b40e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d1dba9bbdd4691" /><Relationship Type="http://schemas.openxmlformats.org/officeDocument/2006/relationships/image" Target="/ppt/media/image7.png" Id="Ra9f335ce9dc9402c" /><Relationship Type="http://schemas.openxmlformats.org/officeDocument/2006/relationships/notesSlide" Target="/ppt/notesSlides/notesSlide18.xml" Id="R065a7403e67241c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0d9bad18464976" /><Relationship Type="http://schemas.openxmlformats.org/officeDocument/2006/relationships/image" Target="/ppt/media/image8.png" Id="Rb4f70b71d52049e7" /><Relationship Type="http://schemas.openxmlformats.org/officeDocument/2006/relationships/notesSlide" Target="/ppt/notesSlides/notesSlide19.xml" Id="Rb7fa9c57301e43c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82156709ed41a8" /><Relationship Type="http://schemas.openxmlformats.org/officeDocument/2006/relationships/notesSlide" Target="/ppt/notesSlides/notesSlide20.xml" Id="R896c060034ad49d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69609df6f849ab" /><Relationship Type="http://schemas.openxmlformats.org/officeDocument/2006/relationships/notesSlide" Target="/ppt/notesSlides/notesSlide21.xml" Id="R537f8be414834de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54a2982e7f4f8a" /><Relationship Type="http://schemas.openxmlformats.org/officeDocument/2006/relationships/image" Target="/ppt/media/image.jpeg" Id="R096f240bc9af4e86" /><Relationship Type="http://schemas.openxmlformats.org/officeDocument/2006/relationships/image" Target="/ppt/media/image2.jpeg" Id="R810078a6963c45aa" /><Relationship Type="http://schemas.openxmlformats.org/officeDocument/2006/relationships/image" Target="/ppt/media/image3.jpeg" Id="R51416fb04fee429f" /><Relationship Type="http://schemas.openxmlformats.org/officeDocument/2006/relationships/notesSlide" Target="/ppt/notesSlides/notesSlide22.xml" Id="Ra5163184b61345d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3302d28b474e3b" /><Relationship Type="http://schemas.openxmlformats.org/officeDocument/2006/relationships/image" Target="/ppt/media/image9.png" Id="R85bfd83e598a4a63" /><Relationship Type="http://schemas.openxmlformats.org/officeDocument/2006/relationships/notesSlide" Target="/ppt/notesSlides/notesSlide23.xml" Id="R4f13a5366aac4aa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c56915cd6e4307" /><Relationship Type="http://schemas.openxmlformats.org/officeDocument/2006/relationships/image" Target="/ppt/media/image10.png" Id="R664912ec223a47b5" /><Relationship Type="http://schemas.openxmlformats.org/officeDocument/2006/relationships/image" Target="/ppt/media/image4.jpeg" Id="R39fd0f0d595045e3" /><Relationship Type="http://schemas.openxmlformats.org/officeDocument/2006/relationships/image" Target="/ppt/media/image5.jpeg" Id="R0483d1cae76f4043" /><Relationship Type="http://schemas.openxmlformats.org/officeDocument/2006/relationships/notesSlide" Target="/ppt/notesSlides/notesSlide24.xml" Id="R8b9be9bc6fcc4b1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928dd82acc43c4" /><Relationship Type="http://schemas.openxmlformats.org/officeDocument/2006/relationships/image" Target="/ppt/media/image11.png" Id="R6e39fbfb13ae4e0d" /><Relationship Type="http://schemas.openxmlformats.org/officeDocument/2006/relationships/notesSlide" Target="/ppt/notesSlides/notesSlide25.xml" Id="R91449f904fe340c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425ff657aa4260" /><Relationship Type="http://schemas.openxmlformats.org/officeDocument/2006/relationships/image" Target="/ppt/media/image12.png" Id="Rdbad4a616ec348d1" /><Relationship Type="http://schemas.openxmlformats.org/officeDocument/2006/relationships/notesSlide" Target="/ppt/notesSlides/notesSlide26.xml" Id="Rf61ceb289d1c408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a679a123e94eca" /><Relationship Type="http://schemas.openxmlformats.org/officeDocument/2006/relationships/image" Target="/ppt/media/image13.png" Id="R98b4c8f728d44f9d" /><Relationship Type="http://schemas.openxmlformats.org/officeDocument/2006/relationships/notesSlide" Target="/ppt/notesSlides/notesSlide27.xml" Id="R80df1ed292e941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研究進度時間軸｜11/10 報告">
            <a:extLst xmlns:a="http://schemas.openxmlformats.org/drawingml/2006/main">
              <a:ext uri="{FF2B5EF4-FFF2-40B4-BE49-F238E27FC236}">
                <a16:creationId xmlns:a16="http://schemas.microsoft.com/office/drawing/2014/main" id="{F3FF9E71-E0B5-4EA9-A2DF-C8EA856F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研究進度時間軸｜11/10 報告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53263724-6B27-445E-B4A1-36B9719B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62F9E753-71D1-4F0C-80DE-05ACD13C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49B53C-3FDD-4608-BC5D-C4AA43C7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 w="0">
            <a:noFill/>
          </a:ln>
        </p:spPr>
      </p:sp>
      <p:sp>
        <p:nvSpPr>
          <p:cNvPr id="5" name="10/6">
            <a:extLst xmlns:a="http://schemas.openxmlformats.org/drawingml/2006/main">
              <a:ext uri="{FF2B5EF4-FFF2-40B4-BE49-F238E27FC236}">
                <a16:creationId xmlns:a16="http://schemas.microsoft.com/office/drawing/2014/main" id="{ECBD6091-1590-44D2-B163-2CD0DB8E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88E2A-5B98-4D58-8F7A-7A9216CC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7" name="公司需求&#10;研究場域">
            <a:extLst xmlns:a="http://schemas.openxmlformats.org/drawingml/2006/main">
              <a:ext uri="{FF2B5EF4-FFF2-40B4-BE49-F238E27FC236}">
                <a16:creationId xmlns:a16="http://schemas.microsoft.com/office/drawing/2014/main" id="{D14A93C9-EDDD-4405-8356-8450D19B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公司需求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研究場域</a:t>
            </a:r>
          </a:p>
        </p:txBody>
      </p:sp>
      <p:sp>
        <p:nvSpPr>
          <p:cNvPr id="8" name="10/13">
            <a:extLst xmlns:a="http://schemas.openxmlformats.org/drawingml/2006/main">
              <a:ext uri="{FF2B5EF4-FFF2-40B4-BE49-F238E27FC236}">
                <a16:creationId xmlns:a16="http://schemas.microsoft.com/office/drawing/2014/main" id="{7650AE8A-AA54-4F70-A7F9-A664FDAA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6831B6-EB09-4832-9854-7F212F00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10" name="入庫虛擬環境&#10;AR 探索">
            <a:extLst xmlns:a="http://schemas.openxmlformats.org/drawingml/2006/main">
              <a:ext uri="{FF2B5EF4-FFF2-40B4-BE49-F238E27FC236}">
                <a16:creationId xmlns:a16="http://schemas.microsoft.com/office/drawing/2014/main" id="{E169D52A-B512-4A64-9199-8F980D94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入庫虛擬環境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AR 探索</a:t>
            </a:r>
          </a:p>
        </p:txBody>
      </p:sp>
      <p:sp>
        <p:nvSpPr>
          <p:cNvPr id="11" name="10/20">
            <a:extLst xmlns:a="http://schemas.openxmlformats.org/drawingml/2006/main">
              <a:ext uri="{FF2B5EF4-FFF2-40B4-BE49-F238E27FC236}">
                <a16:creationId xmlns:a16="http://schemas.microsoft.com/office/drawing/2014/main" id="{118FCE07-4A57-47E7-AAD6-9DD79C4D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127DBA-6C34-4FEE-8B61-252FA4C6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13" name="條碼／QR&#10;派工流程">
            <a:extLst xmlns:a="http://schemas.openxmlformats.org/drawingml/2006/main">
              <a:ext uri="{FF2B5EF4-FFF2-40B4-BE49-F238E27FC236}">
                <a16:creationId xmlns:a16="http://schemas.microsoft.com/office/drawing/2014/main" id="{FBB2BD7C-29BC-44A1-8BA7-CB734A72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條碼／QR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派工流程</a:t>
            </a:r>
          </a:p>
        </p:txBody>
      </p:sp>
      <p:sp>
        <p:nvSpPr>
          <p:cNvPr id="14" name="10/27">
            <a:extLst xmlns:a="http://schemas.openxmlformats.org/drawingml/2006/main">
              <a:ext uri="{FF2B5EF4-FFF2-40B4-BE49-F238E27FC236}">
                <a16:creationId xmlns:a16="http://schemas.microsoft.com/office/drawing/2014/main" id="{0498A9BE-0C8A-4F21-8B7B-0404D9FA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10/27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08AAAF-D303-4C4D-9BAA-B140D3BA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16" name="客訴缺少 LOG&#10;天車 AR＋MES">
            <a:extLst xmlns:a="http://schemas.openxmlformats.org/drawingml/2006/main">
              <a:ext uri="{FF2B5EF4-FFF2-40B4-BE49-F238E27FC236}">
                <a16:creationId xmlns:a16="http://schemas.microsoft.com/office/drawing/2014/main" id="{20E607FE-DEDF-4360-AC3B-2C36C523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客訴缺少 LOG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天車 AR＋MES</a:t>
            </a:r>
          </a:p>
        </p:txBody>
      </p:sp>
      <p:sp>
        <p:nvSpPr>
          <p:cNvPr id="17" name="10/28–29">
            <a:extLst xmlns:a="http://schemas.openxmlformats.org/drawingml/2006/main">
              <a:ext uri="{FF2B5EF4-FFF2-40B4-BE49-F238E27FC236}">
                <a16:creationId xmlns:a16="http://schemas.microsoft.com/office/drawing/2014/main" id="{7F1F53C1-72EA-4E12-9F24-A3C1EFDC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10/28–29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1B82EB-A2B0-462D-9C9E-2E6CBBB5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7AB"/>
          </a:solidFill>
          <a:ln xmlns:a="http://schemas.openxmlformats.org/drawingml/2006/main">
            <a:noFill/>
          </a:ln>
        </p:spPr>
      </p:sp>
      <p:sp>
        <p:nvSpPr>
          <p:cNvPr id="19" name="收斂即時 3D&#10;自主表串接">
            <a:extLst xmlns:a="http://schemas.openxmlformats.org/drawingml/2006/main">
              <a:ext uri="{FF2B5EF4-FFF2-40B4-BE49-F238E27FC236}">
                <a16:creationId xmlns:a16="http://schemas.microsoft.com/office/drawing/2014/main" id="{18A7999E-C353-41BF-864C-4A3A2433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收斂即時 3D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自主表串接</a:t>
            </a:r>
          </a:p>
        </p:txBody>
      </p:sp>
      <p:sp>
        <p:nvSpPr>
          <p:cNvPr id="20" name="11/10">
            <a:extLst xmlns:a="http://schemas.openxmlformats.org/drawingml/2006/main">
              <a:ext uri="{FF2B5EF4-FFF2-40B4-BE49-F238E27FC236}">
                <a16:creationId xmlns:a16="http://schemas.microsoft.com/office/drawing/2014/main" id="{F2DF6DF2-9937-43D2-947B-5475519A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11/10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0472ED-D357-4CC1-8B1D-2C257C48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7AB"/>
          </a:solidFill>
          <a:ln xmlns:a="http://schemas.openxmlformats.org/drawingml/2006/main">
            <a:noFill/>
          </a:ln>
        </p:spPr>
      </p:sp>
      <p:sp>
        <p:nvSpPr>
          <p:cNvPr id="22" name="本次報告&#10;驗證與研究設計">
            <a:extLst xmlns:a="http://schemas.openxmlformats.org/drawingml/2006/main">
              <a:ext uri="{FF2B5EF4-FFF2-40B4-BE49-F238E27FC236}">
                <a16:creationId xmlns:a16="http://schemas.microsoft.com/office/drawing/2014/main" id="{9F913250-2C0D-46B1-A18F-60B0DB25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本次報告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驗證與研究設計</a:t>
            </a:r>
          </a:p>
        </p:txBody>
      </p:sp>
      <p:sp>
        <p:nvSpPr>
          <p:cNvPr id="23" name="上期回顧：以客訴追溯與現場資訊差，確認天車作業的研究價值。">
            <a:extLst xmlns:a="http://schemas.openxmlformats.org/drawingml/2006/main">
              <a:ext uri="{FF2B5EF4-FFF2-40B4-BE49-F238E27FC236}">
                <a16:creationId xmlns:a16="http://schemas.microsoft.com/office/drawing/2014/main" id="{85E45945-3ED4-440B-9997-EB29DC08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上期回顧：以客訴追溯與現場資訊差，確認天車作業的研究價值。</a:t>
            </a:r>
          </a:p>
        </p:txBody>
      </p:sp>
      <p:sp>
        <p:nvSpPr>
          <p:cNvPr id="24" name="本次重點：為何改用即時 3D，以及資料鏈如何正確、持續地更新">
            <a:extLst xmlns:a="http://schemas.openxmlformats.org/drawingml/2006/main">
              <a:ext uri="{FF2B5EF4-FFF2-40B4-BE49-F238E27FC236}">
                <a16:creationId xmlns:a16="http://schemas.microsoft.com/office/drawing/2014/main" id="{06E40E27-DB87-41F7-B464-B9F6BAB2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本次重點：為何改用即時 3D，以及資料鏈如何正確、持續地更新。</a:t>
            </a:r>
          </a:p>
        </p:txBody>
      </p:sp>
    </p:spTree>
    <p:extLst>
      <p:ext uri="{BB962C8B-B14F-4D97-AF65-F5344CB8AC3E}">
        <p14:creationId xmlns:p14="http://schemas.microsoft.com/office/powerpoint/2010/main" val="64385823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10/27 回顧｜需要補齊可追溯的作業證據">
            <a:extLst xmlns:a="http://schemas.openxmlformats.org/drawingml/2006/main">
              <a:ext uri="{FF2B5EF4-FFF2-40B4-BE49-F238E27FC236}">
                <a16:creationId xmlns:a16="http://schemas.microsoft.com/office/drawing/2014/main" id="{024CDF1D-F665-4FB4-8CA5-9D89A67D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10/27 回顧｜需要補齊可追溯的作業證據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E723AA16-8B87-4507-8B61-B86B2EEA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2">
            <a:extLst xmlns:a="http://schemas.openxmlformats.org/drawingml/2006/main">
              <a:ext uri="{FF2B5EF4-FFF2-40B4-BE49-F238E27FC236}">
                <a16:creationId xmlns:a16="http://schemas.microsoft.com/office/drawing/2014/main" id="{9C0A3EB7-91D5-4186-97C1-2AF040FC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" name="為何從酸洗廠切入？">
            <a:extLst xmlns:a="http://schemas.openxmlformats.org/drawingml/2006/main">
              <a:ext uri="{FF2B5EF4-FFF2-40B4-BE49-F238E27FC236}">
                <a16:creationId xmlns:a16="http://schemas.microsoft.com/office/drawing/2014/main" id="{696892F0-3D5C-4E26-9003-6B3C4639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為何從酸洗廠切入？</a:t>
            </a:r>
          </a:p>
        </p:txBody>
      </p:sp>
      <p:sp>
        <p:nvSpPr>
          <p:cNvPr id="5" name="酸洗廠承接派工與實物流動；入庫 → 入洗 → 洗出 → 出貨">
            <a:extLst xmlns:a="http://schemas.openxmlformats.org/drawingml/2006/main">
              <a:ext uri="{FF2B5EF4-FFF2-40B4-BE49-F238E27FC236}">
                <a16:creationId xmlns:a16="http://schemas.microsoft.com/office/drawing/2014/main" id="{0E5E98B2-C783-44D7-98DC-085DEC0A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酸洗廠承接派工與實物流動；入庫 → 入洗 → 洗出 → 出貨，是跨角色共同紀錄的起點。</a:t>
            </a:r>
          </a:p>
        </p:txBody>
      </p:sp>
      <p:sp>
        <p:nvSpPr>
          <p:cNvPr id="6" name="客訴時缺少什麼？">
            <a:extLst xmlns:a="http://schemas.openxmlformats.org/drawingml/2006/main">
              <a:ext uri="{FF2B5EF4-FFF2-40B4-BE49-F238E27FC236}">
                <a16:creationId xmlns:a16="http://schemas.microsoft.com/office/drawing/2014/main" id="{2380CFD5-3D9D-4460-B204-0DD137AC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客訴時缺少什麼？</a:t>
            </a:r>
          </a:p>
        </p:txBody>
      </p:sp>
      <p:sp>
        <p:nvSpPr>
          <p:cNvPr id="7" name="原機械計時器與 LED 未回饋每桿、每槽的入槽時間 LOG，">
            <a:extLst xmlns:a="http://schemas.openxmlformats.org/drawingml/2006/main">
              <a:ext uri="{FF2B5EF4-FFF2-40B4-BE49-F238E27FC236}">
                <a16:creationId xmlns:a16="http://schemas.microsoft.com/office/drawing/2014/main" id="{0A305206-93B1-4793-98A4-A48E5CB8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原機械計時器與 LED 未回饋每桿、每槽的入槽時間 LOG，難以提交完整且可核對的加工證據。</a:t>
            </a:r>
          </a:p>
        </p:txBody>
      </p:sp>
      <p:sp>
        <p:nvSpPr>
          <p:cNvPr id="8" name="研究要留下什麼？">
            <a:extLst xmlns:a="http://schemas.openxmlformats.org/drawingml/2006/main">
              <a:ext uri="{FF2B5EF4-FFF2-40B4-BE49-F238E27FC236}">
                <a16:creationId xmlns:a16="http://schemas.microsoft.com/office/drawing/2014/main" id="{A53BC167-7B07-4513-8D4D-7502B7ED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研究要留下什麼？</a:t>
            </a:r>
          </a:p>
        </p:txBody>
      </p:sp>
      <p:sp>
        <p:nvSpPr>
          <p:cNvPr id="9" name="本次桿次、逐顆材料、實際槽位、計時與操作事件，供主管、四台天">
            <a:extLst xmlns:a="http://schemas.openxmlformats.org/drawingml/2006/main">
              <a:ext uri="{FF2B5EF4-FFF2-40B4-BE49-F238E27FC236}">
                <a16:creationId xmlns:a16="http://schemas.microsoft.com/office/drawing/2014/main" id="{E6089E1F-549D-40D6-A041-FCB1A34E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本次桿次、逐顆材料、實際槽位、計時與操作事件，供主管、四台天車及後續追溯共同查詢。</a:t>
            </a:r>
          </a:p>
        </p:txBody>
      </p:sp>
      <p:sp>
        <p:nvSpPr>
          <p:cNvPr id="10" name="目標是資訊一致與可追溯；設備維修費及客訴改善仍待量測。">
            <a:extLst xmlns:a="http://schemas.openxmlformats.org/drawingml/2006/main">
              <a:ext uri="{FF2B5EF4-FFF2-40B4-BE49-F238E27FC236}">
                <a16:creationId xmlns:a16="http://schemas.microsoft.com/office/drawing/2014/main" id="{3DE794A0-9BE5-47D3-B18B-201AE5EC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目標是資訊一致與可追溯；設備維修費及客訴改善仍待量測。</a:t>
            </a:r>
          </a:p>
        </p:txBody>
      </p:sp>
    </p:spTree>
    <p:extLst>
      <p:ext uri="{BB962C8B-B14F-4D97-AF65-F5344CB8AC3E}">
        <p14:creationId xmlns:p14="http://schemas.microsoft.com/office/powerpoint/2010/main" val="14361906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現場痛點｜盤元入槽後，標示帶就看不到">
            <a:extLst xmlns:a="http://schemas.openxmlformats.org/drawingml/2006/main">
              <a:ext uri="{FF2B5EF4-FFF2-40B4-BE49-F238E27FC236}">
                <a16:creationId xmlns:a16="http://schemas.microsoft.com/office/drawing/2014/main" id="{5045C67A-6E02-4FE7-AD65-AF68065A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現場痛點｜盤元入槽後，標示帶就看不到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DA9F30CB-8C74-42B9-9694-F8B0E515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3">
            <a:extLst xmlns:a="http://schemas.openxmlformats.org/drawingml/2006/main">
              <a:ext uri="{FF2B5EF4-FFF2-40B4-BE49-F238E27FC236}">
                <a16:creationId xmlns:a16="http://schemas.microsoft.com/office/drawing/2014/main" id="{DC15BAE4-A3AB-44B6-A4FB-AECE5C4B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" name="看不清，也可能已被遮住">
            <a:extLst xmlns:a="http://schemas.openxmlformats.org/drawingml/2006/main">
              <a:ext uri="{FF2B5EF4-FFF2-40B4-BE49-F238E27FC236}">
                <a16:creationId xmlns:a16="http://schemas.microsoft.com/office/drawing/2014/main" id="{2AE4C6ED-FB48-46B6-99C9-A6D1FAE7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看不清，也可能已被遮住</a:t>
            </a:r>
          </a:p>
        </p:txBody>
      </p:sp>
      <p:sp>
        <p:nvSpPr>
          <p:cNvPr id="5" name="產線長、槽體距離遠；盤元浸入槽內後，標示帶顏色無法持續辨認。">
            <a:extLst xmlns:a="http://schemas.openxmlformats.org/drawingml/2006/main">
              <a:ext uri="{FF2B5EF4-FFF2-40B4-BE49-F238E27FC236}">
                <a16:creationId xmlns:a16="http://schemas.microsoft.com/office/drawing/2014/main" id="{40F12AC8-4BFC-4C48-A2C9-523AD648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產線長、槽體距離遠；盤元浸入槽內後，標示帶顏色無法持續辨認。</a:t>
            </a:r>
          </a:p>
        </p:txBody>
      </p:sp>
      <p:sp>
        <p:nvSpPr>
          <p:cNvPr id="6" name="計時、交接與急件資訊分散">
            <a:extLst xmlns:a="http://schemas.openxmlformats.org/drawingml/2006/main">
              <a:ext uri="{FF2B5EF4-FFF2-40B4-BE49-F238E27FC236}">
                <a16:creationId xmlns:a16="http://schemas.microsoft.com/office/drawing/2014/main" id="{60DE63C9-C927-449D-BA07-A3107A33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計時、交接與急件資訊分散</a:t>
            </a:r>
          </a:p>
        </p:txBody>
      </p:sp>
      <p:sp>
        <p:nvSpPr>
          <p:cNvPr id="7" name="不確定重置是否完成、哪桿應先吊出；主管插單與四台天車之間存在">
            <a:extLst xmlns:a="http://schemas.openxmlformats.org/drawingml/2006/main">
              <a:ext uri="{FF2B5EF4-FFF2-40B4-BE49-F238E27FC236}">
                <a16:creationId xmlns:a16="http://schemas.microsoft.com/office/drawing/2014/main" id="{EA00C4C7-E588-4DA7-8CA5-A621A5FE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不確定重置是否完成、哪桿應先吊出；主管插單與四台天車之間存在口頭傳遞的時間差。</a:t>
            </a:r>
          </a:p>
        </p:txBody>
      </p:sp>
      <p:sp>
        <p:nvSpPr>
          <p:cNvPr id="8" name="資料錯配會延伸成加工風險">
            <a:extLst xmlns:a="http://schemas.openxmlformats.org/drawingml/2006/main">
              <a:ext uri="{FF2B5EF4-FFF2-40B4-BE49-F238E27FC236}">
                <a16:creationId xmlns:a16="http://schemas.microsoft.com/office/drawing/2014/main" id="{30D901F3-36E0-416C-8994-9C041175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資料錯配會延伸成加工風險</a:t>
            </a:r>
          </a:p>
        </p:txBody>
      </p:sp>
      <p:sp>
        <p:nvSpPr>
          <p:cNvPr id="9" name="不同材質或條件被配在同桿，需要有可核對的逐顆明細；相容規則與">
            <a:extLst xmlns:a="http://schemas.openxmlformats.org/drawingml/2006/main">
              <a:ext uri="{FF2B5EF4-FFF2-40B4-BE49-F238E27FC236}">
                <a16:creationId xmlns:a16="http://schemas.microsoft.com/office/drawing/2014/main" id="{3EF4E657-E0FC-4362-AA03-C79135F8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不同材質或條件被配在同桿，需要有可核對的逐顆明細；相容規則與攔截成效列為後續驗證。</a:t>
            </a:r>
          </a:p>
        </p:txBody>
      </p:sp>
      <p:sp>
        <p:nvSpPr>
          <p:cNvPr id="10" name="共享槽位、桿號、材料與時間，讓看不見的標示資訊仍可查。">
            <a:extLst xmlns:a="http://schemas.openxmlformats.org/drawingml/2006/main">
              <a:ext uri="{FF2B5EF4-FFF2-40B4-BE49-F238E27FC236}">
                <a16:creationId xmlns:a16="http://schemas.microsoft.com/office/drawing/2014/main" id="{482226EB-4A9D-44A7-8FF9-55294461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共享槽位、桿號、材料與時間，讓看不見的標示資訊仍可查。</a:t>
            </a:r>
          </a:p>
        </p:txBody>
      </p:sp>
    </p:spTree>
    <p:extLst>
      <p:ext uri="{BB962C8B-B14F-4D97-AF65-F5344CB8AC3E}">
        <p14:creationId xmlns:p14="http://schemas.microsoft.com/office/powerpoint/2010/main" val="187494264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B067CE-C4EA-4D27-A8E8-0BD2381F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為何從 AR 收斂為 MES＋即時 3D？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A381F3-6846-47B2-A954-5EBAF7CE30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1ba97f83674b22"/>
          <a:stretch xmlns:a="http://schemas.openxmlformats.org/drawingml/2006/main"/>
        </p:blipFill>
        <p:spPr>
          <a:xfrm xmlns:a="http://schemas.openxmlformats.org/drawingml/2006/main">
            <a:off x="619866" y="1238250"/>
            <a:ext cx="7218469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72043-BAA3-41B5-A35C-AE0D9E7E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097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AR 現場疊圖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65ED86-9EB7-43A3-8E2B-596D6A9E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需定位與空間對齊；長產線的追蹤與漂移仍待驗證。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7503D-8251-4776-AB75-16B32455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051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平板即時 3D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BEFA9E-24B8-491B-9CFA-3EE761CE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登入後查看槽位、計時及急件，無需每日定錨。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689A0-5C76-4FC7-8AAE-F1E081BB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共享資訊、判讀與追溯，是後續研究重點。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5FE64E-8CFB-4EA2-A86E-6431883A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圖為方案示意，設備取代與效益須經現場驗證。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2BAFF-5E25-4C89-A2FF-478013622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0DB9EE-903A-4B2C-BC6F-F2DDE8AB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0790688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平板固定方式：天車立柱支架與護理推車參考">
            <a:extLst xmlns:a="http://schemas.openxmlformats.org/drawingml/2006/main">
              <a:ext uri="{FF2B5EF4-FFF2-40B4-BE49-F238E27FC236}">
                <a16:creationId xmlns:a16="http://schemas.microsoft.com/office/drawing/2014/main" id="{17218C05-8434-4584-80BE-259408CC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平板固定方式：天車立柱支架與護理推車參考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8B2BA7-B763-4651-9A7D-6476583039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7942f0073843f5"/>
          <a:stretch xmlns:a="http://schemas.openxmlformats.org/drawingml/2006/main"/>
        </p:blipFill>
        <p:spPr>
          <a:xfrm xmlns:a="http://schemas.openxmlformats.org/drawingml/2006/main">
            <a:off x="965327" y="1219200"/>
            <a:ext cx="4565396" cy="41910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06D693-586A-4BCC-BA18-F319E4DD18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726626258a4601"/>
          <a:stretch xmlns:a="http://schemas.openxmlformats.org/drawingml/2006/main"/>
        </p:blipFill>
        <p:spPr>
          <a:xfrm xmlns:a="http://schemas.openxmlformats.org/drawingml/2006/main">
            <a:off x="6561438" y="1219200"/>
            <a:ext cx="4536474" cy="4191000"/>
          </a:xfrm>
          <a:prstGeom xmlns:a="http://schemas.openxmlformats.org/drawingml/2006/main" prst="rect">
            <a:avLst/>
          </a:prstGeom>
        </p:spPr>
      </p:pic>
      <p:sp>
        <p:nvSpPr>
          <p:cNvPr id="4" name="圖一：以抱箍／夾具固定於天車立柱。&#10;支臂可調位置與角度，">
            <a:extLst xmlns:a="http://schemas.openxmlformats.org/drawingml/2006/main">
              <a:ext uri="{FF2B5EF4-FFF2-40B4-BE49-F238E27FC236}">
                <a16:creationId xmlns:a16="http://schemas.microsoft.com/office/drawing/2014/main" id="{758C27EC-FBC4-45D7-A1C2-7888CC00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5276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圖一：以抱箍／夾具固定於天車立柱。</a:t>
            </a:r>
          </a:p>
          <a:p xmlns:a="http://schemas.openxmlformats.org/drawingml/2006/main">
            <a: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支臂可調位置與角度，平板可拆卸。</a:t>
            </a:r>
          </a:p>
        </p:txBody>
      </p:sp>
      <p:sp>
        <p:nvSpPr>
          <p:cNvPr id="5" name="圖二：參考護理推車的可調支臂。&#10;支架隨車移動，平板收工帶">
            <a:extLst xmlns:a="http://schemas.openxmlformats.org/drawingml/2006/main">
              <a:ext uri="{FF2B5EF4-FFF2-40B4-BE49-F238E27FC236}">
                <a16:creationId xmlns:a16="http://schemas.microsoft.com/office/drawing/2014/main" id="{DFE93D5F-65D0-4ACF-AA68-7939A103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62600"/>
            <a:ext cx="5276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圖二：參考護理推車的可調支臂。</a:t>
            </a:r>
          </a:p>
          <a:p xmlns:a="http://schemas.openxmlformats.org/drawingml/2006/main">
            <a: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支架隨車移動，平板收工帶回保管。</a:t>
            </a:r>
          </a:p>
        </p:txBody>
      </p:sp>
      <p:sp>
        <p:nvSpPr>
          <p:cNvPr id="6" name="圖示為安裝構想與支架參考，實際固定方式及耐蝕性待現場確認">
            <a:extLst xmlns:a="http://schemas.openxmlformats.org/drawingml/2006/main">
              <a:ext uri="{FF2B5EF4-FFF2-40B4-BE49-F238E27FC236}">
                <a16:creationId xmlns:a16="http://schemas.microsoft.com/office/drawing/2014/main" id="{1349A4ED-DAEA-4F36-A1A8-F2B89DC0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圖示為安裝構想與支架參考，實際固定方式及耐蝕性待現場確認。</a:t>
            </a:r>
          </a:p>
        </p:txBody>
      </p:sp>
      <p:sp>
        <p:nvSpPr>
          <p:cNvPr id="7" name="李冠潾　2026/11/10 面談｜MES 結合即時 3">
            <a:extLst xmlns:a="http://schemas.openxmlformats.org/drawingml/2006/main">
              <a:ext uri="{FF2B5EF4-FFF2-40B4-BE49-F238E27FC236}">
                <a16:creationId xmlns:a16="http://schemas.microsoft.com/office/drawing/2014/main" id="{0FFAA556-60C8-449E-9DE7-638E05413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8" name="05">
            <a:extLst xmlns:a="http://schemas.openxmlformats.org/drawingml/2006/main">
              <a:ext uri="{FF2B5EF4-FFF2-40B4-BE49-F238E27FC236}">
                <a16:creationId xmlns:a16="http://schemas.microsoft.com/office/drawing/2014/main" id="{AFCE5779-728D-4EEE-8EA3-FB7C5166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15065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操作介面收斂｜計時與 3D 一次只看一種">
            <a:extLst xmlns:a="http://schemas.openxmlformats.org/drawingml/2006/main">
              <a:ext uri="{FF2B5EF4-FFF2-40B4-BE49-F238E27FC236}">
                <a16:creationId xmlns:a16="http://schemas.microsoft.com/office/drawing/2014/main" id="{9649B0FF-5782-409A-9E1D-E83E7551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操作介面收斂｜計時與 3D 一次只看一種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A279DF6C-112C-4563-AB0F-3B4E7847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6">
            <a:extLst xmlns:a="http://schemas.openxmlformats.org/drawingml/2006/main">
              <a:ext uri="{FF2B5EF4-FFF2-40B4-BE49-F238E27FC236}">
                <a16:creationId xmlns:a16="http://schemas.microsoft.com/office/drawing/2014/main" id="{3EDE983D-0D13-436E-A84C-693AB982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" name="計時作業">
            <a:extLst xmlns:a="http://schemas.openxmlformats.org/drawingml/2006/main">
              <a:ext uri="{FF2B5EF4-FFF2-40B4-BE49-F238E27FC236}">
                <a16:creationId xmlns:a16="http://schemas.microsoft.com/office/drawing/2014/main" id="{BDB79110-2F23-4B75-BEA2-C779251F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計時作業</a:t>
            </a:r>
          </a:p>
        </p:txBody>
      </p:sp>
      <p:sp>
        <p:nvSpPr>
          <p:cNvPr id="5" name="核對桿號與逐顆明細，選擇實際槽位及浸泡時間，確認後開始計時。">
            <a:extLst xmlns:a="http://schemas.openxmlformats.org/drawingml/2006/main">
              <a:ext uri="{FF2B5EF4-FFF2-40B4-BE49-F238E27FC236}">
                <a16:creationId xmlns:a16="http://schemas.microsoft.com/office/drawing/2014/main" id="{A7157677-B839-4132-98EE-4F783241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核對桿號與逐顆明細，選擇實際槽位及浸泡時間，確認後開始計時。</a:t>
            </a:r>
          </a:p>
        </p:txBody>
      </p:sp>
      <p:sp>
        <p:nvSpPr>
          <p:cNvPr id="6" name="查看 3D">
            <a:extLst xmlns:a="http://schemas.openxmlformats.org/drawingml/2006/main">
              <a:ext uri="{FF2B5EF4-FFF2-40B4-BE49-F238E27FC236}">
                <a16:creationId xmlns:a16="http://schemas.microsoft.com/office/drawing/2014/main" id="{6BCD5656-1775-4655-B1EC-CB7AD164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查看 3D</a:t>
            </a:r>
          </a:p>
        </p:txBody>
      </p:sp>
      <p:sp>
        <p:nvSpPr>
          <p:cNvPr id="7" name="按一個入口開啟槽位圖；字卡顯示桿號、計時與急件數字，點字卡查">
            <a:extLst xmlns:a="http://schemas.openxmlformats.org/drawingml/2006/main">
              <a:ext uri="{FF2B5EF4-FFF2-40B4-BE49-F238E27FC236}">
                <a16:creationId xmlns:a16="http://schemas.microsoft.com/office/drawing/2014/main" id="{6DF6B07C-B5E6-45D0-BC14-BCB321B0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按一個入口開啟槽位圖；字卡顯示桿號、計時與急件數字，點字卡查看逐顆材料。</a:t>
            </a:r>
          </a:p>
        </p:txBody>
      </p:sp>
      <p:sp>
        <p:nvSpPr>
          <p:cNvPr id="8" name="返回計時">
            <a:extLst xmlns:a="http://schemas.openxmlformats.org/drawingml/2006/main">
              <a:ext uri="{FF2B5EF4-FFF2-40B4-BE49-F238E27FC236}">
                <a16:creationId xmlns:a16="http://schemas.microsoft.com/office/drawing/2014/main" id="{DCA26C03-27AC-48AF-847E-8EAC487E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返回計時</a:t>
            </a:r>
          </a:p>
        </p:txBody>
      </p:sp>
      <p:sp>
        <p:nvSpPr>
          <p:cNvPr id="9" name="隱藏 3D 回到作業畫面，原計時繼續；次要查詢與範圍選擇收合">
            <a:extLst xmlns:a="http://schemas.openxmlformats.org/drawingml/2006/main">
              <a:ext uri="{FF2B5EF4-FFF2-40B4-BE49-F238E27FC236}">
                <a16:creationId xmlns:a16="http://schemas.microsoft.com/office/drawing/2014/main" id="{3BB8143F-C174-4A0F-AAFF-2FACED45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隱藏 3D 回到作業畫面，原計時繼續；次要查詢與範圍選擇收合，減少主畫面按鈕。</a:t>
            </a:r>
          </a:p>
        </p:txBody>
      </p:sp>
      <p:sp>
        <p:nvSpPr>
          <p:cNvPr id="10" name="保留 MES 登入、權限及操作確認；3D 提示不直接控制天車">
            <a:extLst xmlns:a="http://schemas.openxmlformats.org/drawingml/2006/main">
              <a:ext uri="{FF2B5EF4-FFF2-40B4-BE49-F238E27FC236}">
                <a16:creationId xmlns:a16="http://schemas.microsoft.com/office/drawing/2014/main" id="{16AED920-592D-4F4B-BB0C-93DBDB20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保留 MES 登入、權限及操作確認；3D 提示不直接控制天車。</a:t>
            </a:r>
          </a:p>
        </p:txBody>
      </p:sp>
    </p:spTree>
    <p:extLst>
      <p:ext uri="{BB962C8B-B14F-4D97-AF65-F5344CB8AC3E}">
        <p14:creationId xmlns:p14="http://schemas.microsoft.com/office/powerpoint/2010/main" val="128817634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5D64FB-6D78-443B-B02D-A7B75066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操作流程示意：入槽計時與 3D 切換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BC163-B519-4E93-8CF2-25431009A6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ea14d802824a60"/>
          <a:stretch xmlns:a="http://schemas.openxmlformats.org/drawingml/2006/main"/>
        </p:blipFill>
        <p:spPr>
          <a:xfrm xmlns:a="http://schemas.openxmlformats.org/drawingml/2006/main">
            <a:off x="658262" y="1238250"/>
            <a:ext cx="7713176" cy="4857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FC28C-6B6D-4B7A-8239-B672DDFA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409700"/>
            <a:ext cx="2743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操作順序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273CCF-F781-42BB-9982-E32BA233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52625"/>
            <a:ext cx="2743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  核對桿次、槽位及時間。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EB6B19-0F16-4E17-BAF0-F3598D94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00375"/>
            <a:ext cx="274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2  確認入槽後開始計時。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26CF9F-45AA-4A13-80CE-CEDBD7A4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81425"/>
            <a:ext cx="2743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3  開啟 3D 查看全場狀態。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EBC299-E6CF-4A0F-97EC-5D0EF89C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62475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4  返回計時，原計時繼續。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E1C537-7ABA-4011-AC4D-CE420FF9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示意圖內資料與設備安排待現場驗證。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D3420-F8B7-4B13-8ABC-DC7B901F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89C41A-E6B4-4913-8A86-18A28EAB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9661904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自主表 → 天車 → 3D：建立共同資料鏈">
            <a:extLst xmlns:a="http://schemas.openxmlformats.org/drawingml/2006/main">
              <a:ext uri="{FF2B5EF4-FFF2-40B4-BE49-F238E27FC236}">
                <a16:creationId xmlns:a16="http://schemas.microsoft.com/office/drawing/2014/main" id="{7582F04D-BE32-4905-A2B4-3612ABAB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自主表 → 天車 → 3D：建立共同資料鏈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B1AE41D2-18E7-42AE-9077-DAF1F937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7">
            <a:extLst xmlns:a="http://schemas.openxmlformats.org/drawingml/2006/main">
              <a:ext uri="{FF2B5EF4-FFF2-40B4-BE49-F238E27FC236}">
                <a16:creationId xmlns:a16="http://schemas.microsoft.com/office/drawing/2014/main" id="{C8FB2E40-4B1F-40DF-A875-A599E693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4" name="自主表">
            <a:extLst xmlns:a="http://schemas.openxmlformats.org/drawingml/2006/main">
              <a:ext uri="{FF2B5EF4-FFF2-40B4-BE49-F238E27FC236}">
                <a16:creationId xmlns:a16="http://schemas.microsoft.com/office/drawing/2014/main" id="{2FFE6976-F984-494E-8727-698A095E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自主表</a:t>
            </a:r>
          </a:p>
        </p:txBody>
      </p:sp>
      <p:sp>
        <p:nvSpPr>
          <p:cNvPr id="5" name="最新未鎖定 OPEN&#10;已標示入洗的盤元">
            <a:extLst xmlns:a="http://schemas.openxmlformats.org/drawingml/2006/main">
              <a:ext uri="{FF2B5EF4-FFF2-40B4-BE49-F238E27FC236}">
                <a16:creationId xmlns:a16="http://schemas.microsoft.com/office/drawing/2014/main" id="{A2810C85-02A6-4D78-A000-A9579EF8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最新未鎖定 OPEN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已標示入洗的盤元</a:t>
            </a:r>
          </a:p>
        </p:txBody>
      </p:sp>
      <p:sp>
        <p:nvSpPr>
          <p:cNvPr id="6" name="→">
            <a:extLst xmlns:a="http://schemas.openxmlformats.org/drawingml/2006/main">
              <a:ext uri="{FF2B5EF4-FFF2-40B4-BE49-F238E27FC236}">
                <a16:creationId xmlns:a16="http://schemas.microsoft.com/office/drawing/2014/main" id="{D5B6924F-3900-4FE2-94A6-0792742A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76500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7" name="同桿彙整">
            <a:extLst xmlns:a="http://schemas.openxmlformats.org/drawingml/2006/main">
              <a:ext uri="{FF2B5EF4-FFF2-40B4-BE49-F238E27FC236}">
                <a16:creationId xmlns:a16="http://schemas.microsoft.com/office/drawing/2014/main" id="{A4A0D7E6-2ABF-4DE8-A9EB-D1697818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同桿彙整</a:t>
            </a:r>
          </a:p>
        </p:txBody>
      </p:sp>
      <p:sp>
        <p:nvSpPr>
          <p:cNvPr id="8" name="桿號＋本次批次&#10;逐顆材料關聯">
            <a:extLst xmlns:a="http://schemas.openxmlformats.org/drawingml/2006/main">
              <a:ext uri="{FF2B5EF4-FFF2-40B4-BE49-F238E27FC236}">
                <a16:creationId xmlns:a16="http://schemas.microsoft.com/office/drawing/2014/main" id="{C5431D6B-3654-4FC1-9FD8-2CF81031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桿號＋本次批次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逐顆材料關聯</a:t>
            </a:r>
          </a:p>
        </p:txBody>
      </p:sp>
      <p:sp>
        <p:nvSpPr>
          <p:cNvPr id="9" name="→">
            <a:extLst xmlns:a="http://schemas.openxmlformats.org/drawingml/2006/main">
              <a:ext uri="{FF2B5EF4-FFF2-40B4-BE49-F238E27FC236}">
                <a16:creationId xmlns:a16="http://schemas.microsoft.com/office/drawing/2014/main" id="{4D390D19-4904-41D8-8504-71752132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76500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0" name="台車確認">
            <a:extLst xmlns:a="http://schemas.openxmlformats.org/drawingml/2006/main">
              <a:ext uri="{FF2B5EF4-FFF2-40B4-BE49-F238E27FC236}">
                <a16:creationId xmlns:a16="http://schemas.microsoft.com/office/drawing/2014/main" id="{3C4A93F3-CF4B-427B-8430-F6789AC5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台車確認</a:t>
            </a:r>
          </a:p>
        </p:txBody>
      </p:sp>
      <p:sp>
        <p:nvSpPr>
          <p:cNvPr id="11" name="實際槽位＋時間&#10;記錄入槽與出槽">
            <a:extLst xmlns:a="http://schemas.openxmlformats.org/drawingml/2006/main">
              <a:ext uri="{FF2B5EF4-FFF2-40B4-BE49-F238E27FC236}">
                <a16:creationId xmlns:a16="http://schemas.microsoft.com/office/drawing/2014/main" id="{FD7AB1D5-A66C-472F-AA64-FE6968F6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實際槽位＋時間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記錄入槽與出槽</a:t>
            </a:r>
          </a:p>
        </p:txBody>
      </p:sp>
      <p:sp>
        <p:nvSpPr>
          <p:cNvPr id="12" name="→">
            <a:extLst xmlns:a="http://schemas.openxmlformats.org/drawingml/2006/main">
              <a:ext uri="{FF2B5EF4-FFF2-40B4-BE49-F238E27FC236}">
                <a16:creationId xmlns:a16="http://schemas.microsoft.com/office/drawing/2014/main" id="{9245840B-5C4A-4C48-AE5B-E0E4FC44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76500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3" name="共同畫面">
            <a:extLst xmlns:a="http://schemas.openxmlformats.org/drawingml/2006/main">
              <a:ext uri="{FF2B5EF4-FFF2-40B4-BE49-F238E27FC236}">
                <a16:creationId xmlns:a16="http://schemas.microsoft.com/office/drawing/2014/main" id="{07F77693-61C7-4612-AB96-9BD78E8E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共同畫面</a:t>
            </a:r>
          </a:p>
        </p:txBody>
      </p:sp>
      <p:sp>
        <p:nvSpPr>
          <p:cNvPr id="14" name="主管＋四台天車&#10;2D／3D 同步">
            <a:extLst xmlns:a="http://schemas.openxmlformats.org/drawingml/2006/main">
              <a:ext uri="{FF2B5EF4-FFF2-40B4-BE49-F238E27FC236}">
                <a16:creationId xmlns:a16="http://schemas.microsoft.com/office/drawing/2014/main" id="{1865C1FF-9C52-4BBB-8185-5A808F26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主管＋四台天車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2D／3D 同步</a:t>
            </a:r>
          </a:p>
        </p:txBody>
      </p:sp>
      <p:sp>
        <p:nvSpPr>
          <p:cNvPr id="15" name="自主表逐顆洗出 → 同批全部完成 → 移除目前字卡、保留完成">
            <a:extLst xmlns:a="http://schemas.openxmlformats.org/drawingml/2006/main">
              <a:ext uri="{FF2B5EF4-FFF2-40B4-BE49-F238E27FC236}">
                <a16:creationId xmlns:a16="http://schemas.microsoft.com/office/drawing/2014/main" id="{56FAFC76-C2BA-40CF-ACA6-35EA6DE8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自主表逐顆洗出 → 同批全部完成 → 移除目前字卡、保留完成歷程</a:t>
            </a:r>
          </a:p>
        </p:txBody>
      </p:sp>
      <p:sp>
        <p:nvSpPr>
          <p:cNvPr id="16" name="自主表「洗出」與天車「出槽」分開判斷，不能互相推定。">
            <a:extLst xmlns:a="http://schemas.openxmlformats.org/drawingml/2006/main">
              <a:ext uri="{FF2B5EF4-FFF2-40B4-BE49-F238E27FC236}">
                <a16:creationId xmlns:a16="http://schemas.microsoft.com/office/drawing/2014/main" id="{34AD12C9-6407-411C-B977-BD176E15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自主表「洗出」與天車「出槽」分開判斷，不能互相推定。</a:t>
            </a:r>
          </a:p>
        </p:txBody>
      </p:sp>
    </p:spTree>
    <p:extLst>
      <p:ext uri="{BB962C8B-B14F-4D97-AF65-F5344CB8AC3E}">
        <p14:creationId xmlns:p14="http://schemas.microsoft.com/office/powerpoint/2010/main" val="73244587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問題一｜有入洗資料，天車頁卻讀不到">
            <a:extLst xmlns:a="http://schemas.openxmlformats.org/drawingml/2006/main">
              <a:ext uri="{FF2B5EF4-FFF2-40B4-BE49-F238E27FC236}">
                <a16:creationId xmlns:a16="http://schemas.microsoft.com/office/drawing/2014/main" id="{990C2A72-46E4-4489-9B24-3076C60E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問題一｜有入洗資料，天車頁卻讀不到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05BDC40B-9A00-4B64-AFEE-811CA01A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8">
            <a:extLst xmlns:a="http://schemas.openxmlformats.org/drawingml/2006/main">
              <a:ext uri="{FF2B5EF4-FFF2-40B4-BE49-F238E27FC236}">
                <a16:creationId xmlns:a16="http://schemas.microsoft.com/office/drawing/2014/main" id="{F4AF794E-9BDF-44F2-A326-4DA6FCA0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2B1B96-40C0-49FF-A8D2-25CC52911F3C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4667250"/>
                <a:gridCol w="3590925"/>
              </a:tblGrid>
              <a:tr h="9763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遇到的問題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修正方法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驗證界線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只讀今日表，漏掉 9/29 資料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依工作日期選最新 OPEN 表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顯示來源日期與非今日提示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較新鎖定表不應優先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 OPEN 不回退鎖定表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舊 DEMO 桿占位、訂單虛構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先備份，再清除 3 支範例桿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 16 支自主表來源桿次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核對來源關聯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未刪自主表盤元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已入洗但沒有實際槽位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先放待入槽；由台車確認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不繼承舊範例位置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不把桿號當槽號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不虛構槽內位置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資料日期、來源與位置責任要明確，才能避免把舊資料當成現況。">
            <a:extLst xmlns:a="http://schemas.openxmlformats.org/drawingml/2006/main">
              <a:ext uri="{FF2B5EF4-FFF2-40B4-BE49-F238E27FC236}">
                <a16:creationId xmlns:a16="http://schemas.microsoft.com/office/drawing/2014/main" id="{AF5DBA6D-7CCE-4586-B5D4-909F97562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資料日期、來源與位置責任要明確，才能避免把舊資料當成現況。</a:t>
            </a:r>
          </a:p>
        </p:txBody>
      </p:sp>
    </p:spTree>
    <p:extLst>
      <p:ext uri="{BB962C8B-B14F-4D97-AF65-F5344CB8AC3E}">
        <p14:creationId xmlns:p14="http://schemas.microsoft.com/office/powerpoint/2010/main" val="82020779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問題二｜顆別格式不同，同桿明細不完整">
            <a:extLst xmlns:a="http://schemas.openxmlformats.org/drawingml/2006/main">
              <a:ext uri="{FF2B5EF4-FFF2-40B4-BE49-F238E27FC236}">
                <a16:creationId xmlns:a16="http://schemas.microsoft.com/office/drawing/2014/main" id="{6D9BAD25-1545-4B2A-940E-23D1B844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問題二｜顆別格式不同，同桿明細不完整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BA46C39E-952D-431D-B428-F962D912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9">
            <a:extLst xmlns:a="http://schemas.openxmlformats.org/drawingml/2006/main">
              <a:ext uri="{FF2B5EF4-FFF2-40B4-BE49-F238E27FC236}">
                <a16:creationId xmlns:a16="http://schemas.microsoft.com/office/drawing/2014/main" id="{89161B7B-EED8-4056-9E79-A7590957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4" name="來源格式">
            <a:extLst xmlns:a="http://schemas.openxmlformats.org/drawingml/2006/main">
              <a:ext uri="{FF2B5EF4-FFF2-40B4-BE49-F238E27FC236}">
                <a16:creationId xmlns:a16="http://schemas.microsoft.com/office/drawing/2014/main" id="{49DE69B5-C214-46F8-B466-678FE07E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來源格式</a:t>
            </a:r>
          </a:p>
        </p:txBody>
      </p:sp>
      <p:sp>
        <p:nvSpPr>
          <p:cNvPr id="5" name="正規化後">
            <a:extLst xmlns:a="http://schemas.openxmlformats.org/drawingml/2006/main">
              <a:ext uri="{FF2B5EF4-FFF2-40B4-BE49-F238E27FC236}">
                <a16:creationId xmlns:a16="http://schemas.microsoft.com/office/drawing/2014/main" id="{32FC2EC6-BAB5-45F3-B96E-C30165EC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47637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正規化後</a:t>
            </a:r>
          </a:p>
        </p:txBody>
      </p:sp>
      <p:sp>
        <p:nvSpPr>
          <p:cNvPr id="6" name="同桿／同批次">
            <a:extLst xmlns:a="http://schemas.openxmlformats.org/drawingml/2006/main">
              <a:ext uri="{FF2B5EF4-FFF2-40B4-BE49-F238E27FC236}">
                <a16:creationId xmlns:a16="http://schemas.microsoft.com/office/drawing/2014/main" id="{133F3723-16CF-4EF1-A347-0A4BE614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47637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同桿／同批次</a:t>
            </a:r>
          </a:p>
        </p:txBody>
      </p:sp>
      <p:sp>
        <p:nvSpPr>
          <p:cNvPr id="7" name="(11-1)&#10;(11-2)&#10;11-3">
            <a:extLst xmlns:a="http://schemas.openxmlformats.org/drawingml/2006/main">
              <a:ext uri="{FF2B5EF4-FFF2-40B4-BE49-F238E27FC236}">
                <a16:creationId xmlns:a16="http://schemas.microsoft.com/office/drawing/2014/main" id="{009ACC73-435C-4532-A1AD-7F7852B9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(11-1)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(11-2)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11-3</a:t>
            </a:r>
          </a:p>
        </p:txBody>
      </p:sp>
      <p:sp>
        <p:nvSpPr>
          <p:cNvPr id="8" name="→">
            <a:extLst xmlns:a="http://schemas.openxmlformats.org/drawingml/2006/main">
              <a:ext uri="{FF2B5EF4-FFF2-40B4-BE49-F238E27FC236}">
                <a16:creationId xmlns:a16="http://schemas.microsoft.com/office/drawing/2014/main" id="{0FAB5060-CD2F-4C1F-88C1-5536BB8D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19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9" name="11-1&#10;11-2&#10;11-3">
            <a:extLst xmlns:a="http://schemas.openxmlformats.org/drawingml/2006/main">
              <a:ext uri="{FF2B5EF4-FFF2-40B4-BE49-F238E27FC236}">
                <a16:creationId xmlns:a16="http://schemas.microsoft.com/office/drawing/2014/main" id="{D32FF07A-3B10-40B1-A5A5-EE7F189E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90750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11-1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11-2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11-3</a:t>
            </a:r>
          </a:p>
        </p:txBody>
      </p:sp>
      <p:sp>
        <p:nvSpPr>
          <p:cNvPr id="10" name="→">
            <a:extLst xmlns:a="http://schemas.openxmlformats.org/drawingml/2006/main">
              <a:ext uri="{FF2B5EF4-FFF2-40B4-BE49-F238E27FC236}">
                <a16:creationId xmlns:a16="http://schemas.microsoft.com/office/drawing/2014/main" id="{B2A4EA3F-5680-40FE-A370-9198839C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19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1" name="11 號桿&#10;共 3 顆">
            <a:extLst xmlns:a="http://schemas.openxmlformats.org/drawingml/2006/main">
              <a:ext uri="{FF2B5EF4-FFF2-40B4-BE49-F238E27FC236}">
                <a16:creationId xmlns:a16="http://schemas.microsoft.com/office/drawing/2014/main" id="{6F0B5A5A-1388-49AA-ADEA-BE1C2838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381250"/>
            <a:ext cx="3143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11 號桿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共 3 顆</a:t>
            </a:r>
          </a:p>
        </p:txBody>
      </p:sp>
      <p:sp>
        <p:nvSpPr>
          <p:cNvPr id="12" name="逐顆保留：訂單／識別碼、材質、線徑、重量、來源紀錄與洗出狀態">
            <a:extLst xmlns:a="http://schemas.openxmlformats.org/drawingml/2006/main">
              <a:ext uri="{FF2B5EF4-FFF2-40B4-BE49-F238E27FC236}">
                <a16:creationId xmlns:a16="http://schemas.microsoft.com/office/drawing/2014/main" id="{F7CE697C-6DA3-45A1-B79F-3FD205F0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逐顆保留：訂單／識別碼、材質、線徑、重量、來源紀錄與洗出狀態。</a:t>
            </a:r>
          </a:p>
        </p:txBody>
      </p:sp>
      <p:sp>
        <p:nvSpPr>
          <p:cNvPr id="13" name="11-1、11-2、11-3 是同桿顆別，不是第 11 槽的">
            <a:extLst xmlns:a="http://schemas.openxmlformats.org/drawingml/2006/main">
              <a:ext uri="{FF2B5EF4-FFF2-40B4-BE49-F238E27FC236}">
                <a16:creationId xmlns:a16="http://schemas.microsoft.com/office/drawing/2014/main" id="{D658A7A4-FA6A-49F3-8D2F-36C5403F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11-1、11-2、11-3 是同桿顆別，不是第 11 槽的三個槽位。</a:t>
            </a:r>
          </a:p>
        </p:txBody>
      </p:sp>
    </p:spTree>
    <p:extLst>
      <p:ext uri="{BB962C8B-B14F-4D97-AF65-F5344CB8AC3E}">
        <p14:creationId xmlns:p14="http://schemas.microsoft.com/office/powerpoint/2010/main" val="106845421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問題三｜一顆洗出，能否直接移除整桿？">
            <a:extLst xmlns:a="http://schemas.openxmlformats.org/drawingml/2006/main">
              <a:ext uri="{FF2B5EF4-FFF2-40B4-BE49-F238E27FC236}">
                <a16:creationId xmlns:a16="http://schemas.microsoft.com/office/drawing/2014/main" id="{84267F18-863D-4790-87DC-16CF544C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問題三｜一顆洗出，能否直接移除整桿？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C1A2CF2C-A903-4D91-B8A8-41E59519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0">
            <a:extLst xmlns:a="http://schemas.openxmlformats.org/drawingml/2006/main">
              <a:ext uri="{FF2B5EF4-FFF2-40B4-BE49-F238E27FC236}">
                <a16:creationId xmlns:a16="http://schemas.microsoft.com/office/drawing/2014/main" id="{8D34DD55-0D7F-461B-A030-566330E2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A0ECCB-0874-4492-8C00-EF6058E5B723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2190750"/>
                <a:gridCol w="4210050"/>
              </a:tblGrid>
              <a:tr h="8810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自主表狀態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整桿判斷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天車／3D 行為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11-1 完成，其他未完成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已洗出 1／3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保留整桿與未完成明細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11-2 也完成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已洗出 2／3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繼續保留，顯示逐顆進度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三顆皆有有效旗標與洗出時間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整桿完成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移除目前字卡並關閉明細</a:t>
                      </a:r>
                    </a:p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保留歷史，不刪自主表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回報與查核須分開：使用者曾看到首顆掃描後消失；後續查核時三顆">
            <a:extLst xmlns:a="http://schemas.openxmlformats.org/drawingml/2006/main">
              <a:ext uri="{FF2B5EF4-FFF2-40B4-BE49-F238E27FC236}">
                <a16:creationId xmlns:a16="http://schemas.microsoft.com/office/drawing/2014/main" id="{A818551C-EFBB-433D-823C-972479BA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回報與查核須分開：使用者曾看到首顆掃描後消失；後續查核時三顆各有不同洗出時間，無法據此還原第一顆當下的畫面。</a:t>
            </a:r>
          </a:p>
        </p:txBody>
      </p:sp>
    </p:spTree>
    <p:extLst>
      <p:ext uri="{BB962C8B-B14F-4D97-AF65-F5344CB8AC3E}">
        <p14:creationId xmlns:p14="http://schemas.microsoft.com/office/powerpoint/2010/main" val="41722731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批次規則｜同一桿號不能沿用上一批狀態">
            <a:extLst xmlns:a="http://schemas.openxmlformats.org/drawingml/2006/main">
              <a:ext uri="{FF2B5EF4-FFF2-40B4-BE49-F238E27FC236}">
                <a16:creationId xmlns:a16="http://schemas.microsoft.com/office/drawing/2014/main" id="{2B6F57A4-DC3A-4C07-955E-5550B0F9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批次規則｜同一桿號不能沿用上一批狀態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62D76DCC-FC56-42AA-96A2-0E6D3415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1">
            <a:extLst xmlns:a="http://schemas.openxmlformats.org/drawingml/2006/main">
              <a:ext uri="{FF2B5EF4-FFF2-40B4-BE49-F238E27FC236}">
                <a16:creationId xmlns:a16="http://schemas.microsoft.com/office/drawing/2014/main" id="{AAADDD4F-5CF9-413C-B1C9-5312058B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4" name="同一桿號，可能是不同批盤元">
            <a:extLst xmlns:a="http://schemas.openxmlformats.org/drawingml/2006/main">
              <a:ext uri="{FF2B5EF4-FFF2-40B4-BE49-F238E27FC236}">
                <a16:creationId xmlns:a16="http://schemas.microsoft.com/office/drawing/2014/main" id="{CEE0445E-5B15-4BC1-937A-64272561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同一桿號，可能是不同批盤元</a:t>
            </a:r>
          </a:p>
        </p:txBody>
      </p:sp>
      <p:sp>
        <p:nvSpPr>
          <p:cNvPr id="5" name="洗出完成後，11 號桿可能重新裝料；只以「11」作識別，會混">
            <a:extLst xmlns:a="http://schemas.openxmlformats.org/drawingml/2006/main">
              <a:ext uri="{FF2B5EF4-FFF2-40B4-BE49-F238E27FC236}">
                <a16:creationId xmlns:a16="http://schemas.microsoft.com/office/drawing/2014/main" id="{80A7B090-DD6C-4D64-9CB6-91174711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洗出完成後，11 號桿可能重新裝料；只以「11」作識別，會混用新舊明細與作業狀態。</a:t>
            </a:r>
          </a:p>
        </p:txBody>
      </p:sp>
      <p:sp>
        <p:nvSpPr>
          <p:cNvPr id="6" name="桿次需綁定本次來源紀錄">
            <a:extLst xmlns:a="http://schemas.openxmlformats.org/drawingml/2006/main">
              <a:ext uri="{FF2B5EF4-FFF2-40B4-BE49-F238E27FC236}">
                <a16:creationId xmlns:a16="http://schemas.microsoft.com/office/drawing/2014/main" id="{E42D704F-1B44-4793-9058-668B59FA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桿次需綁定本次來源紀錄</a:t>
            </a:r>
          </a:p>
        </p:txBody>
      </p:sp>
      <p:sp>
        <p:nvSpPr>
          <p:cNvPr id="7" name="以自主表與批次來源關聯保存本次逐顆明細；新批次建立獨立桿次，">
            <a:extLst xmlns:a="http://schemas.openxmlformats.org/drawingml/2006/main">
              <a:ext uri="{FF2B5EF4-FFF2-40B4-BE49-F238E27FC236}">
                <a16:creationId xmlns:a16="http://schemas.microsoft.com/office/drawing/2014/main" id="{D36AC8D1-2657-4BB7-9878-7AE29AE8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以自主表與批次來源關聯保存本次逐顆明細；新批次建立獨立桿次，不承接舊槽位、計時或急件。</a:t>
            </a:r>
          </a:p>
        </p:txBody>
      </p:sp>
      <p:sp>
        <p:nvSpPr>
          <p:cNvPr id="8" name="資料異常要能被看見">
            <a:extLst xmlns:a="http://schemas.openxmlformats.org/drawingml/2006/main">
              <a:ext uri="{FF2B5EF4-FFF2-40B4-BE49-F238E27FC236}">
                <a16:creationId xmlns:a16="http://schemas.microsoft.com/office/drawing/2014/main" id="{AEBC47AE-3A26-4D4C-B465-4BE6F4B3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資料異常要能被看見</a:t>
            </a:r>
          </a:p>
        </p:txBody>
      </p:sp>
      <p:sp>
        <p:nvSpPr>
          <p:cNvPr id="9" name="重複顆別列為衝突，不能默默合併；補登、改桿、跨表與跨日案例列">
            <a:extLst xmlns:a="http://schemas.openxmlformats.org/drawingml/2006/main">
              <a:ext uri="{FF2B5EF4-FFF2-40B4-BE49-F238E27FC236}">
                <a16:creationId xmlns:a16="http://schemas.microsoft.com/office/drawing/2014/main" id="{F8AFF79B-99BB-40AD-88F6-F1B37CCA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重複顆別列為衝突，不能默默合併；補登、改桿、跨表與跨日案例列入後續現場驗收。</a:t>
            </a:r>
          </a:p>
        </p:txBody>
      </p:sp>
      <p:sp>
        <p:nvSpPr>
          <p:cNvPr id="10" name="桿號方便現場辨認；本次批次識別負責確保資料不混用。">
            <a:extLst xmlns:a="http://schemas.openxmlformats.org/drawingml/2006/main">
              <a:ext uri="{FF2B5EF4-FFF2-40B4-BE49-F238E27FC236}">
                <a16:creationId xmlns:a16="http://schemas.microsoft.com/office/drawing/2014/main" id="{635555D6-0045-418D-A412-3E4B3BFA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桿號方便現場辨認；本次批次識別負責確保資料不混用。</a:t>
            </a:r>
          </a:p>
        </p:txBody>
      </p:sp>
    </p:spTree>
    <p:extLst>
      <p:ext uri="{BB962C8B-B14F-4D97-AF65-F5344CB8AC3E}">
        <p14:creationId xmlns:p14="http://schemas.microsoft.com/office/powerpoint/2010/main" val="7476301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問題四｜資料已洗出，畫面卻要重整才消失">
            <a:extLst xmlns:a="http://schemas.openxmlformats.org/drawingml/2006/main">
              <a:ext uri="{FF2B5EF4-FFF2-40B4-BE49-F238E27FC236}">
                <a16:creationId xmlns:a16="http://schemas.microsoft.com/office/drawing/2014/main" id="{F6998BC4-1917-4F7F-8E72-23403831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問題四｜資料已洗出，畫面卻要重整才消失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C72B2A67-6605-4487-8641-1B61CD0D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2">
            <a:extLst xmlns:a="http://schemas.openxmlformats.org/drawingml/2006/main">
              <a:ext uri="{FF2B5EF4-FFF2-40B4-BE49-F238E27FC236}">
                <a16:creationId xmlns:a16="http://schemas.microsoft.com/office/drawing/2014/main" id="{4909193C-DEEC-488F-9EC3-2A666891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90CDD-2027-4823-9B5E-72385D06DB34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3257550"/>
              </a:tblGrid>
              <a:tr h="9763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發現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修正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預期行為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天車／3D 卡片更新延遲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約每 2 秒重新核對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切回分頁、恢復顯示時補查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不重整也能看到狀態變化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明細視窗仍停在舊桿次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資料變動更新內容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完成桿次消失時自動關閉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2D／3D 明細與卡片一致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舊模組或失敗回應仍留內容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上游不使用快取、版本化載入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讀取失敗清除舊 3D 字卡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避免把舊字卡當最新資料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已確認明細更新缺口；原卡片延遲的全部成因，仍缺真實請求紀錄。">
            <a:extLst xmlns:a="http://schemas.openxmlformats.org/drawingml/2006/main">
              <a:ext uri="{FF2B5EF4-FFF2-40B4-BE49-F238E27FC236}">
                <a16:creationId xmlns:a16="http://schemas.microsoft.com/office/drawing/2014/main" id="{77F1E541-A029-4F64-9AAA-04E411EC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已確認明細更新缺口；原卡片延遲的全部成因，仍缺真實請求紀錄。</a:t>
            </a:r>
          </a:p>
        </p:txBody>
      </p:sp>
    </p:spTree>
    <p:extLst>
      <p:ext uri="{BB962C8B-B14F-4D97-AF65-F5344CB8AC3E}">
        <p14:creationId xmlns:p14="http://schemas.microsoft.com/office/powerpoint/2010/main" val="176743826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目前證據｜哪些完成，哪些仍待驗收？">
            <a:extLst xmlns:a="http://schemas.openxmlformats.org/drawingml/2006/main">
              <a:ext uri="{FF2B5EF4-FFF2-40B4-BE49-F238E27FC236}">
                <a16:creationId xmlns:a16="http://schemas.microsoft.com/office/drawing/2014/main" id="{4BDCD4AC-2F4C-4468-B3D2-B37ECB0D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目前證據｜哪些完成，哪些仍待驗收？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56994204-1C88-476C-BD5C-856F8F10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3">
            <a:extLst xmlns:a="http://schemas.openxmlformats.org/drawingml/2006/main">
              <a:ext uri="{FF2B5EF4-FFF2-40B4-BE49-F238E27FC236}">
                <a16:creationId xmlns:a16="http://schemas.microsoft.com/office/drawing/2014/main" id="{818E7A0B-841D-479A-B88D-F606C293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B2A492-08A4-4FDB-A2AD-39F29939C835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4762500"/>
                <a:gridCol w="3448050"/>
              </a:tblGrid>
              <a:tr h="9763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驗證層級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目前結果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尚不能推論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來源資料與清理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9/29 OPEN 表、逐顆明細核對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清 DEMO，保留自主表桿次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不代表正式生產上線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程式與模擬瀏覽器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1／3 → 2／3 → 完成移除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手機 393px／平板 1024px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不代表實際掃碼已整輪回測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使用者與現場驗收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先前 AR 急件修正獲確認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最新洗出／同步修正待實測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整班、多使用者、跨日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斷線恢復及客訴效益未驗收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可以報告「已部署 DEMO 並通過指定測試」，不能把假設寫成">
            <a:extLst xmlns:a="http://schemas.openxmlformats.org/drawingml/2006/main">
              <a:ext uri="{FF2B5EF4-FFF2-40B4-BE49-F238E27FC236}">
                <a16:creationId xmlns:a16="http://schemas.microsoft.com/office/drawing/2014/main" id="{B7A0EF72-E635-45D3-BB90-48C29939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可以報告「已部署 DEMO 並通過指定測試」，不能把假設寫成成效。</a:t>
            </a:r>
          </a:p>
        </p:txBody>
      </p:sp>
    </p:spTree>
    <p:extLst>
      <p:ext uri="{BB962C8B-B14F-4D97-AF65-F5344CB8AC3E}">
        <p14:creationId xmlns:p14="http://schemas.microsoft.com/office/powerpoint/2010/main" val="59921146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論文主軸｜比較現況與 MES＋即時 3D">
            <a:extLst xmlns:a="http://schemas.openxmlformats.org/drawingml/2006/main">
              <a:ext uri="{FF2B5EF4-FFF2-40B4-BE49-F238E27FC236}">
                <a16:creationId xmlns:a16="http://schemas.microsoft.com/office/drawing/2014/main" id="{06526378-D0A4-47EF-8DBA-0838DA37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論文主軸｜比較現況與 MES＋即時 3D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D80365E7-CC6F-40A1-B6D7-8029313C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4">
            <a:extLst xmlns:a="http://schemas.openxmlformats.org/drawingml/2006/main">
              <a:ext uri="{FF2B5EF4-FFF2-40B4-BE49-F238E27FC236}">
                <a16:creationId xmlns:a16="http://schemas.microsoft.com/office/drawing/2014/main" id="{71A8B98A-DDE1-48EC-AE9F-C3B588F5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94D2A0-57A6-463A-9D9F-4FCAFBC93A1E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3905250"/>
                <a:gridCol w="4686300"/>
              </a:tblGrid>
              <a:tr h="7810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分析面向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現況限制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預定量測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入槽後辨識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標示帶被遮住、需再問資料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辨識時間、錯誤數、實物對應率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計時與交接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燈號與口頭交代分散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優先吊出辨識、交接理解時間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四台天車與急件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各自更新，有訊息時間差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狀態一致率、同步與急件反應時間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批次與追溯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逐顆完成與歷程不易核對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整桿誤判數、LOG 完整率、查詢耗時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以相同任務做前後比較；訪談補充操作感受，事件紀錄支撐研究結論">
            <a:extLst xmlns:a="http://schemas.openxmlformats.org/drawingml/2006/main">
              <a:ext uri="{FF2B5EF4-FFF2-40B4-BE49-F238E27FC236}">
                <a16:creationId xmlns:a16="http://schemas.microsoft.com/office/drawing/2014/main" id="{BC640F23-5662-4FFE-9201-039600BF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以相同任務做前後比較；訪談補充操作感受，事件紀錄支撐研究結論。</a:t>
            </a:r>
          </a:p>
        </p:txBody>
      </p:sp>
    </p:spTree>
    <p:extLst>
      <p:ext uri="{BB962C8B-B14F-4D97-AF65-F5344CB8AC3E}">
        <p14:creationId xmlns:p14="http://schemas.microsoft.com/office/powerpoint/2010/main" val="8591068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0DDD6-C768-403D-B764-B1F25A8D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第一項：入槽後辨識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A064A-0BDC-41B8-B418-DB75B95E58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17fb61602e43f1"/>
          <a:stretch xmlns:a="http://schemas.openxmlformats.org/drawingml/2006/main"/>
        </p:blipFill>
        <p:spPr>
          <a:xfrm xmlns:a="http://schemas.openxmlformats.org/drawingml/2006/main">
            <a:off x="616664" y="1238250"/>
            <a:ext cx="7224872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912D68-4DF0-4439-AEFC-77689D75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0C76D-CF79-47F3-B1CC-FAAA7B1C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入槽後標示帶被槽液遮住，無法持續辨識顏色。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505BD-A8D1-4EF2-A935-72D3C1A6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改善方向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4FB4CC-6BE6-472D-82A1-2DA54EDB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3D 字卡可保留桿號與材料資料，協助操作員確認。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BA3C2-9C60-4D45-89FB-A6872605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觀察：辨識時間、錯誤數與實物對應率。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C2C92-D7E4-4C9C-922C-5C05B25D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情境示意：圖中數據與畫面仍需依實際現場驗證。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0077BD-3218-4923-BE42-03F11E1F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38E011-88E3-400F-BC2F-853768C6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6342182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3828FA-9D7B-43C4-9C7D-A1A48697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第二項：計時與交接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0DF15-50C6-4620-8B7E-E11DDF0242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79238bffb4476b"/>
          <a:stretch xmlns:a="http://schemas.openxmlformats.org/drawingml/2006/main"/>
        </p:blipFill>
        <p:spPr>
          <a:xfrm xmlns:a="http://schemas.openxmlformats.org/drawingml/2006/main">
            <a:off x="644318" y="1238250"/>
            <a:ext cx="7169563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A61C3-BEAD-4B2F-9044-6D58AAB5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0ECAE-7FA9-4139-BB44-81083E24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操作員距離槽體較遠，燈號不容易確認。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B51159-2289-4192-B95A-A43A0019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改善方向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AC839-E13D-4DFB-AAD0-CBA8171B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集中顯示槽位計時與狀態，有助交接和判斷優先吊出。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CBF6A7-6BE4-4E8B-9F54-62392E5B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觀察：判讀及交接理解時間。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59044-7B1C-4738-B4A4-C20E57F8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情境示意：圖中數據與畫面仍需依實際現場驗證。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37CE89-9F8E-4E4E-A085-27410F4D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47A79F-868A-44AB-B49E-B7A8B904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4416750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EAAC6B-28FB-4E18-A9DD-6BD33241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第三項：四台天車與急件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2FDAE2-BA5B-4042-9380-664414E883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335ce9dc9402c"/>
          <a:stretch xmlns:a="http://schemas.openxmlformats.org/drawingml/2006/main"/>
        </p:blipFill>
        <p:spPr>
          <a:xfrm xmlns:a="http://schemas.openxmlformats.org/drawingml/2006/main">
            <a:off x="611568" y="1238250"/>
            <a:ext cx="7235064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0ACA4-406D-4832-896A-308120AD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94895-1D43-4EAB-819B-71BBB475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急件主要依靠人員傳達，各台天車可能取得不同資訊。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111A3-20C6-4C86-A542-1C1BAA43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改善方向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92448-7049-4639-88E3-904590A5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主管標示急件順位，四台天車共享同一份最新狀態。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97504D-F324-43A5-918C-EFC11445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觀察：狀態一致率與急件反應時間。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5EF6FA-70B4-42BF-AF25-09B6818B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情境示意：圖中數據與畫面仍需依實際現場驗證。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162F00-BD7B-49BB-88F8-BC48EC4B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904F25-30AF-46A5-A443-3850E0F0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3627300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44011A-6D4A-4AE8-A373-D99C4B96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第四項：批次與追溯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A85D87-7C83-4E01-BB77-E042753BCE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f70b71d52049e7"/>
          <a:stretch xmlns:a="http://schemas.openxmlformats.org/drawingml/2006/main"/>
        </p:blipFill>
        <p:spPr>
          <a:xfrm xmlns:a="http://schemas.openxmlformats.org/drawingml/2006/main">
            <a:off x="616598" y="1238250"/>
            <a:ext cx="7225004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9C107-FD1A-4744-B40F-B298E009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5CD40-3277-46D1-B15E-FA52CF16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機械計時器原未形成每桿、每槽的可查入槽 LOG。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53B4E1-32FE-48A8-8CD0-781E9A89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改善方向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1C38BA-F4DC-439F-9286-A18677D2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MES 記錄桿次、槽位和作業事件，協助核對歷程。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AA8558-0C92-4B26-A3B8-CDA92E8E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觀察：LOG 完整率、整桿誤判與查詢時間。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8753C6-7E84-41E9-B5CB-1922FA65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情境示意：圖中數據與畫面仍需依實際現場驗證。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52300-685B-4DA9-BE33-D7A259B8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D6770F-F2CF-4545-8A96-92AA8481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3753022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至 11/10 的進度與驗收安排">
            <a:extLst xmlns:a="http://schemas.openxmlformats.org/drawingml/2006/main">
              <a:ext uri="{FF2B5EF4-FFF2-40B4-BE49-F238E27FC236}">
                <a16:creationId xmlns:a16="http://schemas.microsoft.com/office/drawing/2014/main" id="{3FD7F5E3-100B-4A8F-ACC4-B7755F3D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至 11/10 的進度與驗收安排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6FD33CF8-55E3-4847-BF49-AAB49E1F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5">
            <a:extLst xmlns:a="http://schemas.openxmlformats.org/drawingml/2006/main">
              <a:ext uri="{FF2B5EF4-FFF2-40B4-BE49-F238E27FC236}">
                <a16:creationId xmlns:a16="http://schemas.microsoft.com/office/drawing/2014/main" id="{C9295525-9CCC-48BD-A51C-1DD27A58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E67643-6793-4F80-96E8-0670B0E94917}"/>
              </a:ext>
            </a:extLst>
          </p:cNvPr>
          <p:cNvGraphicFramePr/>
          <p:nvPr/>
        </p:nvGraphicFramePr>
        <p:xfrm>
          <a:off xmlns:a="http://schemas.openxmlformats.org/drawingml/2006/main" x="609600" y="1333500"/>
          <a:ext xmlns:a="http://schemas.openxmlformats.org/drawingml/2006/main" cx="10972800" cy="4238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4191000"/>
                <a:gridCol w="4257675"/>
              </a:tblGrid>
              <a:tr h="7064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時程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工作重點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應帶到報告的證據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10/27｜上期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客訴 LOG 缺口與天車 AR 展示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現場問題與研究動機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10/28–29｜已進行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收斂 3D、自主表 DEMO、同步修正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版本、資料規則與測試結果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10/30–11/3｜預定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實際逐顆洗出與四台同步複測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1／3、2／3、完成移除與延遲紀錄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11/4–11/9｜預定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單台支架試行、異常案例與基準設計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準備時間、操作步驟、待驗收項目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11/10｜報告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展示資料鏈，討論研究指標與樣本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區分完成成果、限制及下一階段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14757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11/10 DEMO｜從真實來源到畫面一致">
            <a:extLst xmlns:a="http://schemas.openxmlformats.org/drawingml/2006/main">
              <a:ext uri="{FF2B5EF4-FFF2-40B4-BE49-F238E27FC236}">
                <a16:creationId xmlns:a16="http://schemas.microsoft.com/office/drawing/2014/main" id="{EF7A1323-551D-4C24-98CD-E5AB273E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11/10 DEMO｜從真實來源到畫面一致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53D4AD30-F1FB-4660-B4EF-68CB6478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6">
            <a:extLst xmlns:a="http://schemas.openxmlformats.org/drawingml/2006/main">
              <a:ext uri="{FF2B5EF4-FFF2-40B4-BE49-F238E27FC236}">
                <a16:creationId xmlns:a16="http://schemas.microsoft.com/office/drawing/2014/main" id="{201E0E40-E0B6-43D1-915B-B589B831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4" name="第一步：自主表入洗 → 待入槽">
            <a:extLst xmlns:a="http://schemas.openxmlformats.org/drawingml/2006/main">
              <a:ext uri="{FF2B5EF4-FFF2-40B4-BE49-F238E27FC236}">
                <a16:creationId xmlns:a16="http://schemas.microsoft.com/office/drawing/2014/main" id="{B89679A5-DA98-4330-9133-CD78B200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第一步：自主表入洗 → 待入槽</a:t>
            </a:r>
          </a:p>
        </p:txBody>
      </p:sp>
      <p:sp>
        <p:nvSpPr>
          <p:cNvPr id="5" name="確認最新 OPEN 表與資料日期；查看同桿逐顆材料，台車選槽">
            <a:extLst xmlns:a="http://schemas.openxmlformats.org/drawingml/2006/main">
              <a:ext uri="{FF2B5EF4-FFF2-40B4-BE49-F238E27FC236}">
                <a16:creationId xmlns:a16="http://schemas.microsoft.com/office/drawing/2014/main" id="{49DB9DB2-9BB7-4EC3-90CB-BA115817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確認最新 OPEN 表與資料日期；查看同桿逐顆材料，台車選槽並計時，3D 顯示對應字卡。</a:t>
            </a:r>
          </a:p>
        </p:txBody>
      </p:sp>
      <p:sp>
        <p:nvSpPr>
          <p:cNvPr id="6" name="第二步：主管急件 → 四台共同查看">
            <a:extLst xmlns:a="http://schemas.openxmlformats.org/drawingml/2006/main">
              <a:ext uri="{FF2B5EF4-FFF2-40B4-BE49-F238E27FC236}">
                <a16:creationId xmlns:a16="http://schemas.microsoft.com/office/drawing/2014/main" id="{36C0803E-BF2B-4E34-8FA7-3C8AD967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第二步：主管急件 → 四台共同查看</a:t>
            </a:r>
          </a:p>
        </p:txBody>
      </p:sp>
      <p:sp>
        <p:nvSpPr>
          <p:cNvPr id="7" name="主管標示急件 1，確認台車、主管及 3D 看到相同桿次與順位">
            <a:extLst xmlns:a="http://schemas.openxmlformats.org/drawingml/2006/main">
              <a:ext uri="{FF2B5EF4-FFF2-40B4-BE49-F238E27FC236}">
                <a16:creationId xmlns:a16="http://schemas.microsoft.com/office/drawing/2014/main" id="{B62A05A7-47E1-4983-B192-06A0BC73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主管標示急件 1，確認台車、主管及 3D 看到相同桿次與順位；記錄各畫面更新時間。</a:t>
            </a:r>
          </a:p>
        </p:txBody>
      </p:sp>
      <p:sp>
        <p:nvSpPr>
          <p:cNvPr id="8" name="第三步：逐顆洗出 → 整桿完成">
            <a:extLst xmlns:a="http://schemas.openxmlformats.org/drawingml/2006/main">
              <a:ext uri="{FF2B5EF4-FFF2-40B4-BE49-F238E27FC236}">
                <a16:creationId xmlns:a16="http://schemas.microsoft.com/office/drawing/2014/main" id="{EACF1426-4AAA-41DF-A3FC-06EAD751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第三步：逐顆洗出 → 整桿完成</a:t>
            </a:r>
          </a:p>
        </p:txBody>
      </p:sp>
      <p:sp>
        <p:nvSpPr>
          <p:cNvPr id="9" name="依序驗證 1／3、2／3 保留；全數完成才移除卡片、關閉明細">
            <a:extLst xmlns:a="http://schemas.openxmlformats.org/drawingml/2006/main">
              <a:ext uri="{FF2B5EF4-FFF2-40B4-BE49-F238E27FC236}">
                <a16:creationId xmlns:a16="http://schemas.microsoft.com/office/drawing/2014/main" id="{ECF75E07-EAD7-4340-84E9-F5EDAD1E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依序驗證 1／3、2／3 保留；全數完成才移除卡片、關閉明細，歷史仍可查，再驗證同桿換批。</a:t>
            </a:r>
          </a:p>
        </p:txBody>
      </p:sp>
      <p:sp>
        <p:nvSpPr>
          <p:cNvPr id="10" name="使用可測試的新桿次；來源業務操作由有權限人員確認。">
            <a:extLst xmlns:a="http://schemas.openxmlformats.org/drawingml/2006/main">
              <a:ext uri="{FF2B5EF4-FFF2-40B4-BE49-F238E27FC236}">
                <a16:creationId xmlns:a16="http://schemas.microsoft.com/office/drawing/2014/main" id="{E303791B-B289-4530-8B76-2C41FDF8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使用可測試的新桿次；來源業務操作由有權限人員確認。</a:t>
            </a:r>
          </a:p>
        </p:txBody>
      </p:sp>
    </p:spTree>
    <p:extLst>
      <p:ext uri="{BB962C8B-B14F-4D97-AF65-F5344CB8AC3E}">
        <p14:creationId xmlns:p14="http://schemas.microsoft.com/office/powerpoint/2010/main" val="103966721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085B62-2D36-45AB-BE0E-91D653B7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1/4：既有加工需求的來源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6FFD6-0549-4DB7-B526-A060BDAA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866A32-6E27-4B6D-A129-DD28AD8D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E240BC-41A2-4611-A2E4-0808C540EA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6f240bc9af4e86"/>
          <a:stretch xmlns:a="http://schemas.openxmlformats.org/drawingml/2006/main"/>
        </p:blipFill>
        <p:spPr>
          <a:xfrm xmlns:a="http://schemas.openxmlformats.org/drawingml/2006/main">
            <a:off x="884212" y="1285875"/>
            <a:ext cx="2784527" cy="3857625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55D081-B23C-48A0-A66E-BB0311356C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0078a6963c45aa"/>
          <a:stretch xmlns:a="http://schemas.openxmlformats.org/drawingml/2006/main"/>
        </p:blipFill>
        <p:spPr>
          <a:xfrm xmlns:a="http://schemas.openxmlformats.org/drawingml/2006/main">
            <a:off x="4598962" y="1285875"/>
            <a:ext cx="2784527" cy="385762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77FF97-B63D-4F06-AF50-626A911A1A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416fb04fee429f"/>
          <a:stretch xmlns:a="http://schemas.openxmlformats.org/drawingml/2006/main"/>
        </p:blipFill>
        <p:spPr>
          <a:xfrm xmlns:a="http://schemas.openxmlformats.org/drawingml/2006/main">
            <a:off x="8313712" y="1285875"/>
            <a:ext cx="2784527" cy="3857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55F38-4260-4CA5-A991-8EF79BDA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委外加工排程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55B3B-1D9B-40E0-912F-6830DC2A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盤元催料資料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6B0BCF-6793-479F-AFDA-3A66A13B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球化相關催料資料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AAD1AC-F06F-4F61-8C4B-6EB62A7C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既有單位決定加工安排；本系統接收需求，從實際入庫開始串接。</a:t>
            </a:r>
          </a:p>
        </p:txBody>
      </p:sp>
    </p:spTree>
    <p:extLst>
      <p:ext uri="{BB962C8B-B14F-4D97-AF65-F5344CB8AC3E}">
        <p14:creationId xmlns:p14="http://schemas.microsoft.com/office/powerpoint/2010/main" val="32934419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06FF42-B238-48B7-A452-F17EDC8C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2/4：生管建立 MES 催料單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024E29-B0DE-4227-ABC9-B19E4F92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7265E-5D8A-4488-A91F-84A51217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007CB-A7EA-4F5E-A088-A8CDEFB55F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bfd83e598a4a63"/>
          <a:stretch xmlns:a="http://schemas.openxmlformats.org/drawingml/2006/main"/>
        </p:blipFill>
        <p:spPr>
          <a:xfrm xmlns:a="http://schemas.openxmlformats.org/drawingml/2006/main">
            <a:off x="609600" y="1745601"/>
            <a:ext cx="10972800" cy="203329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BDF5F0-76DB-4226-B60A-46613239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1　核對工令與客戶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08910-2F66-498D-8B02-BC899DC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2　登錄規格與預計件數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F6408-80C6-4BE4-A12C-B9003389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3　儲存催料單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CB78E-F440-4788-94E9-883B45BF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紙本需求提供輸入依據，MES 保存工令、製程、材質、線徑與件數。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C6C76E-9A7D-4B2E-9868-7E0EAF86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此時只有預計加工資料，是否到場仍待收料人員確認。</a:t>
            </a:r>
          </a:p>
        </p:txBody>
      </p:sp>
    </p:spTree>
    <p:extLst>
      <p:ext uri="{BB962C8B-B14F-4D97-AF65-F5344CB8AC3E}">
        <p14:creationId xmlns:p14="http://schemas.microsoft.com/office/powerpoint/2010/main" val="41496167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EC1737-1832-4D80-B5A9-E4DA7B88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3/4：訂單找資料，條碼認物料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28B733-95B3-4658-94D6-72FD695D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41221-CFC2-46BD-BC56-719F7E2A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5D5393-D378-4A1E-8966-7E0944BD15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912ec223a47b5"/>
          <a:stretch xmlns:a="http://schemas.openxmlformats.org/drawingml/2006/main"/>
        </p:blipFill>
        <p:spPr>
          <a:xfrm xmlns:a="http://schemas.openxmlformats.org/drawingml/2006/main">
            <a:off x="633459" y="1381125"/>
            <a:ext cx="3381283" cy="314325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BDAC0D-3089-45CF-97BE-67D67FE477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fd0f0d595045e3"/>
          <a:stretch xmlns:a="http://schemas.openxmlformats.org/drawingml/2006/main"/>
        </p:blipFill>
        <p:spPr>
          <a:xfrm xmlns:a="http://schemas.openxmlformats.org/drawingml/2006/main">
            <a:off x="5031921" y="1333500"/>
            <a:ext cx="2032909" cy="33337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3A00B0-35D1-4748-83C5-365A1BE1B6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83d1cae76f4043"/>
          <a:stretch xmlns:a="http://schemas.openxmlformats.org/drawingml/2006/main"/>
        </p:blipFill>
        <p:spPr>
          <a:xfrm xmlns:a="http://schemas.openxmlformats.org/drawingml/2006/main">
            <a:off x="8512687" y="1333500"/>
            <a:ext cx="2500877" cy="3333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EB3E1-0004-4E18-BFB0-FA4F46FA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訂單／工令號碼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B717EA-72D1-450D-BD74-CFEB1615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342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搜尋對應催料單。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CFEB0-8BF7-405E-99F3-34236D8A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原鐵牌條碼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636F2B-A390-4177-876C-4E39D332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200650"/>
            <a:ext cx="342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可讀取且能區分盤元時沿用。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CA2EAB-96BC-4EC1-BD7C-B26C5512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備用 QR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C5A32B-A00C-4A1E-919B-D97C4784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00650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原碼損毀時才補貼。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9A9ECF-69F6-46C4-B9C3-E4FF06BE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同一工單可串接多顆盤元，每顆保存自己的識別碼與重量。</a:t>
            </a:r>
          </a:p>
        </p:txBody>
      </p:sp>
    </p:spTree>
    <p:extLst>
      <p:ext uri="{BB962C8B-B14F-4D97-AF65-F5344CB8AC3E}">
        <p14:creationId xmlns:p14="http://schemas.microsoft.com/office/powerpoint/2010/main" val="15501286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09B46-E30F-413B-9210-181D3BEA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4/4：收料人員確認入庫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47E104-099A-4A46-8EE4-FF60495D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4437B-0E9B-4E95-94C1-17109506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514FDD-4869-4A95-A132-E85487090E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9fbfb13ae4e0d"/>
          <a:stretch xmlns:a="http://schemas.openxmlformats.org/drawingml/2006/main"/>
        </p:blipFill>
        <p:spPr>
          <a:xfrm xmlns:a="http://schemas.openxmlformats.org/drawingml/2006/main">
            <a:off x="654685" y="1285875"/>
            <a:ext cx="10882630" cy="3667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E049B-925A-4625-88D9-6C39E3F7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① 搜尋並選取工單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585BCF-FB17-4DF5-BAA8-D69222BE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② 核對物料資料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BF6BC-5D05-451E-A0B4-4F062D45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③ 掃描條碼／QR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B6975-9213-4F40-B4D3-A08ED8FA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④ 確認重量、入庫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F48EC-FF54-4F12-A930-B252B0E6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完成入庫後，後續人員掃描同一識別碼，就能連到既有物料資料。</a:t>
            </a:r>
          </a:p>
        </p:txBody>
      </p:sp>
    </p:spTree>
    <p:extLst>
      <p:ext uri="{BB962C8B-B14F-4D97-AF65-F5344CB8AC3E}">
        <p14:creationId xmlns:p14="http://schemas.microsoft.com/office/powerpoint/2010/main" val="168294653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231163-2DEB-40C1-A6DC-5BCF68F7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洗入回報：掃碼後記錄進場酸洗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C984C9-B405-4562-8EC7-BF2A9FB7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C28D2-64E7-4D13-A0F0-AA53CC3C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75737C-989F-4045-A3D5-1E6AC79AB0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ad4a616ec348d1"/>
          <a:stretch xmlns:a="http://schemas.openxmlformats.org/drawingml/2006/main"/>
        </p:blipFill>
        <p:spPr>
          <a:xfrm xmlns:a="http://schemas.openxmlformats.org/drawingml/2006/main">
            <a:off x="620183" y="1333500"/>
            <a:ext cx="10951633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1DC6C1-98D8-4761-AF58-4B26304A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選擇藍底「掃碼洗入」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15A08-893B-4CF6-9F38-73DCA578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掃碼並填爐號、桿號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DCFCE-0832-4604-BF32-681772DE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按下「確認洗入」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2A7885-435B-4867-96D5-3D234785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系統回報入洗時間與物料資料，讓其他人知道這顆盤元已進入加工。</a:t>
            </a:r>
          </a:p>
        </p:txBody>
      </p:sp>
    </p:spTree>
    <p:extLst>
      <p:ext uri="{BB962C8B-B14F-4D97-AF65-F5344CB8AC3E}">
        <p14:creationId xmlns:p14="http://schemas.microsoft.com/office/powerpoint/2010/main" val="31772390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269F67-3435-442C-9A42-705CE71F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洗出回報：再次掃碼確認酸洗完工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5DCD11-5F5E-4A6A-8D95-3E92E4B8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8F43E-3E4C-43CF-AF94-487EB4E2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FAC35B-1D1E-4430-B876-EDFAD45161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b4c8f728d44f9d"/>
          <a:stretch xmlns:a="http://schemas.openxmlformats.org/drawingml/2006/main"/>
        </p:blipFill>
        <p:spPr>
          <a:xfrm xmlns:a="http://schemas.openxmlformats.org/drawingml/2006/main">
            <a:off x="793494" y="1333500"/>
            <a:ext cx="10605012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1581A3-99A8-4EDD-B2E4-61F0E4A7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選擇橘底「掃碼洗出」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40E3-72B4-47B9-AB1B-E0C0E9F3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掃碼、核對原洗入資料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EFF0E4-475B-4916-BEEB-CA0BD01B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按下「確認洗出」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5A718-17D2-48CC-9518-920C5A31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確認洗出才代表酸洗完工，洗出時間提供中央生管及下游準備依據。</a:t>
            </a:r>
          </a:p>
        </p:txBody>
      </p:sp>
    </p:spTree>
    <p:extLst>
      <p:ext uri="{BB962C8B-B14F-4D97-AF65-F5344CB8AC3E}">
        <p14:creationId xmlns:p14="http://schemas.microsoft.com/office/powerpoint/2010/main" val="6875212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2026-10-30T07:36:50.2310000Z</dcterms:created>
  <dcterms:modified xsi:type="dcterms:W3CDTF">2026-10-30T07:36:50.2310000Z</dcterms:modified>
</coreProperties>
</file>
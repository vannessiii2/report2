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jpeg" ContentType="image/jpe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  <Override PartName="/ppt/slides/slide22.xml" ContentType="application/vnd.openxmlformats-officedocument.presentationml.slide+xml"/>
  <Override PartName="/ppt/notesSlides/notesSlide22.xml" ContentType="application/vnd.openxmlformats-officedocument.presentationml.notesSlide+xml"/>
  <Override PartName="/ppt/slides/slide23.xml" ContentType="application/vnd.openxmlformats-officedocument.presentationml.slide+xml"/>
  <Override PartName="/ppt/notesSlides/notesSlide23.xml" ContentType="application/vnd.openxmlformats-officedocument.presentationml.notesSlide+xml"/>
  <Override PartName="/ppt/slides/slide24.xml" ContentType="application/vnd.openxmlformats-officedocument.presentationml.slide+xml"/>
  <Override PartName="/ppt/notesSlides/notesSlide24.xml" ContentType="application/vnd.openxmlformats-officedocument.presentationml.notesSlide+xml"/>
  <Override PartName="/ppt/slides/slide25.xml" ContentType="application/vnd.openxmlformats-officedocument.presentationml.slide+xml"/>
  <Override PartName="/ppt/notesSlides/notesSlide25.xml" ContentType="application/vnd.openxmlformats-officedocument.presentationml.notesSlide+xml"/>
  <Override PartName="/ppt/slides/slide26.xml" ContentType="application/vnd.openxmlformats-officedocument.presentationml.slide+xml"/>
  <Override PartName="/ppt/notesSlides/notesSlide26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6de52f29cee4131" /><Relationship Type="http://schemas.openxmlformats.org/officeDocument/2006/relationships/extended-properties" Target="/docProps/app.xml" Id="Re265a51944064a0a" /><Relationship Type="http://schemas.openxmlformats.org/officeDocument/2006/relationships/officeDocument" Target="/ppt/presentation.xml" Id="Rc88d15ce498a4645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d1069ab87e414f31"/>
  </p:sldMasterIdLst>
  <p:notesMasterIdLst>
    <p:notesMasterId xmlns:r="http://schemas.openxmlformats.org/officeDocument/2006/relationships" r:id="R67425fb654a8425f"/>
  </p:notesMasterIdLst>
  <p:sldIdLst>
    <p:sldId xmlns:r="http://schemas.openxmlformats.org/officeDocument/2006/relationships" id="256" r:id="R6ba399677d0a4d60"/>
    <p:sldId xmlns:r="http://schemas.openxmlformats.org/officeDocument/2006/relationships" id="257" r:id="R5a1d2dabd7f04774"/>
    <p:sldId xmlns:r="http://schemas.openxmlformats.org/officeDocument/2006/relationships" id="258" r:id="R08c30f361aac49df"/>
    <p:sldId xmlns:r="http://schemas.openxmlformats.org/officeDocument/2006/relationships" id="259" r:id="Rad7d104d60454274"/>
    <p:sldId xmlns:r="http://schemas.openxmlformats.org/officeDocument/2006/relationships" id="260" r:id="Rb36912ca2ae94a90"/>
    <p:sldId xmlns:r="http://schemas.openxmlformats.org/officeDocument/2006/relationships" id="261" r:id="R7f80dc68a10f41ac"/>
    <p:sldId xmlns:r="http://schemas.openxmlformats.org/officeDocument/2006/relationships" id="262" r:id="R9a87da2931cd4b04"/>
    <p:sldId xmlns:r="http://schemas.openxmlformats.org/officeDocument/2006/relationships" id="263" r:id="R7ecdab32b717404c"/>
    <p:sldId xmlns:r="http://schemas.openxmlformats.org/officeDocument/2006/relationships" id="264" r:id="R0c8bded108b04b4c"/>
    <p:sldId xmlns:r="http://schemas.openxmlformats.org/officeDocument/2006/relationships" id="265" r:id="Rd0470f9d280f47f7"/>
    <p:sldId xmlns:r="http://schemas.openxmlformats.org/officeDocument/2006/relationships" id="266" r:id="R50dbbbecf21e478e"/>
    <p:sldId xmlns:r="http://schemas.openxmlformats.org/officeDocument/2006/relationships" id="267" r:id="R3afe42a024694d3b"/>
    <p:sldId xmlns:r="http://schemas.openxmlformats.org/officeDocument/2006/relationships" id="268" r:id="Rd4261e380d8d494a"/>
    <p:sldId xmlns:r="http://schemas.openxmlformats.org/officeDocument/2006/relationships" id="269" r:id="Rd48c1ec0f771414f"/>
    <p:sldId xmlns:r="http://schemas.openxmlformats.org/officeDocument/2006/relationships" id="270" r:id="Rdfba1f71d7814122"/>
    <p:sldId xmlns:r="http://schemas.openxmlformats.org/officeDocument/2006/relationships" id="271" r:id="Re57138573f62455d"/>
    <p:sldId xmlns:r="http://schemas.openxmlformats.org/officeDocument/2006/relationships" id="272" r:id="R8be548df51d2460b"/>
    <p:sldId xmlns:r="http://schemas.openxmlformats.org/officeDocument/2006/relationships" id="273" r:id="R0e510366e8a14c71"/>
    <p:sldId xmlns:r="http://schemas.openxmlformats.org/officeDocument/2006/relationships" id="274" r:id="R5bba4b4870d240c4"/>
    <p:sldId xmlns:r="http://schemas.openxmlformats.org/officeDocument/2006/relationships" id="275" r:id="R8adf89a6db57485b"/>
    <p:sldId xmlns:r="http://schemas.openxmlformats.org/officeDocument/2006/relationships" id="276" r:id="R513290c3378640fc"/>
    <p:sldId xmlns:r="http://schemas.openxmlformats.org/officeDocument/2006/relationships" id="277" r:id="R0b837368385f4621"/>
    <p:sldId xmlns:r="http://schemas.openxmlformats.org/officeDocument/2006/relationships" id="278" r:id="R528c6adc916c4af9"/>
    <p:sldId xmlns:r="http://schemas.openxmlformats.org/officeDocument/2006/relationships" id="279" r:id="R982bf55071244cad"/>
    <p:sldId xmlns:r="http://schemas.openxmlformats.org/officeDocument/2006/relationships" id="280" r:id="R594bd2d5095d4e7b"/>
    <p:sldId xmlns:r="http://schemas.openxmlformats.org/officeDocument/2006/relationships" id="281" r:id="Rc5f7c794f4b54e71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e22383845cf94c6a" /><Relationship Type="http://schemas.openxmlformats.org/officeDocument/2006/relationships/slideMaster" Target="/ppt/slideMasters/slideMaster1.xml" Id="Rd1069ab87e414f31" /><Relationship Type="http://schemas.openxmlformats.org/officeDocument/2006/relationships/notesMaster" Target="/ppt/notesMasters/notesMaster1.xml" Id="R67425fb654a8425f" /><Relationship Type="http://schemas.openxmlformats.org/officeDocument/2006/relationships/presProps" Target="/ppt/presProps.xml" Id="R55d795c507684f1b" /><Relationship Type="http://schemas.openxmlformats.org/officeDocument/2006/relationships/tableStyles" Target="/ppt/tableStyles.xml" Id="R666b9ad72681496e" /><Relationship Type="http://schemas.openxmlformats.org/officeDocument/2006/relationships/slide" Target="/ppt/slides/slide1.xml" Id="R6ba399677d0a4d60" /><Relationship Type="http://schemas.openxmlformats.org/officeDocument/2006/relationships/slide" Target="/ppt/slides/slide2.xml" Id="R5a1d2dabd7f04774" /><Relationship Type="http://schemas.openxmlformats.org/officeDocument/2006/relationships/slide" Target="/ppt/slides/slide3.xml" Id="R08c30f361aac49df" /><Relationship Type="http://schemas.openxmlformats.org/officeDocument/2006/relationships/slide" Target="/ppt/slides/slide4.xml" Id="Rad7d104d60454274" /><Relationship Type="http://schemas.openxmlformats.org/officeDocument/2006/relationships/slide" Target="/ppt/slides/slide5.xml" Id="Rb36912ca2ae94a90" /><Relationship Type="http://schemas.openxmlformats.org/officeDocument/2006/relationships/slide" Target="/ppt/slides/slide6.xml" Id="R7f80dc68a10f41ac" /><Relationship Type="http://schemas.openxmlformats.org/officeDocument/2006/relationships/slide" Target="/ppt/slides/slide7.xml" Id="R9a87da2931cd4b04" /><Relationship Type="http://schemas.openxmlformats.org/officeDocument/2006/relationships/slide" Target="/ppt/slides/slide8.xml" Id="R7ecdab32b717404c" /><Relationship Type="http://schemas.openxmlformats.org/officeDocument/2006/relationships/slide" Target="/ppt/slides/slide9.xml" Id="R0c8bded108b04b4c" /><Relationship Type="http://schemas.openxmlformats.org/officeDocument/2006/relationships/slide" Target="/ppt/slides/slide10.xml" Id="Rd0470f9d280f47f7" /><Relationship Type="http://schemas.openxmlformats.org/officeDocument/2006/relationships/slide" Target="/ppt/slides/slide11.xml" Id="R50dbbbecf21e478e" /><Relationship Type="http://schemas.openxmlformats.org/officeDocument/2006/relationships/slide" Target="/ppt/slides/slide12.xml" Id="R3afe42a024694d3b" /><Relationship Type="http://schemas.openxmlformats.org/officeDocument/2006/relationships/slide" Target="/ppt/slides/slide13.xml" Id="Rd4261e380d8d494a" /><Relationship Type="http://schemas.openxmlformats.org/officeDocument/2006/relationships/slide" Target="/ppt/slides/slide14.xml" Id="Rd48c1ec0f771414f" /><Relationship Type="http://schemas.openxmlformats.org/officeDocument/2006/relationships/slide" Target="/ppt/slides/slide15.xml" Id="Rdfba1f71d7814122" /><Relationship Type="http://schemas.openxmlformats.org/officeDocument/2006/relationships/slide" Target="/ppt/slides/slide16.xml" Id="Re57138573f62455d" /><Relationship Type="http://schemas.openxmlformats.org/officeDocument/2006/relationships/slide" Target="/ppt/slides/slide17.xml" Id="R8be548df51d2460b" /><Relationship Type="http://schemas.openxmlformats.org/officeDocument/2006/relationships/slide" Target="/ppt/slides/slide18.xml" Id="R0e510366e8a14c71" /><Relationship Type="http://schemas.openxmlformats.org/officeDocument/2006/relationships/slide" Target="/ppt/slides/slide19.xml" Id="R5bba4b4870d240c4" /><Relationship Type="http://schemas.openxmlformats.org/officeDocument/2006/relationships/slide" Target="/ppt/slides/slide20.xml" Id="R8adf89a6db57485b" /><Relationship Type="http://schemas.openxmlformats.org/officeDocument/2006/relationships/slide" Target="/ppt/slides/slide21.xml" Id="R513290c3378640fc" /><Relationship Type="http://schemas.openxmlformats.org/officeDocument/2006/relationships/slide" Target="/ppt/slides/slide22.xml" Id="R0b837368385f4621" /><Relationship Type="http://schemas.openxmlformats.org/officeDocument/2006/relationships/slide" Target="/ppt/slides/slide23.xml" Id="R528c6adc916c4af9" /><Relationship Type="http://schemas.openxmlformats.org/officeDocument/2006/relationships/slide" Target="/ppt/slides/slide24.xml" Id="R982bf55071244cad" /><Relationship Type="http://schemas.openxmlformats.org/officeDocument/2006/relationships/slide" Target="/ppt/slides/slide25.xml" Id="R594bd2d5095d4e7b" /><Relationship Type="http://schemas.openxmlformats.org/officeDocument/2006/relationships/slide" Target="/ppt/slides/slide26.xml" Id="Rc5f7c794f4b54e71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6601a5aef04841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4d957c8796b4713" /><Relationship Type="http://schemas.openxmlformats.org/officeDocument/2006/relationships/notesMaster" Target="/ppt/notesMasters/notesMaster1.xml" Id="R8176d976965f4b1a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2c7b96f1c0cf4b3e" /><Relationship Type="http://schemas.openxmlformats.org/officeDocument/2006/relationships/notesMaster" Target="/ppt/notesMasters/notesMaster1.xml" Id="R5f4cc91fd33e4f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74612d455a140e1" /><Relationship Type="http://schemas.openxmlformats.org/officeDocument/2006/relationships/notesMaster" Target="/ppt/notesMasters/notesMaster1.xml" Id="R04a1c9bda60c4dc9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9dcd68c957154ddf" /><Relationship Type="http://schemas.openxmlformats.org/officeDocument/2006/relationships/notesMaster" Target="/ppt/notesMasters/notesMaster1.xml" Id="R60f41e61750c439f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a007a82959b84367" /><Relationship Type="http://schemas.openxmlformats.org/officeDocument/2006/relationships/notesMaster" Target="/ppt/notesMasters/notesMaster1.xml" Id="R13b0258f88d942b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b3f94dd5ae5d4cc7" /><Relationship Type="http://schemas.openxmlformats.org/officeDocument/2006/relationships/notesMaster" Target="/ppt/notesMasters/notesMaster1.xml" Id="Re7c76c3ed19b49ad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c01416eaacd94815" /><Relationship Type="http://schemas.openxmlformats.org/officeDocument/2006/relationships/notesMaster" Target="/ppt/notesMasters/notesMaster1.xml" Id="R99f9f17187e24c29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b5759a16013a442c" /><Relationship Type="http://schemas.openxmlformats.org/officeDocument/2006/relationships/notesMaster" Target="/ppt/notesMasters/notesMaster1.xml" Id="Rebbb6ab27096429d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a30380c09bfd4761" /><Relationship Type="http://schemas.openxmlformats.org/officeDocument/2006/relationships/notesMaster" Target="/ppt/notesMasters/notesMaster1.xml" Id="Ra8f9594f5081467b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fa91dd6ce83f40e6" /><Relationship Type="http://schemas.openxmlformats.org/officeDocument/2006/relationships/notesMaster" Target="/ppt/notesMasters/notesMaster1.xml" Id="R0d698bd8ae28410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26d5ea8be0e74fc8" /><Relationship Type="http://schemas.openxmlformats.org/officeDocument/2006/relationships/notesMaster" Target="/ppt/notesMasters/notesMaster1.xml" Id="R519714b121dd41a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33ccd2283c64964" /><Relationship Type="http://schemas.openxmlformats.org/officeDocument/2006/relationships/notesMaster" Target="/ppt/notesMasters/notesMaster1.xml" Id="R56cb2430957c4919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0d2b3aed7e74455f" /><Relationship Type="http://schemas.openxmlformats.org/officeDocument/2006/relationships/notesMaster" Target="/ppt/notesMasters/notesMaster1.xml" Id="Rac574856f3484400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e11df6ec895646a6" /><Relationship Type="http://schemas.openxmlformats.org/officeDocument/2006/relationships/notesMaster" Target="/ppt/notesMasters/notesMaster1.xml" Id="Rff55b27143814dae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34f6ff760bd2446c" /><Relationship Type="http://schemas.openxmlformats.org/officeDocument/2006/relationships/notesMaster" Target="/ppt/notesMasters/notesMaster1.xml" Id="R8201cc3e2d3245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108cf953e3034d5c" /><Relationship Type="http://schemas.openxmlformats.org/officeDocument/2006/relationships/notesMaster" Target="/ppt/notesMasters/notesMaster1.xml" Id="Rfe620646344f407b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6514a0f2534f47b7" /><Relationship Type="http://schemas.openxmlformats.org/officeDocument/2006/relationships/notesMaster" Target="/ppt/notesMasters/notesMaster1.xml" Id="R7dc05a22da1140d9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c09ad2f6df804fd3" /><Relationship Type="http://schemas.openxmlformats.org/officeDocument/2006/relationships/notesMaster" Target="/ppt/notesMasters/notesMaster1.xml" Id="R937669ca9b584c8d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6dbc00821b3c423f" /><Relationship Type="http://schemas.openxmlformats.org/officeDocument/2006/relationships/notesMaster" Target="/ppt/notesMasters/notesMaster1.xml" Id="R8dd736bb04bf4a82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705d3b4cea8f444b" /><Relationship Type="http://schemas.openxmlformats.org/officeDocument/2006/relationships/notesMaster" Target="/ppt/notesMasters/notesMaster1.xml" Id="R72acf1f71f2846bb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fe4dad3a502849d8" /><Relationship Type="http://schemas.openxmlformats.org/officeDocument/2006/relationships/notesMaster" Target="/ppt/notesMasters/notesMaster1.xml" Id="R28a39ebcecf648b7" /></Relationships>
</file>

<file path=ppt/notesSlides/_rels/notesSlide22.xml.rels>&#65279;<?xml version="1.0" encoding="utf-8"?><Relationships xmlns="http://schemas.openxmlformats.org/package/2006/relationships"><Relationship Type="http://schemas.openxmlformats.org/officeDocument/2006/relationships/slide" Target="/ppt/slides/slide22.xml" Id="Rf8e7119f7e1f40c0" /><Relationship Type="http://schemas.openxmlformats.org/officeDocument/2006/relationships/notesMaster" Target="/ppt/notesMasters/notesMaster1.xml" Id="R2e7523dad49c4479" /></Relationships>
</file>

<file path=ppt/notesSlides/_rels/notesSlide23.xml.rels>&#65279;<?xml version="1.0" encoding="utf-8"?><Relationships xmlns="http://schemas.openxmlformats.org/package/2006/relationships"><Relationship Type="http://schemas.openxmlformats.org/officeDocument/2006/relationships/slide" Target="/ppt/slides/slide23.xml" Id="R910778dc75b64f58" /><Relationship Type="http://schemas.openxmlformats.org/officeDocument/2006/relationships/notesMaster" Target="/ppt/notesMasters/notesMaster1.xml" Id="R58735a646fcf406a" /></Relationships>
</file>

<file path=ppt/notesSlides/_rels/notesSlide24.xml.rels>&#65279;<?xml version="1.0" encoding="utf-8"?><Relationships xmlns="http://schemas.openxmlformats.org/package/2006/relationships"><Relationship Type="http://schemas.openxmlformats.org/officeDocument/2006/relationships/slide" Target="/ppt/slides/slide24.xml" Id="R5ab5e31414c14053" /><Relationship Type="http://schemas.openxmlformats.org/officeDocument/2006/relationships/notesMaster" Target="/ppt/notesMasters/notesMaster1.xml" Id="R207c70934b2e44a1" /></Relationships>
</file>

<file path=ppt/notesSlides/_rels/notesSlide25.xml.rels>&#65279;<?xml version="1.0" encoding="utf-8"?><Relationships xmlns="http://schemas.openxmlformats.org/package/2006/relationships"><Relationship Type="http://schemas.openxmlformats.org/officeDocument/2006/relationships/slide" Target="/ppt/slides/slide25.xml" Id="Rd80f983069a94650" /><Relationship Type="http://schemas.openxmlformats.org/officeDocument/2006/relationships/notesMaster" Target="/ppt/notesMasters/notesMaster1.xml" Id="R72cf7e1d39a749b5" /></Relationships>
</file>

<file path=ppt/notesSlides/_rels/notesSlide26.xml.rels>&#65279;<?xml version="1.0" encoding="utf-8"?><Relationships xmlns="http://schemas.openxmlformats.org/package/2006/relationships"><Relationship Type="http://schemas.openxmlformats.org/officeDocument/2006/relationships/slide" Target="/ppt/slides/slide26.xml" Id="R5a8eb1e118024c86" /><Relationship Type="http://schemas.openxmlformats.org/officeDocument/2006/relationships/notesMaster" Target="/ppt/notesMasters/notesMaster1.xml" Id="R0f577f9c9d524156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10/6、10/13、10/20、10/27 為歷次進度；10/28–29 為後續實作；11/10 為預定報告。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為何從酸洗廠切入？：酸洗廠承接派工與實物流動；入庫 → 入洗 → 洗出 → 出貨，是跨角色共同紀錄的起點。</a:t>
            </a:r>
          </a:p>
          <a:p xmlns:a="http://schemas.openxmlformats.org/drawingml/2006/main">
            <a:r>
              <a:t>客訴時缺少什麼？：原機械計時器與 LED 未回饋每桿、每槽的入槽時間 LOG，難以提交完整且可核對的加工證據。</a:t>
            </a:r>
          </a:p>
          <a:p xmlns:a="http://schemas.openxmlformats.org/drawingml/2006/main">
            <a:r>
              <a:t>研究要留下什麼？：本次桿次、逐顆材料、實際槽位、計時與操作事件，供主管、四台天車及後續追溯共同查詢。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看不清，也可能已被遮住：產線長、槽體距離遠；盤元浸入槽內後，標示帶顏色無法持續辨認。</a:t>
            </a:r>
          </a:p>
          <a:p xmlns:a="http://schemas.openxmlformats.org/drawingml/2006/main">
            <a:r>
              <a:t>計時、交接與急件資訊分散：不確定重置是否完成、哪桿應先吊出；主管插單與四台天車之間存在口頭傳遞的時間差。</a:t>
            </a:r>
          </a:p>
          <a:p xmlns:a="http://schemas.openxmlformats.org/drawingml/2006/main">
            <a:r>
              <a:t>資料錯配會延伸成加工風險：不同材質或條件被配在同桿，需要有可核對的逐顆明細；相容規則與攔截成效列為後續驗證。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AR 技術測試成功不等於整班精度與效益已驗收。15 分鐘原共享授權已調為最長 12 小時；短效配對碼與班次授權不同。3D 主流程不需 Needle Go 配對，MES 權限仍保留。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2026/10/30 依使用者提供的兩張圖片更新。圖一為天車立柱安裝構想，使用抱箍與夾具固定可調支臂；圖二為護理推車支架的參考。兩圖用於解釋固定及調整概念，不代表現場已安裝。平板上工裝回、收工拆下帶回實驗室保管與充電。實際固定、吊掛動線、耐蝕及試行由現場確認。圖片來源：使用者於本對話提供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計時作業：核對桿號與逐顆明細，選擇實際槽位及浸泡時間，確認後開始計時。</a:t>
            </a:r>
          </a:p>
          <a:p xmlns:a="http://schemas.openxmlformats.org/drawingml/2006/main">
            <a:r>
              <a:t>查看 3D：按一個入口開啟槽位圖；字卡顯示桿號、計時與急件數字，點字卡查看逐顆材料。</a:t>
            </a:r>
          </a:p>
          <a:p xmlns:a="http://schemas.openxmlformats.org/drawingml/2006/main">
            <a:r>
              <a:t>返回計時：隱藏 3D 回到作業畫面，原計時繼續；次要查詢與範圍選擇收合，減少主畫面按鈕。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天車展示工作區保存試用位置與計時；自主表讀取不自動修改洗入／洗出業務紀錄。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清除數量為本輪清理當時的狀態，不是目前固定桿數。自主表來源為測試服務端既有資料。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正規化涵蓋半／全形括號、連字號與空白。此三顆用於說明同桿規則，不代表每桿固定三顆。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不能宣稱已證明一次掃描會自動洗出三顆，也不能宣稱已直接重現早退原因。明確補上部分洗出與全部洗出的判斷及測試。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同一桿號，可能是不同批盤元：洗出完成後，11 號桿可能重新裝料；只以「11」作識別，會混用新舊明細與作業狀態。</a:t>
            </a:r>
          </a:p>
          <a:p xmlns:a="http://schemas.openxmlformats.org/drawingml/2006/main">
            <a:r>
              <a:t>桿次需綁定本次來源紀錄：以自主表與批次來源關聯保存本次逐顆明細；新批次建立獨立桿次，不承接舊槽位、計時或急件。</a:t>
            </a:r>
          </a:p>
          <a:p xmlns:a="http://schemas.openxmlformats.org/drawingml/2006/main">
            <a:r>
              <a:t>資料異常要能被看見：重複顆別列為衝突，不能默默合併；補登、改桿、跨表與跨日案例列入後續現場驗收。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約 2 秒輪詢再加網路與處理耗時，不代表零延遲。發布檔案的瀏覽器連續變化驗證使用攔截的模擬 API。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程式測試另涵蓋最新 OPEN、正規化、批次、重複顆別、權限及來源失敗。發布檔實測用模擬回應，未為驗證而修改業務洗出紀錄。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相容配料攔截、維修費與客訴率改善需另定規則、基準與樣本，現階段沒有量化成果。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1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2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3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圖由使用者提供，用於說明第 14 頁的第 4 個比較項目。此圖為情境示意，不代表圖中距離、介面、數據與改善效果已完成現場驗證；量測結果與正式生產驗收仍待確認。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未來時程是建議驗證安排，並非承諾已完成的里程碑。現場支架與班次測試須依場域安排。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第一步：自主表入洗 → 待入槽：確認最新 OPEN 表與資料日期；查看同桿逐顆材料，台車選槽並計時，3D 顯示對應字卡。</a:t>
            </a:r>
          </a:p>
          <a:p xmlns:a="http://schemas.openxmlformats.org/drawingml/2006/main">
            <a:r>
              <a:t>第二步：主管急件 → 四台共同查看：主管標示急件 1，確認台車、主管及 3D 看到相同桿次與順位；記錄各畫面更新時間。</a:t>
            </a:r>
          </a:p>
          <a:p xmlns:a="http://schemas.openxmlformats.org/drawingml/2006/main">
            <a:r>
              <a:t>第三步：逐顆洗出 → 整桿完成：依序驗證 1／3、2／3 保留；全數完成才移除卡片、關閉明細，歷史仍可查，再驗證同桿換批。</a:t>
            </a:r>
          </a:p>
          <a:p xmlns:a="http://schemas.openxmlformats.org/drawingml/2006/main">
            <a:r>
              <a:t>資料來源：本專案 README.md 與 報告進度/2026-11-10_進度.md（截至 2026/10/29）。屬測試服務端驗證，非正式生產成效。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附錄：保留原版入庫／洗入／洗出流程畫面，為前期流程示意；最新自主表串接與驗收狀態以主報告為準。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b131de925dc4a4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750df7568c3491c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d86ddd8e52704fee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71852f43fd96494d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c735be62d3f4321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f367307089e4e4e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2F0B849F-9CB3-4336-AE26-38BA5E1955C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590800"/>
            <a:ext cx="97536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8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Subtitle">
            <a:extLst xmlns:a="http://schemas.openxmlformats.org/drawingml/2006/main">
              <a:ext uri="{FF2B5EF4-FFF2-40B4-BE49-F238E27FC236}">
                <a16:creationId xmlns:a16="http://schemas.microsoft.com/office/drawing/2014/main" id="{B5FCFEC6-0BCF-452E-A953-6F0141637F65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828800" y="3771900"/>
            <a:ext cx="853440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2.xml><?xml version="1.0" encoding="utf-8"?>
<p:sldLayout xmlns:p="http://schemas.openxmlformats.org/presentationml/2006/main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ection title">
            <a:extLst xmlns:a="http://schemas.openxmlformats.org/drawingml/2006/main">
              <a:ext uri="{FF2B5EF4-FFF2-40B4-BE49-F238E27FC236}">
                <a16:creationId xmlns:a16="http://schemas.microsoft.com/office/drawing/2014/main" id="{6A32ECA5-C79B-43E2-BB36-8944FF1FD7EF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219200" y="2857500"/>
            <a:ext cx="975360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/>
          </a:bodyPr>
          <a:lstStyle xmlns:a="http://schemas.openxmlformats.org/drawingml/2006/main">
            <a:defPPr algn="ctr"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42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3.xml><?xml version="1.0" encoding="utf-8"?>
<p:sldLayout xmlns:p="http://schemas.openxmlformats.org/presentationml/2006/main">
  <p:cSld name="Title and Bod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888C2FFF-E372-4D33-ACBE-B6B77052CA1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Body">
            <a:extLst xmlns:a="http://schemas.openxmlformats.org/drawingml/2006/main">
              <a:ext uri="{FF2B5EF4-FFF2-40B4-BE49-F238E27FC236}">
                <a16:creationId xmlns:a16="http://schemas.microsoft.com/office/drawing/2014/main" id="{8CBEEB8F-379F-44A6-AF7E-CC229E30B2F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108204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4.xml><?xml version="1.0" encoding="utf-8"?>
<p:sldLayout xmlns:p="http://schemas.openxmlformats.org/presentationml/2006/main">
  <p:cSld name="Title and Two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itle">
            <a:extLst xmlns:a="http://schemas.openxmlformats.org/drawingml/2006/main">
              <a:ext uri="{FF2B5EF4-FFF2-40B4-BE49-F238E27FC236}">
                <a16:creationId xmlns:a16="http://schemas.microsoft.com/office/drawing/2014/main" id="{689AA87C-F18E-4066-9FE8-0160FA40A48B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16ED62E6-140D-44A0-B828-5C6CF24A3E7F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  <p:sp>
        <p:nvSpPr>
          <p:cNvPr id="3" name="Right column">
            <a:extLst xmlns:a="http://schemas.openxmlformats.org/drawingml/2006/main">
              <a:ext uri="{FF2B5EF4-FFF2-40B4-BE49-F238E27FC236}">
                <a16:creationId xmlns:a16="http://schemas.microsoft.com/office/drawing/2014/main" id="{7A1D815E-2ECE-40C6-963D-C38854AD5867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64770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10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5.xml><?xml version="1.0" encoding="utf-8"?>
<p:sldLayout xmlns:p="http://schemas.openxmlformats.org/presentationml/2006/main">
  <p:cSld name="Title and One Colum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Title">
            <a:extLst xmlns:a="http://schemas.openxmlformats.org/drawingml/2006/main">
              <a:ext uri="{FF2B5EF4-FFF2-40B4-BE49-F238E27FC236}">
                <a16:creationId xmlns:a16="http://schemas.microsoft.com/office/drawing/2014/main" id="{162300E7-835D-4EDF-BC69-4DC45BAC6694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85800" y="533400"/>
            <a:ext cx="108204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defPPr>
            <a:lvl1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1pPr>
            <a:lvl2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2pPr>
            <a:lvl3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3pPr>
            <a:lvl4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4pPr>
            <a:lvl5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5pPr>
            <a:lvl6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6pPr>
            <a:lvl7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7pPr>
            <a:lvl8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8pPr>
            <a:lvl9pPr marL="0" indent="0"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  <a:buNone/>
              <a:defRPr sz="3300" b="1">
                <a:solidFill>
                  <a:schemeClr val="tx1"/>
                </a:solidFill>
                <a:latin typeface="+mj-lt"/>
                <a:ea typeface="+mj-lt"/>
                <a:cs typeface="+mj-lt"/>
              </a:defRPr>
            </a:lvl9pPr>
          </a:lstStyle>
          <a:p xmlns:a="http://schemas.openxmlformats.org/drawingml/2006/main"/>
        </p:txBody>
      </p:sp>
      <p:sp>
        <p:nvSpPr>
          <p:cNvPr id="2" name="Left column">
            <a:extLst xmlns:a="http://schemas.openxmlformats.org/drawingml/2006/main">
              <a:ext uri="{FF2B5EF4-FFF2-40B4-BE49-F238E27FC236}">
                <a16:creationId xmlns:a16="http://schemas.microsoft.com/office/drawing/2014/main" id="{CADD4CE4-1363-4B96-9092-E799C35829A6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685800" y="1905000"/>
            <a:ext cx="5029200" cy="426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>
            <a:noFill/>
            <a:prstDash val="solid"/>
          </a:ln>
        </p:spPr>
        <p:txBody>
          <a:bodyPr xmlns:a="http://schemas.openxmlformats.org/drawingml/2006/main" wrap="square" lIns="0" tIns="0" rIns="0" bIns="0" anchor="t">
            <a:normAutofit/>
          </a:bodyPr>
          <a:lstStyle xmlns:a="http://schemas.openxmlformats.org/drawingml/2006/main">
            <a:defPPr algn="l"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defPPr>
            <a:lvl1pPr marL="228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1pPr>
            <a:lvl2pPr marL="533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2pPr>
            <a:lvl3pPr marL="838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3pPr>
            <a:lvl4pPr marL="1143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4pPr>
            <a:lvl5pPr marL="14478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5pPr>
            <a:lvl6pPr marL="17526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6pPr>
            <a:lvl7pPr marL="20574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7pPr>
            <a:lvl8pPr marL="23622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8pPr>
            <a:lvl9pPr marL="2667000" indent="-228600" algn="l">
              <a:lnSpc>
                <a:spcPct val="110000"/>
              </a:lnSpc>
              <a:spcBef>
                <a:spcPts val="0"/>
              </a:spcBef>
              <a:spcAft>
                <a:spcPts val="1200"/>
              </a:spcAft>
              <a:buChar char="•"/>
              <a:defRPr sz="2250" b="0">
                <a:solidFill>
                  <a:schemeClr val="tx1"/>
                </a:solidFill>
                <a:latin typeface="+mn-lt"/>
                <a:ea typeface="+mn-lt"/>
                <a:cs typeface="+mn-lt"/>
              </a:defRPr>
            </a:lvl9pPr>
          </a:lstStyle>
          <a:p xmlns:a="http://schemas.openxmlformats.org/drawingml/2006/main"/>
        </p:txBody>
      </p:sp>
    </p:spTree>
  </p:cSld>
</p:sldLayout>
</file>

<file path=ppt/slideLayouts/slideLayout6.xml><?xml version="1.0" encoding="utf-8"?>
<p:sldLayout xmlns:p="http://schemas.openxmlformats.org/presentationml/2006/main" type="blank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f30c2f780e14439" /><Relationship Type="http://schemas.openxmlformats.org/officeDocument/2006/relationships/slideLayout" Target="/ppt/slideLayouts/slideLayout1.xml" Id="R90e29dbf4d09428a" /><Relationship Type="http://schemas.openxmlformats.org/officeDocument/2006/relationships/slideLayout" Target="/ppt/slideLayouts/slideLayout2.xml" Id="Rb430d94b5175432d" /><Relationship Type="http://schemas.openxmlformats.org/officeDocument/2006/relationships/slideLayout" Target="/ppt/slideLayouts/slideLayout3.xml" Id="R93860fd1efd543bf" /><Relationship Type="http://schemas.openxmlformats.org/officeDocument/2006/relationships/slideLayout" Target="/ppt/slideLayouts/slideLayout4.xml" Id="Re3a07e042ee94b22" /><Relationship Type="http://schemas.openxmlformats.org/officeDocument/2006/relationships/slideLayout" Target="/ppt/slideLayouts/slideLayout5.xml" Id="R8c149488d59243c4" /><Relationship Type="http://schemas.openxmlformats.org/officeDocument/2006/relationships/slideLayout" Target="/ppt/slideLayouts/slideLayout6.xml" Id="R7ec0f82d4114414a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0e29dbf4d09428a"/>
    <p:sldLayoutId xmlns:r="http://schemas.openxmlformats.org/officeDocument/2006/relationships" id="2147483650" r:id="Rb430d94b5175432d"/>
    <p:sldLayoutId xmlns:r="http://schemas.openxmlformats.org/officeDocument/2006/relationships" id="2147483651" r:id="R93860fd1efd543bf"/>
    <p:sldLayoutId xmlns:r="http://schemas.openxmlformats.org/officeDocument/2006/relationships" id="2147483652" r:id="Re3a07e042ee94b22"/>
    <p:sldLayoutId xmlns:r="http://schemas.openxmlformats.org/officeDocument/2006/relationships" id="2147483653" r:id="R8c149488d59243c4"/>
    <p:sldLayoutId xmlns:r="http://schemas.openxmlformats.org/officeDocument/2006/relationships" id="2147483654" r:id="R7ec0f82d4114414a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60e08fbb69a44a1" /><Relationship Type="http://schemas.openxmlformats.org/officeDocument/2006/relationships/notesSlide" Target="/ppt/notesSlides/notesSlide1.xml" Id="R8cf351af264b48d3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41648ac0bf54203" /><Relationship Type="http://schemas.openxmlformats.org/officeDocument/2006/relationships/notesSlide" Target="/ppt/notesSlides/notesSlide2.xml" Id="R149fe49b4d7f4860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c8c3cc2738b48f1" /><Relationship Type="http://schemas.openxmlformats.org/officeDocument/2006/relationships/notesSlide" Target="/ppt/notesSlides/notesSlide3.xml" Id="R018d6a8e43344f3e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68a89b5e1614e24" /><Relationship Type="http://schemas.openxmlformats.org/officeDocument/2006/relationships/notesSlide" Target="/ppt/notesSlides/notesSlide4.xml" Id="R4617149c30554521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f019c14cd984441" /><Relationship Type="http://schemas.openxmlformats.org/officeDocument/2006/relationships/image" Target="/ppt/media/image.png" Id="R1675876396694594" /><Relationship Type="http://schemas.openxmlformats.org/officeDocument/2006/relationships/image" Target="/ppt/media/image2.png" Id="R1d53e993e8954e5d" /><Relationship Type="http://schemas.openxmlformats.org/officeDocument/2006/relationships/notesSlide" Target="/ppt/notesSlides/notesSlide5.xml" Id="R089d1c025f4846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47561d3d93e94023" /><Relationship Type="http://schemas.openxmlformats.org/officeDocument/2006/relationships/notesSlide" Target="/ppt/notesSlides/notesSlide6.xml" Id="R50ec96763a04412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a1203e311c8443f" /><Relationship Type="http://schemas.openxmlformats.org/officeDocument/2006/relationships/notesSlide" Target="/ppt/notesSlides/notesSlide7.xml" Id="R72bf27a054f54c8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330895e68f841f9" /><Relationship Type="http://schemas.openxmlformats.org/officeDocument/2006/relationships/notesSlide" Target="/ppt/notesSlides/notesSlide8.xml" Id="R4aa99639985d4230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689e5f32be82468e" /><Relationship Type="http://schemas.openxmlformats.org/officeDocument/2006/relationships/notesSlide" Target="/ppt/notesSlides/notesSlide9.xml" Id="R8ab792646d1c4933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29071abbb9a0466d" /><Relationship Type="http://schemas.openxmlformats.org/officeDocument/2006/relationships/notesSlide" Target="/ppt/notesSlides/notesSlide10.xml" Id="Rb07ec373eadc4f2e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96cf3ca0379d4b62" /><Relationship Type="http://schemas.openxmlformats.org/officeDocument/2006/relationships/notesSlide" Target="/ppt/notesSlides/notesSlide11.xml" Id="R211cbd481d4e49f6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7b01cff5b144a70" /><Relationship Type="http://schemas.openxmlformats.org/officeDocument/2006/relationships/notesSlide" Target="/ppt/notesSlides/notesSlide12.xml" Id="R43f931563607416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db7f5eab9e94418" /><Relationship Type="http://schemas.openxmlformats.org/officeDocument/2006/relationships/notesSlide" Target="/ppt/notesSlides/notesSlide13.xml" Id="R07236b9d8f544d21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da31eeedfa2464a" /><Relationship Type="http://schemas.openxmlformats.org/officeDocument/2006/relationships/notesSlide" Target="/ppt/notesSlides/notesSlide14.xml" Id="Re91be6b028aa4091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abc86c99dc4e4973" /><Relationship Type="http://schemas.openxmlformats.org/officeDocument/2006/relationships/image" Target="/ppt/media/image3.png" Id="R824460edb6394970" /><Relationship Type="http://schemas.openxmlformats.org/officeDocument/2006/relationships/notesSlide" Target="/ppt/notesSlides/notesSlide15.xml" Id="R804cdc32705049f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fec96e2601964437" /><Relationship Type="http://schemas.openxmlformats.org/officeDocument/2006/relationships/image" Target="/ppt/media/image4.png" Id="R5818438a5c94495c" /><Relationship Type="http://schemas.openxmlformats.org/officeDocument/2006/relationships/notesSlide" Target="/ppt/notesSlides/notesSlide16.xml" Id="Rfc80a178e30e4e5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bbc4a304010e46e6" /><Relationship Type="http://schemas.openxmlformats.org/officeDocument/2006/relationships/image" Target="/ppt/media/image5.png" Id="R8f13dd19e7774053" /><Relationship Type="http://schemas.openxmlformats.org/officeDocument/2006/relationships/notesSlide" Target="/ppt/notesSlides/notesSlide17.xml" Id="R4ff42d23839044ee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ee772516d0b14e4a" /><Relationship Type="http://schemas.openxmlformats.org/officeDocument/2006/relationships/image" Target="/ppt/media/image6.png" Id="Re3170810c6204291" /><Relationship Type="http://schemas.openxmlformats.org/officeDocument/2006/relationships/notesSlide" Target="/ppt/notesSlides/notesSlide18.xml" Id="R6a49da7c75774b20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b57ea3339364f84" /><Relationship Type="http://schemas.openxmlformats.org/officeDocument/2006/relationships/notesSlide" Target="/ppt/notesSlides/notesSlide19.xml" Id="Rf4aa442c165b4881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8981f9afa4e14bc3" /><Relationship Type="http://schemas.openxmlformats.org/officeDocument/2006/relationships/notesSlide" Target="/ppt/notesSlides/notesSlide20.xml" Id="Ra2b85a3b7eb44f58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192a124829e94463" /><Relationship Type="http://schemas.openxmlformats.org/officeDocument/2006/relationships/image" Target="/ppt/media/image.jpeg" Id="Rd501e29504b94999" /><Relationship Type="http://schemas.openxmlformats.org/officeDocument/2006/relationships/image" Target="/ppt/media/image2.jpeg" Id="Rd45c025a593a479a" /><Relationship Type="http://schemas.openxmlformats.org/officeDocument/2006/relationships/image" Target="/ppt/media/image3.jpeg" Id="R87bb4c29e3374bb7" /><Relationship Type="http://schemas.openxmlformats.org/officeDocument/2006/relationships/notesSlide" Target="/ppt/notesSlides/notesSlide21.xml" Id="Ra25a16cbe8014245" /></Relationships>
</file>

<file path=ppt/slides/_rels/slide22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07b7dfd5eda4d6a" /><Relationship Type="http://schemas.openxmlformats.org/officeDocument/2006/relationships/image" Target="/ppt/media/image7.png" Id="R2fc551de3a754e4f" /><Relationship Type="http://schemas.openxmlformats.org/officeDocument/2006/relationships/notesSlide" Target="/ppt/notesSlides/notesSlide22.xml" Id="R06718505c7664c18" /></Relationships>
</file>

<file path=ppt/slides/_rels/slide23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963a669d5ca4da9" /><Relationship Type="http://schemas.openxmlformats.org/officeDocument/2006/relationships/image" Target="/ppt/media/image8.png" Id="R5cfecc33e54045e9" /><Relationship Type="http://schemas.openxmlformats.org/officeDocument/2006/relationships/image" Target="/ppt/media/image4.jpeg" Id="Re922c956a10d49fe" /><Relationship Type="http://schemas.openxmlformats.org/officeDocument/2006/relationships/image" Target="/ppt/media/image5.jpeg" Id="R69f56cd2e67b4cb0" /><Relationship Type="http://schemas.openxmlformats.org/officeDocument/2006/relationships/notesSlide" Target="/ppt/notesSlides/notesSlide23.xml" Id="R8e461da02bde4eb5" /></Relationships>
</file>

<file path=ppt/slides/_rels/slide24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cdb21ce595524421" /><Relationship Type="http://schemas.openxmlformats.org/officeDocument/2006/relationships/image" Target="/ppt/media/image9.png" Id="Rfe9159fdb6ad4d31" /><Relationship Type="http://schemas.openxmlformats.org/officeDocument/2006/relationships/notesSlide" Target="/ppt/notesSlides/notesSlide24.xml" Id="R5d7da96d341b4367" /></Relationships>
</file>

<file path=ppt/slides/_rels/slide25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d2f322210dfa48aa" /><Relationship Type="http://schemas.openxmlformats.org/officeDocument/2006/relationships/image" Target="/ppt/media/image10.png" Id="R329929735f234e13" /><Relationship Type="http://schemas.openxmlformats.org/officeDocument/2006/relationships/notesSlide" Target="/ppt/notesSlides/notesSlide25.xml" Id="R12f8455946b04afe" /></Relationships>
</file>

<file path=ppt/slides/_rels/slide26.xml.rels>&#65279;<?xml version="1.0" encoding="utf-8"?><Relationships xmlns="http://schemas.openxmlformats.org/package/2006/relationships"><Relationship Type="http://schemas.openxmlformats.org/officeDocument/2006/relationships/slideLayout" Target="/ppt/slideLayouts/slideLayout6.xml" Id="R35881dd814554150" /><Relationship Type="http://schemas.openxmlformats.org/officeDocument/2006/relationships/image" Target="/ppt/media/image11.png" Id="R2299b545eb314d2d" /><Relationship Type="http://schemas.openxmlformats.org/officeDocument/2006/relationships/notesSlide" Target="/ppt/notesSlides/notesSlide26.xml" Id="Rb72c00bff847476f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研究進度時間軸｜11/10 報告">
            <a:extLst xmlns:a="http://schemas.openxmlformats.org/drawingml/2006/main">
              <a:ext uri="{FF2B5EF4-FFF2-40B4-BE49-F238E27FC236}">
                <a16:creationId xmlns:a16="http://schemas.microsoft.com/office/drawing/2014/main" id="{F3FF9E71-E0B5-4EA9-A2DF-C8EA856FA1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研究進度時間軸｜11/10 報告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263724-6B27-445E-B4A1-36B9719BF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1">
            <a:extLst xmlns:a="http://schemas.openxmlformats.org/drawingml/2006/main">
              <a:ext uri="{FF2B5EF4-FFF2-40B4-BE49-F238E27FC236}">
                <a16:creationId xmlns:a16="http://schemas.microsoft.com/office/drawing/2014/main" id="{62F9E753-71D1-4F0C-80DE-05ACD13C5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549B53C-3FDD-4608-BC5D-C4AA43C75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78130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 w="0">
            <a:noFill/>
          </a:ln>
        </p:spPr>
      </p:sp>
      <p:sp>
        <p:nvSpPr>
          <p:cNvPr id="5" name="10/6">
            <a:extLst xmlns:a="http://schemas.openxmlformats.org/drawingml/2006/main">
              <a:ext uri="{FF2B5EF4-FFF2-40B4-BE49-F238E27FC236}">
                <a16:creationId xmlns:a16="http://schemas.microsoft.com/office/drawing/2014/main" id="{ECBD6091-1590-44D2-B163-2CD0DB8ED2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10/6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988E2A-5B98-4D58-8F7A-7A9216CC8F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525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7" name="公司需求&#10;研究場域">
            <a:extLst xmlns:a="http://schemas.openxmlformats.org/drawingml/2006/main">
              <a:ext uri="{FF2B5EF4-FFF2-40B4-BE49-F238E27FC236}">
                <a16:creationId xmlns:a16="http://schemas.microsoft.com/office/drawing/2014/main" id="{D14A93C9-EDDD-4405-8356-8450D19B4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公司需求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研究場域</a:t>
            </a:r>
          </a:p>
        </p:txBody>
      </p:sp>
      <p:sp>
        <p:nvSpPr>
          <p:cNvPr id="8" name="10/13">
            <a:extLst xmlns:a="http://schemas.openxmlformats.org/drawingml/2006/main">
              <a:ext uri="{FF2B5EF4-FFF2-40B4-BE49-F238E27FC236}">
                <a16:creationId xmlns:a16="http://schemas.microsoft.com/office/drawing/2014/main" id="{7650AE8A-AA54-4F70-A7F9-A664FDAA96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10/13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6831B6-EB09-4832-9854-7F212F006A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004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0" name="入庫虛擬環境&#10;AR 探索">
            <a:extLst xmlns:a="http://schemas.openxmlformats.org/drawingml/2006/main">
              <a:ext uri="{FF2B5EF4-FFF2-40B4-BE49-F238E27FC236}">
                <a16:creationId xmlns:a16="http://schemas.microsoft.com/office/drawing/2014/main" id="{E169D52A-B512-4A64-9199-8F980D94D7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入庫虛擬環境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AR 探索</a:t>
            </a:r>
          </a:p>
        </p:txBody>
      </p:sp>
      <p:sp>
        <p:nvSpPr>
          <p:cNvPr id="11" name="10/20">
            <a:extLst xmlns:a="http://schemas.openxmlformats.org/drawingml/2006/main">
              <a:ext uri="{FF2B5EF4-FFF2-40B4-BE49-F238E27FC236}">
                <a16:creationId xmlns:a16="http://schemas.microsoft.com/office/drawing/2014/main" id="{118FCE07-4A57-47E7-AAD6-9DD79C4D7A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10/20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F127DBA-6C34-4FEE-8B61-252FA4C667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0482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3" name="條碼／QR&#10;派工流程">
            <a:extLst xmlns:a="http://schemas.openxmlformats.org/drawingml/2006/main">
              <a:ext uri="{FF2B5EF4-FFF2-40B4-BE49-F238E27FC236}">
                <a16:creationId xmlns:a16="http://schemas.microsoft.com/office/drawing/2014/main" id="{FBB2BD7C-29BC-44A1-8BA7-CB734A72A7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053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條碼／QR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派工流程</a:t>
            </a:r>
          </a:p>
        </p:txBody>
      </p:sp>
      <p:sp>
        <p:nvSpPr>
          <p:cNvPr id="14" name="10/27">
            <a:extLst xmlns:a="http://schemas.openxmlformats.org/drawingml/2006/main">
              <a:ext uri="{FF2B5EF4-FFF2-40B4-BE49-F238E27FC236}">
                <a16:creationId xmlns:a16="http://schemas.microsoft.com/office/drawing/2014/main" id="{0498A9BE-0C8A-4F21-8B7B-0404D9FA79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10/27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7D08AAAF-D303-4C4D-9BAA-B140D3BA2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961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BAC2CA"/>
          </a:solidFill>
          <a:ln xmlns:a="http://schemas.openxmlformats.org/drawingml/2006/main">
            <a:noFill/>
          </a:ln>
        </p:spPr>
      </p:sp>
      <p:sp>
        <p:nvSpPr>
          <p:cNvPr id="16" name="客訴缺少 LOG&#10;天車 AR＋MES">
            <a:extLst xmlns:a="http://schemas.openxmlformats.org/drawingml/2006/main">
              <a:ext uri="{FF2B5EF4-FFF2-40B4-BE49-F238E27FC236}">
                <a16:creationId xmlns:a16="http://schemas.microsoft.com/office/drawing/2014/main" id="{20E607FE-DEDF-4360-AC3B-2C36C523A7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客訴缺少 LOG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天車 AR＋MES</a:t>
            </a:r>
          </a:p>
        </p:txBody>
      </p:sp>
      <p:sp>
        <p:nvSpPr>
          <p:cNvPr id="17" name="10/28–29">
            <a:extLst xmlns:a="http://schemas.openxmlformats.org/drawingml/2006/main">
              <a:ext uri="{FF2B5EF4-FFF2-40B4-BE49-F238E27FC236}">
                <a16:creationId xmlns:a16="http://schemas.microsoft.com/office/drawing/2014/main" id="{7F1F53C1-72EA-4E12-9F24-A3C1EFDC8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10/28–29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41B82EB-A2B0-462D-9C9E-2E6CBBB55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19" name="收斂即時 3D&#10;自主表串接">
            <a:extLst xmlns:a="http://schemas.openxmlformats.org/drawingml/2006/main">
              <a:ext uri="{FF2B5EF4-FFF2-40B4-BE49-F238E27FC236}">
                <a16:creationId xmlns:a16="http://schemas.microsoft.com/office/drawing/2014/main" id="{18A7999E-C353-41BF-864C-4A3A24334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收斂即時 3D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自主表串接</a:t>
            </a:r>
          </a:p>
        </p:txBody>
      </p:sp>
      <p:sp>
        <p:nvSpPr>
          <p:cNvPr id="20" name="11/10">
            <a:extLst xmlns:a="http://schemas.openxmlformats.org/drawingml/2006/main">
              <a:ext uri="{FF2B5EF4-FFF2-40B4-BE49-F238E27FC236}">
                <a16:creationId xmlns:a16="http://schemas.microsoft.com/office/drawing/2014/main" id="{F2DF6DF2-9937-43D2-947B-5475519AB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1524000"/>
            <a:ext cx="171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11/10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260472ED-D357-4CC1-8B1D-2C257C4866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91800" y="2676525"/>
            <a:ext cx="228600" cy="2286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97AB"/>
          </a:solidFill>
          <a:ln xmlns:a="http://schemas.openxmlformats.org/drawingml/2006/main">
            <a:noFill/>
          </a:ln>
        </p:spPr>
      </p:sp>
      <p:sp>
        <p:nvSpPr>
          <p:cNvPr id="22" name="本次報告&#10;驗證與研究設計">
            <a:extLst xmlns:a="http://schemas.openxmlformats.org/drawingml/2006/main">
              <a:ext uri="{FF2B5EF4-FFF2-40B4-BE49-F238E27FC236}">
                <a16:creationId xmlns:a16="http://schemas.microsoft.com/office/drawing/2014/main" id="{9F913250-2C0D-46B1-A18F-60B0DB254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48850" y="3238500"/>
            <a:ext cx="1714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ctr"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本次報告</a:t>
            </a:r>
          </a:p>
          <a:p xmlns:a="http://schemas.openxmlformats.org/drawingml/2006/main">
            <a:pPr algn="ctr">
              <a:buNone/>
              <a:def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0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驗證與研究設計</a:t>
            </a:r>
          </a:p>
        </p:txBody>
      </p:sp>
      <p:sp>
        <p:nvSpPr>
          <p:cNvPr id="23" name="上期回顧：以客訴追溯與現場資訊差，確認天車作業的研究價值。">
            <a:extLst xmlns:a="http://schemas.openxmlformats.org/drawingml/2006/main">
              <a:ext uri="{FF2B5EF4-FFF2-40B4-BE49-F238E27FC236}">
                <a16:creationId xmlns:a16="http://schemas.microsoft.com/office/drawing/2014/main" id="{85E45945-3ED4-440B-9997-EB29DC080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109728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上期回顧：以客訴追溯與現場資訊差，確認天車作業的研究價值。</a:t>
            </a:r>
          </a:p>
        </p:txBody>
      </p:sp>
      <p:sp>
        <p:nvSpPr>
          <p:cNvPr id="24" name="本次重點：為何改用即時 3D，以及資料鏈如何正確、持續地更新">
            <a:extLst xmlns:a="http://schemas.openxmlformats.org/drawingml/2006/main">
              <a:ext uri="{FF2B5EF4-FFF2-40B4-BE49-F238E27FC236}">
                <a16:creationId xmlns:a16="http://schemas.microsoft.com/office/drawing/2014/main" id="{06E40E27-DB87-41F7-B464-B9F6BAB2A2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本次重點：為何改用即時 3D，以及資料鏈如何正確、持續地更新。</a:t>
            </a:r>
          </a:p>
        </p:txBody>
      </p:sp>
    </p:spTree>
    <p:extLst>
      <p:ext uri="{BB962C8B-B14F-4D97-AF65-F5344CB8AC3E}">
        <p14:creationId xmlns:p14="http://schemas.microsoft.com/office/powerpoint/2010/main" val="643858239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0/27 回顧｜需要補齊可追溯的作業證據">
            <a:extLst xmlns:a="http://schemas.openxmlformats.org/drawingml/2006/main">
              <a:ext uri="{FF2B5EF4-FFF2-40B4-BE49-F238E27FC236}">
                <a16:creationId xmlns:a16="http://schemas.microsoft.com/office/drawing/2014/main" id="{024CDF1D-F665-4FB4-8CA5-9D89A67DD7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10/27 回顧｜需要補齊可追溯的作業證據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E723AA16-8B87-4507-8B61-B86B2EEA6D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2">
            <a:extLst xmlns:a="http://schemas.openxmlformats.org/drawingml/2006/main">
              <a:ext uri="{FF2B5EF4-FFF2-40B4-BE49-F238E27FC236}">
                <a16:creationId xmlns:a16="http://schemas.microsoft.com/office/drawing/2014/main" id="{9C0A3EB7-91D5-4186-97C1-2AF040FC49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02</a:t>
            </a:r>
          </a:p>
        </p:txBody>
      </p:sp>
      <p:sp>
        <p:nvSpPr>
          <p:cNvPr id="4" name="為何從酸洗廠切入？">
            <a:extLst xmlns:a="http://schemas.openxmlformats.org/drawingml/2006/main">
              <a:ext uri="{FF2B5EF4-FFF2-40B4-BE49-F238E27FC236}">
                <a16:creationId xmlns:a16="http://schemas.microsoft.com/office/drawing/2014/main" id="{696892F0-3D5C-4E26-9003-6B3C463932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為何從酸洗廠切入？</a:t>
            </a:r>
          </a:p>
        </p:txBody>
      </p:sp>
      <p:sp>
        <p:nvSpPr>
          <p:cNvPr id="5" name="酸洗廠承接派工與實物流動；入庫 → 入洗 → 洗出 → 出貨">
            <a:extLst xmlns:a="http://schemas.openxmlformats.org/drawingml/2006/main">
              <a:ext uri="{FF2B5EF4-FFF2-40B4-BE49-F238E27FC236}">
                <a16:creationId xmlns:a16="http://schemas.microsoft.com/office/drawing/2014/main" id="{0E5E98B2-C783-44D7-98DC-085DEC0A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酸洗廠承接派工與實物流動；入庫 → 入洗 → 洗出 → 出貨，是跨角色共同紀錄的起點。</a:t>
            </a:r>
          </a:p>
        </p:txBody>
      </p:sp>
      <p:sp>
        <p:nvSpPr>
          <p:cNvPr id="6" name="客訴時缺少什麼？">
            <a:extLst xmlns:a="http://schemas.openxmlformats.org/drawingml/2006/main">
              <a:ext uri="{FF2B5EF4-FFF2-40B4-BE49-F238E27FC236}">
                <a16:creationId xmlns:a16="http://schemas.microsoft.com/office/drawing/2014/main" id="{2380CFD5-3D9D-4460-B204-0DD137AC4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客訴時缺少什麼？</a:t>
            </a:r>
          </a:p>
        </p:txBody>
      </p:sp>
      <p:sp>
        <p:nvSpPr>
          <p:cNvPr id="7" name="原機械計時器與 LED 未回饋每桿、每槽的入槽時間 LOG，">
            <a:extLst xmlns:a="http://schemas.openxmlformats.org/drawingml/2006/main">
              <a:ext uri="{FF2B5EF4-FFF2-40B4-BE49-F238E27FC236}">
                <a16:creationId xmlns:a16="http://schemas.microsoft.com/office/drawing/2014/main" id="{0A305206-93B1-4793-98A4-A48E5CB805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原機械計時器與 LED 未回饋每桿、每槽的入槽時間 LOG，難以提交完整且可核對的加工證據。</a:t>
            </a:r>
          </a:p>
        </p:txBody>
      </p:sp>
      <p:sp>
        <p:nvSpPr>
          <p:cNvPr id="8" name="研究要留下什麼？">
            <a:extLst xmlns:a="http://schemas.openxmlformats.org/drawingml/2006/main">
              <a:ext uri="{FF2B5EF4-FFF2-40B4-BE49-F238E27FC236}">
                <a16:creationId xmlns:a16="http://schemas.microsoft.com/office/drawing/2014/main" id="{A53BC167-7B07-4513-8D4D-7502B7ED3B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研究要留下什麼？</a:t>
            </a:r>
          </a:p>
        </p:txBody>
      </p:sp>
      <p:sp>
        <p:nvSpPr>
          <p:cNvPr id="9" name="本次桿次、逐顆材料、實際槽位、計時與操作事件，供主管、四台天">
            <a:extLst xmlns:a="http://schemas.openxmlformats.org/drawingml/2006/main">
              <a:ext uri="{FF2B5EF4-FFF2-40B4-BE49-F238E27FC236}">
                <a16:creationId xmlns:a16="http://schemas.microsoft.com/office/drawing/2014/main" id="{E6089E1F-549D-40D6-A041-FCB1A34E1E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本次桿次、逐顆材料、實際槽位、計時與操作事件，供主管、四台天車及後續追溯共同查詢。</a:t>
            </a:r>
          </a:p>
        </p:txBody>
      </p:sp>
      <p:sp>
        <p:nvSpPr>
          <p:cNvPr id="10" name="目標是資訊一致與可追溯；設備維修費及客訴改善仍待量測。">
            <a:extLst xmlns:a="http://schemas.openxmlformats.org/drawingml/2006/main">
              <a:ext uri="{FF2B5EF4-FFF2-40B4-BE49-F238E27FC236}">
                <a16:creationId xmlns:a16="http://schemas.microsoft.com/office/drawing/2014/main" id="{3DE794A0-9BE5-47D3-B18B-201AE5EC2B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目標是資訊一致與可追溯；設備維修費及客訴改善仍待量測。</a:t>
            </a:r>
          </a:p>
        </p:txBody>
      </p:sp>
    </p:spTree>
    <p:extLst>
      <p:ext uri="{BB962C8B-B14F-4D97-AF65-F5344CB8AC3E}">
        <p14:creationId xmlns:p14="http://schemas.microsoft.com/office/powerpoint/2010/main" val="1436190697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現場痛點｜盤元入槽後，標示帶就看不到">
            <a:extLst xmlns:a="http://schemas.openxmlformats.org/drawingml/2006/main">
              <a:ext uri="{FF2B5EF4-FFF2-40B4-BE49-F238E27FC236}">
                <a16:creationId xmlns:a16="http://schemas.microsoft.com/office/drawing/2014/main" id="{5045C67A-6E02-4FE7-AD65-AF68065AB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現場痛點｜盤元入槽後，標示帶就看不到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A9F30CB-8C74-42B9-9694-F8B0E5155B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3">
            <a:extLst xmlns:a="http://schemas.openxmlformats.org/drawingml/2006/main">
              <a:ext uri="{FF2B5EF4-FFF2-40B4-BE49-F238E27FC236}">
                <a16:creationId xmlns:a16="http://schemas.microsoft.com/office/drawing/2014/main" id="{DC15BAE4-A3AB-44B6-A4FB-AECE5C4B27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03</a:t>
            </a:r>
          </a:p>
        </p:txBody>
      </p:sp>
      <p:sp>
        <p:nvSpPr>
          <p:cNvPr id="4" name="看不清，也可能已被遮住">
            <a:extLst xmlns:a="http://schemas.openxmlformats.org/drawingml/2006/main">
              <a:ext uri="{FF2B5EF4-FFF2-40B4-BE49-F238E27FC236}">
                <a16:creationId xmlns:a16="http://schemas.microsoft.com/office/drawing/2014/main" id="{2AE4C6ED-FB48-46B6-99C9-A6D1FAE7C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看不清，也可能已被遮住</a:t>
            </a:r>
          </a:p>
        </p:txBody>
      </p:sp>
      <p:sp>
        <p:nvSpPr>
          <p:cNvPr id="5" name="產線長、槽體距離遠；盤元浸入槽內後，標示帶顏色無法持續辨認。">
            <a:extLst xmlns:a="http://schemas.openxmlformats.org/drawingml/2006/main">
              <a:ext uri="{FF2B5EF4-FFF2-40B4-BE49-F238E27FC236}">
                <a16:creationId xmlns:a16="http://schemas.microsoft.com/office/drawing/2014/main" id="{40F12AC8-4BFC-4C48-A2C9-523AD648A0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產線長、槽體距離遠；盤元浸入槽內後，標示帶顏色無法持續辨認。</a:t>
            </a:r>
          </a:p>
        </p:txBody>
      </p:sp>
      <p:sp>
        <p:nvSpPr>
          <p:cNvPr id="6" name="計時、交接與急件資訊分散">
            <a:extLst xmlns:a="http://schemas.openxmlformats.org/drawingml/2006/main">
              <a:ext uri="{FF2B5EF4-FFF2-40B4-BE49-F238E27FC236}">
                <a16:creationId xmlns:a16="http://schemas.microsoft.com/office/drawing/2014/main" id="{60DE63C9-C927-449D-BA07-A3107A339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計時、交接與急件資訊分散</a:t>
            </a:r>
          </a:p>
        </p:txBody>
      </p:sp>
      <p:sp>
        <p:nvSpPr>
          <p:cNvPr id="7" name="不確定重置是否完成、哪桿應先吊出；主管插單與四台天車之間存在">
            <a:extLst xmlns:a="http://schemas.openxmlformats.org/drawingml/2006/main">
              <a:ext uri="{FF2B5EF4-FFF2-40B4-BE49-F238E27FC236}">
                <a16:creationId xmlns:a16="http://schemas.microsoft.com/office/drawing/2014/main" id="{EA00C4C7-E588-4DA7-8CA5-A621A5FEF8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不確定重置是否完成、哪桿應先吊出；主管插單與四台天車之間存在口頭傳遞的時間差。</a:t>
            </a:r>
          </a:p>
        </p:txBody>
      </p:sp>
      <p:sp>
        <p:nvSpPr>
          <p:cNvPr id="8" name="資料錯配會延伸成加工風險">
            <a:extLst xmlns:a="http://schemas.openxmlformats.org/drawingml/2006/main">
              <a:ext uri="{FF2B5EF4-FFF2-40B4-BE49-F238E27FC236}">
                <a16:creationId xmlns:a16="http://schemas.microsoft.com/office/drawing/2014/main" id="{30D901F3-36E0-416C-8994-9C041175F0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資料錯配會延伸成加工風險</a:t>
            </a:r>
          </a:p>
        </p:txBody>
      </p:sp>
      <p:sp>
        <p:nvSpPr>
          <p:cNvPr id="9" name="不同材質或條件被配在同桿，需要有可核對的逐顆明細；相容規則與">
            <a:extLst xmlns:a="http://schemas.openxmlformats.org/drawingml/2006/main">
              <a:ext uri="{FF2B5EF4-FFF2-40B4-BE49-F238E27FC236}">
                <a16:creationId xmlns:a16="http://schemas.microsoft.com/office/drawing/2014/main" id="{3EF4E657-E0FC-4362-AA03-C79135F8BB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不同材質或條件被配在同桿，需要有可核對的逐顆明細；相容規則與攔截成效列為後續驗證。</a:t>
            </a:r>
          </a:p>
        </p:txBody>
      </p:sp>
      <p:sp>
        <p:nvSpPr>
          <p:cNvPr id="10" name="共享槽位、桿號、材料與時間，讓看不見的標示資訊仍可查。">
            <a:extLst xmlns:a="http://schemas.openxmlformats.org/drawingml/2006/main">
              <a:ext uri="{FF2B5EF4-FFF2-40B4-BE49-F238E27FC236}">
                <a16:creationId xmlns:a16="http://schemas.microsoft.com/office/drawing/2014/main" id="{482226EB-4A9D-44A7-8FF9-55294461AB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共享槽位、桿號、材料與時間，讓看不見的標示資訊仍可查。</a:t>
            </a:r>
          </a:p>
        </p:txBody>
      </p:sp>
    </p:spTree>
    <p:extLst>
      <p:ext uri="{BB962C8B-B14F-4D97-AF65-F5344CB8AC3E}">
        <p14:creationId xmlns:p14="http://schemas.microsoft.com/office/powerpoint/2010/main" val="1874942642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為何從 AR 收斂為 MES＋即時 3D？">
            <a:extLst xmlns:a="http://schemas.openxmlformats.org/drawingml/2006/main">
              <a:ext uri="{FF2B5EF4-FFF2-40B4-BE49-F238E27FC236}">
                <a16:creationId xmlns:a16="http://schemas.microsoft.com/office/drawing/2014/main" id="{396FA667-B19E-47B9-A091-EFC4BE2480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為何從 AR 收斂為 MES＋即時 3D？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197D7951-A2D6-4155-BD1F-20CC117D5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4">
            <a:extLst xmlns:a="http://schemas.openxmlformats.org/drawingml/2006/main">
              <a:ext uri="{FF2B5EF4-FFF2-40B4-BE49-F238E27FC236}">
                <a16:creationId xmlns:a16="http://schemas.microsoft.com/office/drawing/2014/main" id="{D4916899-8C4D-4690-81C9-A43C0E2193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211D49-994D-46F3-BF7D-843784276D04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857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095500"/>
                <a:gridCol w="4438650"/>
                <a:gridCol w="4438650"/>
              </a:tblGrid>
              <a:tr h="771525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判斷面向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AR 現場疊圖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即時 3D 槽位畫面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每日準備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A／B 定位、空間對齊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登入後取得同一份資料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長產線與移動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跨區追蹤、漂移與恢復待驗證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各台預設區域，可查看全場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裝置與執行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相機、追蹤及 AR 執行環境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一般網頁 3D 與計時切換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71525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研究核心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空間疊圖是曾探索的呈現方式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資訊一致、判讀、協作與追溯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Android／iOS 已能定錨；核心需求無須精準疊圖也能服">
            <a:extLst xmlns:a="http://schemas.openxmlformats.org/drawingml/2006/main">
              <a:ext uri="{FF2B5EF4-FFF2-40B4-BE49-F238E27FC236}">
                <a16:creationId xmlns:a16="http://schemas.microsoft.com/office/drawing/2014/main" id="{3097559A-95E8-48E6-8ED3-0959A868F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Android／iOS 已能定錨；核心需求無須精準疊圖也能服務現場。</a:t>
            </a:r>
          </a:p>
        </p:txBody>
      </p:sp>
    </p:spTree>
    <p:extLst>
      <p:ext uri="{BB962C8B-B14F-4D97-AF65-F5344CB8AC3E}">
        <p14:creationId xmlns:p14="http://schemas.microsoft.com/office/powerpoint/2010/main" val="507906887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平板固定方式：天車立柱支架與護理推車參考">
            <a:extLst xmlns:a="http://schemas.openxmlformats.org/drawingml/2006/main">
              <a:ext uri="{FF2B5EF4-FFF2-40B4-BE49-F238E27FC236}">
                <a16:creationId xmlns:a16="http://schemas.microsoft.com/office/drawing/2014/main" id="{17218C05-8434-4584-80BE-259408CCA1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8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平板固定方式：天車立柱支架與護理推車參考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14EC0A30-3193-43E2-873F-E0D8086F2D71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675876396694594"/>
          <a:stretch xmlns:a="http://schemas.openxmlformats.org/drawingml/2006/main"/>
        </p:blipFill>
        <p:spPr>
          <a:xfrm xmlns:a="http://schemas.openxmlformats.org/drawingml/2006/main">
            <a:off x="965327" y="1219200"/>
            <a:ext cx="4565396" cy="4191000"/>
          </a:xfrm>
          <a:prstGeom xmlns:a="http://schemas.openxmlformats.org/drawingml/2006/main" prst="rect">
            <a:avLst/>
          </a:prstGeom>
        </p:spPr>
      </p:pic>
      <p:pic>
        <p:nvPic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AB9FF18-90BF-4895-A119-9FA9342B2CF5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d53e993e8954e5d"/>
          <a:stretch xmlns:a="http://schemas.openxmlformats.org/drawingml/2006/main"/>
        </p:blipFill>
        <p:spPr>
          <a:xfrm xmlns:a="http://schemas.openxmlformats.org/drawingml/2006/main">
            <a:off x="6561438" y="1219200"/>
            <a:ext cx="4536474" cy="4191000"/>
          </a:xfrm>
          <a:prstGeom xmlns:a="http://schemas.openxmlformats.org/drawingml/2006/main" prst="rect">
            <a:avLst/>
          </a:prstGeom>
        </p:spPr>
      </p:pic>
      <p:sp>
        <p:nvSpPr>
          <p:cNvPr id="4" name="圖一：以抱箍／夾具固定於天車立柱。&#10;支臂可調位置與角度，">
            <a:extLst xmlns:a="http://schemas.openxmlformats.org/drawingml/2006/main">
              <a:ext uri="{FF2B5EF4-FFF2-40B4-BE49-F238E27FC236}">
                <a16:creationId xmlns:a16="http://schemas.microsoft.com/office/drawing/2014/main" id="{758C27EC-FBC4-45D7-A1C2-7888CC00F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圖一：以抱箍／夾具固定於天車立柱。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支臂可調位置與角度，平板可拆卸。</a:t>
            </a:r>
          </a:p>
        </p:txBody>
      </p:sp>
      <p:sp>
        <p:nvSpPr>
          <p:cNvPr id="5" name="圖二：參考護理推車的可調支臂。&#10;支架隨車移動，平板收工帶">
            <a:extLst xmlns:a="http://schemas.openxmlformats.org/drawingml/2006/main">
              <a:ext uri="{FF2B5EF4-FFF2-40B4-BE49-F238E27FC236}">
                <a16:creationId xmlns:a16="http://schemas.microsoft.com/office/drawing/2014/main" id="{DFE93D5F-65D0-4ACF-AA68-7939A1032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562600"/>
            <a:ext cx="527685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圖二：參考護理推車的可調支臂。</a:t>
            </a:r>
          </a:p>
          <a:p xmlns:a="http://schemas.openxmlformats.org/drawingml/2006/main">
            <a:pPr>
              <a:buNone/>
              <a:def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支架隨車移動，平板收工帶回保管。</a:t>
            </a:r>
          </a:p>
        </p:txBody>
      </p:sp>
      <p:sp>
        <p:nvSpPr>
          <p:cNvPr id="6" name="圖示為安裝構想與支架參考，實際固定方式及耐蝕性待現場確認">
            <a:extLst xmlns:a="http://schemas.openxmlformats.org/drawingml/2006/main">
              <a:ext uri="{FF2B5EF4-FFF2-40B4-BE49-F238E27FC236}">
                <a16:creationId xmlns:a16="http://schemas.microsoft.com/office/drawing/2014/main" id="{1349A4ED-DAEA-4F36-A1A8-F2B89DC0CF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91250"/>
            <a:ext cx="109728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350" b="0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圖示為安裝構想與支架參考，實際固定方式及耐蝕性待現場確認。</a:t>
            </a:r>
          </a:p>
        </p:txBody>
      </p:sp>
      <p:sp>
        <p:nvSpPr>
          <p:cNvPr id="7" name="李冠潾　2026/11/10 面談｜MES 結合即時 3">
            <a:extLst xmlns:a="http://schemas.openxmlformats.org/drawingml/2006/main">
              <a:ext uri="{FF2B5EF4-FFF2-40B4-BE49-F238E27FC236}">
                <a16:creationId xmlns:a16="http://schemas.microsoft.com/office/drawing/2014/main" id="{0FFAA556-60C8-449E-9DE7-638E054137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8" name="05">
            <a:extLst xmlns:a="http://schemas.openxmlformats.org/drawingml/2006/main">
              <a:ext uri="{FF2B5EF4-FFF2-40B4-BE49-F238E27FC236}">
                <a16:creationId xmlns:a16="http://schemas.microsoft.com/office/drawing/2014/main" id="{AFCE5779-728D-4EEE-8EA3-FB7C51668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1015065497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操作介面收斂｜計時與 3D 一次只看一種">
            <a:extLst xmlns:a="http://schemas.openxmlformats.org/drawingml/2006/main">
              <a:ext uri="{FF2B5EF4-FFF2-40B4-BE49-F238E27FC236}">
                <a16:creationId xmlns:a16="http://schemas.microsoft.com/office/drawing/2014/main" id="{9649B0FF-5782-409A-9E1D-E83E7551BD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操作介面收斂｜計時與 3D 一次只看一種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A279DF6C-112C-4563-AB0F-3B4E784704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6">
            <a:extLst xmlns:a="http://schemas.openxmlformats.org/drawingml/2006/main">
              <a:ext uri="{FF2B5EF4-FFF2-40B4-BE49-F238E27FC236}">
                <a16:creationId xmlns:a16="http://schemas.microsoft.com/office/drawing/2014/main" id="{3EDE983D-0D13-436E-A84C-693AB9825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06</a:t>
            </a:r>
          </a:p>
        </p:txBody>
      </p:sp>
      <p:sp>
        <p:nvSpPr>
          <p:cNvPr id="4" name="計時作業">
            <a:extLst xmlns:a="http://schemas.openxmlformats.org/drawingml/2006/main">
              <a:ext uri="{FF2B5EF4-FFF2-40B4-BE49-F238E27FC236}">
                <a16:creationId xmlns:a16="http://schemas.microsoft.com/office/drawing/2014/main" id="{BDB79110-2F23-4B75-BEA2-C779251F2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計時作業</a:t>
            </a:r>
          </a:p>
        </p:txBody>
      </p:sp>
      <p:sp>
        <p:nvSpPr>
          <p:cNvPr id="5" name="核對桿號與逐顆明細，選擇實際槽位及浸泡時間，確認後開始計時。">
            <a:extLst xmlns:a="http://schemas.openxmlformats.org/drawingml/2006/main">
              <a:ext uri="{FF2B5EF4-FFF2-40B4-BE49-F238E27FC236}">
                <a16:creationId xmlns:a16="http://schemas.microsoft.com/office/drawing/2014/main" id="{A7157677-B839-4132-98EE-4F783241BD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核對桿號與逐顆明細，選擇實際槽位及浸泡時間，確認後開始計時。</a:t>
            </a:r>
          </a:p>
        </p:txBody>
      </p:sp>
      <p:sp>
        <p:nvSpPr>
          <p:cNvPr id="6" name="查看 3D">
            <a:extLst xmlns:a="http://schemas.openxmlformats.org/drawingml/2006/main">
              <a:ext uri="{FF2B5EF4-FFF2-40B4-BE49-F238E27FC236}">
                <a16:creationId xmlns:a16="http://schemas.microsoft.com/office/drawing/2014/main" id="{6BCD5656-1775-4655-B1EC-CB7AD16450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查看 3D</a:t>
            </a:r>
          </a:p>
        </p:txBody>
      </p:sp>
      <p:sp>
        <p:nvSpPr>
          <p:cNvPr id="7" name="按一個入口開啟槽位圖；字卡顯示桿號、計時與急件數字，點字卡查">
            <a:extLst xmlns:a="http://schemas.openxmlformats.org/drawingml/2006/main">
              <a:ext uri="{FF2B5EF4-FFF2-40B4-BE49-F238E27FC236}">
                <a16:creationId xmlns:a16="http://schemas.microsoft.com/office/drawing/2014/main" id="{6DF6B07C-B5E6-45D0-BC14-BCB321B0C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按一個入口開啟槽位圖；字卡顯示桿號、計時與急件數字，點字卡查看逐顆材料。</a:t>
            </a:r>
          </a:p>
        </p:txBody>
      </p:sp>
      <p:sp>
        <p:nvSpPr>
          <p:cNvPr id="8" name="返回計時">
            <a:extLst xmlns:a="http://schemas.openxmlformats.org/drawingml/2006/main">
              <a:ext uri="{FF2B5EF4-FFF2-40B4-BE49-F238E27FC236}">
                <a16:creationId xmlns:a16="http://schemas.microsoft.com/office/drawing/2014/main" id="{DCA26C03-27AC-48AF-847E-8EAC487E51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返回計時</a:t>
            </a:r>
          </a:p>
        </p:txBody>
      </p:sp>
      <p:sp>
        <p:nvSpPr>
          <p:cNvPr id="9" name="隱藏 3D 回到作業畫面，原計時繼續；次要查詢與範圍選擇收合">
            <a:extLst xmlns:a="http://schemas.openxmlformats.org/drawingml/2006/main">
              <a:ext uri="{FF2B5EF4-FFF2-40B4-BE49-F238E27FC236}">
                <a16:creationId xmlns:a16="http://schemas.microsoft.com/office/drawing/2014/main" id="{3BB8143F-C174-4A0F-AAFF-2FACED4555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隱藏 3D 回到作業畫面，原計時繼續；次要查詢與範圍選擇收合，減少主畫面按鈕。</a:t>
            </a:r>
          </a:p>
        </p:txBody>
      </p:sp>
      <p:sp>
        <p:nvSpPr>
          <p:cNvPr id="10" name="保留 MES 登入、權限及操作確認；3D 提示不直接控制天車">
            <a:extLst xmlns:a="http://schemas.openxmlformats.org/drawingml/2006/main">
              <a:ext uri="{FF2B5EF4-FFF2-40B4-BE49-F238E27FC236}">
                <a16:creationId xmlns:a16="http://schemas.microsoft.com/office/drawing/2014/main" id="{16AED920-592D-4F4B-BB0C-93DBDB206B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保留 MES 登入、權限及操作確認；3D 提示不直接控制天車。</a:t>
            </a:r>
          </a:p>
        </p:txBody>
      </p:sp>
    </p:spTree>
    <p:extLst>
      <p:ext uri="{BB962C8B-B14F-4D97-AF65-F5344CB8AC3E}">
        <p14:creationId xmlns:p14="http://schemas.microsoft.com/office/powerpoint/2010/main" val="1288176347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7" name="自主表 → 天車 → 3D：建立共同資料鏈">
            <a:extLst xmlns:a="http://schemas.openxmlformats.org/drawingml/2006/main">
              <a:ext uri="{FF2B5EF4-FFF2-40B4-BE49-F238E27FC236}">
                <a16:creationId xmlns:a16="http://schemas.microsoft.com/office/drawing/2014/main" id="{7582F04D-BE32-4905-A2B4-3612ABAB17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 → 天車 → 3D：建立共同資料鏈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1AE41D2-18E7-42AE-9077-DAF1F93724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7">
            <a:extLst xmlns:a="http://schemas.openxmlformats.org/drawingml/2006/main">
              <a:ext uri="{FF2B5EF4-FFF2-40B4-BE49-F238E27FC236}">
                <a16:creationId xmlns:a16="http://schemas.microsoft.com/office/drawing/2014/main" id="{C8FB2E40-4B1F-40DF-A875-A599E69338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07</a:t>
            </a:r>
          </a:p>
        </p:txBody>
      </p:sp>
      <p:sp>
        <p:nvSpPr>
          <p:cNvPr id="4" name="自主表">
            <a:extLst xmlns:a="http://schemas.openxmlformats.org/drawingml/2006/main">
              <a:ext uri="{FF2B5EF4-FFF2-40B4-BE49-F238E27FC236}">
                <a16:creationId xmlns:a16="http://schemas.microsoft.com/office/drawing/2014/main" id="{2FFE6976-F984-494E-8727-698A095E31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自主表</a:t>
            </a:r>
          </a:p>
        </p:txBody>
      </p:sp>
      <p:sp>
        <p:nvSpPr>
          <p:cNvPr id="5" name="最新未鎖定 OPEN&#10;已標示入洗的盤元">
            <a:extLst xmlns:a="http://schemas.openxmlformats.org/drawingml/2006/main">
              <a:ext uri="{FF2B5EF4-FFF2-40B4-BE49-F238E27FC236}">
                <a16:creationId xmlns:a16="http://schemas.microsoft.com/office/drawing/2014/main" id="{A2810C85-02A6-4D78-A000-A9579EF882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最新未鎖定 OPEN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已標示入洗的盤元</a:t>
            </a:r>
          </a:p>
        </p:txBody>
      </p:sp>
      <p:sp>
        <p:nvSpPr>
          <p:cNvPr id="6" name="→">
            <a:extLst xmlns:a="http://schemas.openxmlformats.org/drawingml/2006/main">
              <a:ext uri="{FF2B5EF4-FFF2-40B4-BE49-F238E27FC236}">
                <a16:creationId xmlns:a16="http://schemas.microsoft.com/office/drawing/2014/main" id="{D5B6924F-3900-4FE2-94A6-0792742A4C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861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7" name="同桿彙整">
            <a:extLst xmlns:a="http://schemas.openxmlformats.org/drawingml/2006/main">
              <a:ext uri="{FF2B5EF4-FFF2-40B4-BE49-F238E27FC236}">
                <a16:creationId xmlns:a16="http://schemas.microsoft.com/office/drawing/2014/main" id="{A4A0D7E6-2ABF-4DE8-A9EB-D1697818BC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同桿彙整</a:t>
            </a:r>
          </a:p>
        </p:txBody>
      </p:sp>
      <p:sp>
        <p:nvSpPr>
          <p:cNvPr id="8" name="桿號＋本次批次&#10;逐顆材料關聯">
            <a:extLst xmlns:a="http://schemas.openxmlformats.org/drawingml/2006/main">
              <a:ext uri="{FF2B5EF4-FFF2-40B4-BE49-F238E27FC236}">
                <a16:creationId xmlns:a16="http://schemas.microsoft.com/office/drawing/2014/main" id="{C5431D6B-3654-4FC1-9FD8-2CF810310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桿號＋本次批次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逐顆材料關聯</a:t>
            </a:r>
          </a:p>
        </p:txBody>
      </p:sp>
      <p:sp>
        <p:nvSpPr>
          <p:cNvPr id="9" name="→">
            <a:extLst xmlns:a="http://schemas.openxmlformats.org/drawingml/2006/main">
              <a:ext uri="{FF2B5EF4-FFF2-40B4-BE49-F238E27FC236}">
                <a16:creationId xmlns:a16="http://schemas.microsoft.com/office/drawing/2014/main" id="{4D390D19-4904-41D8-8504-71752132F1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0" name="台車確認">
            <a:extLst xmlns:a="http://schemas.openxmlformats.org/drawingml/2006/main">
              <a:ext uri="{FF2B5EF4-FFF2-40B4-BE49-F238E27FC236}">
                <a16:creationId xmlns:a16="http://schemas.microsoft.com/office/drawing/2014/main" id="{3C4A93F3-CF4B-427B-8430-F6789AC5E5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台車確認</a:t>
            </a:r>
          </a:p>
        </p:txBody>
      </p:sp>
      <p:sp>
        <p:nvSpPr>
          <p:cNvPr id="11" name="實際槽位＋時間&#10;記錄入槽與出槽">
            <a:extLst xmlns:a="http://schemas.openxmlformats.org/drawingml/2006/main">
              <a:ext uri="{FF2B5EF4-FFF2-40B4-BE49-F238E27FC236}">
                <a16:creationId xmlns:a16="http://schemas.microsoft.com/office/drawing/2014/main" id="{FD7AB1D5-A66C-472F-AA64-FE6968F64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實際槽位＋時間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記錄入槽與出槽</a:t>
            </a:r>
          </a:p>
        </p:txBody>
      </p:sp>
      <p:sp>
        <p:nvSpPr>
          <p:cNvPr id="12" name="→">
            <a:extLst xmlns:a="http://schemas.openxmlformats.org/drawingml/2006/main">
              <a:ext uri="{FF2B5EF4-FFF2-40B4-BE49-F238E27FC236}">
                <a16:creationId xmlns:a16="http://schemas.microsoft.com/office/drawing/2014/main" id="{9245840B-5C4A-4C48-AE5B-E0E4FC449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2476500"/>
            <a:ext cx="3810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4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3" name="共同畫面">
            <a:extLst xmlns:a="http://schemas.openxmlformats.org/drawingml/2006/main">
              <a:ext uri="{FF2B5EF4-FFF2-40B4-BE49-F238E27FC236}">
                <a16:creationId xmlns:a16="http://schemas.microsoft.com/office/drawing/2014/main" id="{07F77693-61C7-4612-AB96-9BD78E8EF1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1666875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共同畫面</a:t>
            </a:r>
          </a:p>
        </p:txBody>
      </p:sp>
      <p:sp>
        <p:nvSpPr>
          <p:cNvPr id="14" name="主管＋四台天車&#10;2D／3D 同步">
            <a:extLst xmlns:a="http://schemas.openxmlformats.org/drawingml/2006/main">
              <a:ext uri="{FF2B5EF4-FFF2-40B4-BE49-F238E27FC236}">
                <a16:creationId xmlns:a16="http://schemas.microsoft.com/office/drawing/2014/main" id="{1865C1FF-9C52-4BBB-8185-5A808F26A1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67800" y="2333625"/>
            <a:ext cx="2476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主管＋四台天車</a:t>
            </a:r>
          </a:p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2D／3D 同步</a:t>
            </a:r>
          </a:p>
        </p:txBody>
      </p:sp>
      <p:sp>
        <p:nvSpPr>
          <p:cNvPr id="15" name="自主表逐顆洗出 → 同批全部完成 → 移除目前字卡、保留完成">
            <a:extLst xmlns:a="http://schemas.openxmlformats.org/drawingml/2006/main">
              <a:ext uri="{FF2B5EF4-FFF2-40B4-BE49-F238E27FC236}">
                <a16:creationId xmlns:a16="http://schemas.microsoft.com/office/drawing/2014/main" id="{56FAFC76-C2BA-40CF-ACA6-35EA6DE87F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10972800" cy="9048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自主表逐顆洗出 → 同批全部完成 → 移除目前字卡、保留完成歷程</a:t>
            </a:r>
          </a:p>
        </p:txBody>
      </p:sp>
      <p:sp>
        <p:nvSpPr>
          <p:cNvPr id="16" name="自主表「洗出」與天車「出槽」分開判斷，不能互相推定。">
            <a:extLst xmlns:a="http://schemas.openxmlformats.org/drawingml/2006/main">
              <a:ext uri="{FF2B5EF4-FFF2-40B4-BE49-F238E27FC236}">
                <a16:creationId xmlns:a16="http://schemas.microsoft.com/office/drawing/2014/main" id="{34AD12C9-6407-411C-B977-BD176E1563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自主表「洗出」與天車「出槽」分開判斷，不能互相推定。</a:t>
            </a:r>
          </a:p>
        </p:txBody>
      </p:sp>
    </p:spTree>
    <p:extLst>
      <p:ext uri="{BB962C8B-B14F-4D97-AF65-F5344CB8AC3E}">
        <p14:creationId xmlns:p14="http://schemas.microsoft.com/office/powerpoint/2010/main" val="732445879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一｜有入洗資料，天車頁卻讀不到">
            <a:extLst xmlns:a="http://schemas.openxmlformats.org/drawingml/2006/main">
              <a:ext uri="{FF2B5EF4-FFF2-40B4-BE49-F238E27FC236}">
                <a16:creationId xmlns:a16="http://schemas.microsoft.com/office/drawing/2014/main" id="{990C2A72-46E4-4489-9B24-3076C60E9C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問題一｜有入洗資料，天車頁卻讀不到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05BDC40B-9A00-4B64-AFEE-811CA01A27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8">
            <a:extLst xmlns:a="http://schemas.openxmlformats.org/drawingml/2006/main">
              <a:ext uri="{FF2B5EF4-FFF2-40B4-BE49-F238E27FC236}">
                <a16:creationId xmlns:a16="http://schemas.microsoft.com/office/drawing/2014/main" id="{F4AF794E-9BDF-44F2-A326-4DA6FCA042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08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789DFB9-D6A4-4BB3-8654-07869FE99C12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14625"/>
                <a:gridCol w="4667250"/>
                <a:gridCol w="3590925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遇到的問題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修正方法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驗證界線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只讀今日表，漏掉 9/29 資料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依工作日期選最新 OPEN 表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顯示來源日期與非今日提示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較新鎖定表不應優先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無 OPEN 不回退鎖定表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 DEMO 桿占位、訂單虛構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先備份，再清除 3 支範例桿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 16 支自主表來源桿次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核對來源關聯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未刪自主表盤元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已入洗但沒有實際槽位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先放待入槽；由台車確認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不繼承舊範例位置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不把桿號當槽號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不虛構槽內位置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資料日期、來源與位置責任要明確，才能避免把舊資料當成現況。">
            <a:extLst xmlns:a="http://schemas.openxmlformats.org/drawingml/2006/main">
              <a:ext uri="{FF2B5EF4-FFF2-40B4-BE49-F238E27FC236}">
                <a16:creationId xmlns:a16="http://schemas.microsoft.com/office/drawing/2014/main" id="{AF5DBA6D-7CCE-4586-B5D4-909F975624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資料日期、來源與位置責任要明確，才能避免把舊資料當成現況。</a:t>
            </a:r>
          </a:p>
        </p:txBody>
      </p:sp>
    </p:spTree>
    <p:extLst>
      <p:ext uri="{BB962C8B-B14F-4D97-AF65-F5344CB8AC3E}">
        <p14:creationId xmlns:p14="http://schemas.microsoft.com/office/powerpoint/2010/main" val="820207790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問題二｜顆別格式不同，同桿明細不完整">
            <a:extLst xmlns:a="http://schemas.openxmlformats.org/drawingml/2006/main">
              <a:ext uri="{FF2B5EF4-FFF2-40B4-BE49-F238E27FC236}">
                <a16:creationId xmlns:a16="http://schemas.microsoft.com/office/drawing/2014/main" id="{6D9BAD25-1545-4B2A-940E-23D1B844B4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問題二｜顆別格式不同，同桿明細不完整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BA46C39E-952D-431D-B428-F962D912B47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09">
            <a:extLst xmlns:a="http://schemas.openxmlformats.org/drawingml/2006/main">
              <a:ext uri="{FF2B5EF4-FFF2-40B4-BE49-F238E27FC236}">
                <a16:creationId xmlns:a16="http://schemas.microsoft.com/office/drawing/2014/main" id="{89161B7B-EED8-4056-9E79-A7590957D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09</a:t>
            </a:r>
          </a:p>
        </p:txBody>
      </p:sp>
      <p:sp>
        <p:nvSpPr>
          <p:cNvPr id="4" name="來源格式">
            <a:extLst xmlns:a="http://schemas.openxmlformats.org/drawingml/2006/main">
              <a:ext uri="{FF2B5EF4-FFF2-40B4-BE49-F238E27FC236}">
                <a16:creationId xmlns:a16="http://schemas.microsoft.com/office/drawing/2014/main" id="{49DE69B5-C214-46F8-B466-678FE07EA8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來源格式</a:t>
            </a:r>
          </a:p>
        </p:txBody>
      </p:sp>
      <p:sp>
        <p:nvSpPr>
          <p:cNvPr id="5" name="正規化後">
            <a:extLst xmlns:a="http://schemas.openxmlformats.org/drawingml/2006/main">
              <a:ext uri="{FF2B5EF4-FFF2-40B4-BE49-F238E27FC236}">
                <a16:creationId xmlns:a16="http://schemas.microsoft.com/office/drawing/2014/main" id="{32FC2EC6-BAB5-45F3-B96E-C30165EC1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正規化後</a:t>
            </a:r>
          </a:p>
        </p:txBody>
      </p:sp>
      <p:sp>
        <p:nvSpPr>
          <p:cNvPr id="6" name="同桿／同批次">
            <a:extLst xmlns:a="http://schemas.openxmlformats.org/drawingml/2006/main">
              <a:ext uri="{FF2B5EF4-FFF2-40B4-BE49-F238E27FC236}">
                <a16:creationId xmlns:a16="http://schemas.microsoft.com/office/drawing/2014/main" id="{133F3723-16CF-4EF1-A347-0A4BE614A3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1476375"/>
            <a:ext cx="314325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同桿／同批次</a:t>
            </a:r>
          </a:p>
        </p:txBody>
      </p:sp>
      <p:sp>
        <p:nvSpPr>
          <p:cNvPr id="7" name="(11-1)&#10;(11-2)&#10;11-3">
            <a:extLst xmlns:a="http://schemas.openxmlformats.org/drawingml/2006/main">
              <a:ext uri="{FF2B5EF4-FFF2-40B4-BE49-F238E27FC236}">
                <a16:creationId xmlns:a16="http://schemas.microsoft.com/office/drawing/2014/main" id="{009ACC73-435C-4532-A1AD-7F7852B945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(11-1)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(11-2)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8" name="→">
            <a:extLst xmlns:a="http://schemas.openxmlformats.org/drawingml/2006/main">
              <a:ext uri="{FF2B5EF4-FFF2-40B4-BE49-F238E27FC236}">
                <a16:creationId xmlns:a16="http://schemas.microsoft.com/office/drawing/2014/main" id="{0FAB5060-CD2F-4C1F-88C1-5536BB8D3E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6237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9" name="11-1&#10;11-2&#10;11-3">
            <a:extLst xmlns:a="http://schemas.openxmlformats.org/drawingml/2006/main">
              <a:ext uri="{FF2B5EF4-FFF2-40B4-BE49-F238E27FC236}">
                <a16:creationId xmlns:a16="http://schemas.microsoft.com/office/drawing/2014/main" id="{D32FF07A-3B10-40B1-A5A5-EE7F189EFF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24375" y="2190750"/>
            <a:ext cx="3143250" cy="1714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11-1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11-2</a:t>
            </a:r>
          </a:p>
          <a:p xmlns:a="http://schemas.openxmlformats.org/drawingml/2006/main">
            <a:pPr algn="l">
              <a:buNone/>
              <a:def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5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11-3</a:t>
            </a:r>
          </a:p>
        </p:txBody>
      </p:sp>
      <p:sp>
        <p:nvSpPr>
          <p:cNvPr id="10" name="→">
            <a:extLst xmlns:a="http://schemas.openxmlformats.org/drawingml/2006/main">
              <a:ext uri="{FF2B5EF4-FFF2-40B4-BE49-F238E27FC236}">
                <a16:creationId xmlns:a16="http://schemas.microsoft.com/office/drawing/2014/main" id="{B2A4EA3F-5680-40FE-A370-9198839C5D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67625" y="2619375"/>
            <a:ext cx="571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000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→</a:t>
            </a:r>
          </a:p>
        </p:txBody>
      </p:sp>
      <p:sp>
        <p:nvSpPr>
          <p:cNvPr id="11" name="11 號桿&#10;共 3 顆">
            <a:extLst xmlns:a="http://schemas.openxmlformats.org/drawingml/2006/main">
              <a:ext uri="{FF2B5EF4-FFF2-40B4-BE49-F238E27FC236}">
                <a16:creationId xmlns:a16="http://schemas.microsoft.com/office/drawing/2014/main" id="{6F0B5A5A-1388-49AA-ADEA-BE1C28380E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9625" y="2381250"/>
            <a:ext cx="3143250" cy="1333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11 號桿</a:t>
            </a:r>
          </a:p>
          <a:p xmlns:a="http://schemas.openxmlformats.org/drawingml/2006/main">
            <a:pPr algn="l">
              <a:buNone/>
              <a:def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700" b="1">
                <a:solidFill>
                  <a:srgbClr val="0097AB"/>
                </a:solidFill>
                <a:latin typeface="Microsoft JhengHei"/>
                <a:ea typeface="Microsoft JhengHei"/>
                <a:cs typeface="Microsoft JhengHei"/>
              </a:rPr>
              <a:t>共 3 顆</a:t>
            </a:r>
          </a:p>
        </p:txBody>
      </p:sp>
      <p:sp>
        <p:nvSpPr>
          <p:cNvPr id="12" name="逐顆保留：訂單／識別碼、材質、線徑、重量、來源紀錄與洗出狀態">
            <a:extLst xmlns:a="http://schemas.openxmlformats.org/drawingml/2006/main">
              <a:ext uri="{FF2B5EF4-FFF2-40B4-BE49-F238E27FC236}">
                <a16:creationId xmlns:a16="http://schemas.microsoft.com/office/drawing/2014/main" id="{F7CE697C-6DA3-45A1-B79F-3FD205F0F9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2437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逐顆保留：訂單／識別碼、材質、線徑、重量、來源紀錄與洗出狀態。</a:t>
            </a:r>
          </a:p>
        </p:txBody>
      </p:sp>
      <p:sp>
        <p:nvSpPr>
          <p:cNvPr id="13" name="11-1、11-2、11-3 是同桿顆別，不是第 11 槽的">
            <a:extLst xmlns:a="http://schemas.openxmlformats.org/drawingml/2006/main">
              <a:ext uri="{FF2B5EF4-FFF2-40B4-BE49-F238E27FC236}">
                <a16:creationId xmlns:a16="http://schemas.microsoft.com/office/drawing/2014/main" id="{D658A7A4-FA6A-49F3-8D2F-36C5403F08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11-1、11-2、11-3 是同桿顆別，不是第 11 槽的三個槽位。</a:t>
            </a:r>
          </a:p>
        </p:txBody>
      </p:sp>
    </p:spTree>
    <p:extLst>
      <p:ext uri="{BB962C8B-B14F-4D97-AF65-F5344CB8AC3E}">
        <p14:creationId xmlns:p14="http://schemas.microsoft.com/office/powerpoint/2010/main" val="1068454217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三｜一顆洗出，能否直接移除整桿？">
            <a:extLst xmlns:a="http://schemas.openxmlformats.org/drawingml/2006/main">
              <a:ext uri="{FF2B5EF4-FFF2-40B4-BE49-F238E27FC236}">
                <a16:creationId xmlns:a16="http://schemas.microsoft.com/office/drawing/2014/main" id="{84267F18-863D-4790-87DC-16CF544C90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問題三｜一顆洗出，能否直接移除整桿？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1A2CF2C-A903-4D91-B8A8-41E5951971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0">
            <a:extLst xmlns:a="http://schemas.openxmlformats.org/drawingml/2006/main">
              <a:ext uri="{FF2B5EF4-FFF2-40B4-BE49-F238E27FC236}">
                <a16:creationId xmlns:a16="http://schemas.microsoft.com/office/drawing/2014/main" id="{8D34DD55-0D7F-461B-A030-566330E2B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10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B8777-BAE6-44C7-8D8E-AD21E561C344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524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4572000"/>
                <a:gridCol w="2190750"/>
                <a:gridCol w="4210050"/>
              </a:tblGrid>
              <a:tr h="881063"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自主表狀態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整桿判斷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11-1 完成，其他未完成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1／3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保留整桿與未完成明細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11-2 也完成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已洗出 2／3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繼續保留，顯示逐顆進度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881063"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三顆皆有有效旗標與洗出時間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整桿完成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移除目前字卡並關閉明細</a:t>
                      </a:r>
                    </a:p>
                    <a:p>
                      <a:r>
                        <a:rPr sz="180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保留歷史，不刪自主表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回報與查核須分開：使用者曾看到首顆掃描後消失；後續查核時三顆">
            <a:extLst xmlns:a="http://schemas.openxmlformats.org/drawingml/2006/main">
              <a:ext uri="{FF2B5EF4-FFF2-40B4-BE49-F238E27FC236}">
                <a16:creationId xmlns:a16="http://schemas.microsoft.com/office/drawing/2014/main" id="{A818551C-EFBB-433D-823C-972479BA80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91125"/>
            <a:ext cx="10972800" cy="952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725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回報與查核須分開：使用者曾看到首顆掃描後消失；後續查核時三顆各有不同洗出時間，無法據此還原第一顆當下的畫面。</a:t>
            </a:r>
          </a:p>
        </p:txBody>
      </p:sp>
    </p:spTree>
    <p:extLst>
      <p:ext uri="{BB962C8B-B14F-4D97-AF65-F5344CB8AC3E}">
        <p14:creationId xmlns:p14="http://schemas.microsoft.com/office/powerpoint/2010/main" val="417227310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批次規則｜同一桿號不能沿用上一批狀態">
            <a:extLst xmlns:a="http://schemas.openxmlformats.org/drawingml/2006/main">
              <a:ext uri="{FF2B5EF4-FFF2-40B4-BE49-F238E27FC236}">
                <a16:creationId xmlns:a16="http://schemas.microsoft.com/office/drawing/2014/main" id="{2B6F57A4-DC3A-4C07-955E-5550B0F9FC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批次規則｜同一桿號不能沿用上一批狀態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2D76DCC-FC56-42AA-96A2-0E6D3415D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1">
            <a:extLst xmlns:a="http://schemas.openxmlformats.org/drawingml/2006/main">
              <a:ext uri="{FF2B5EF4-FFF2-40B4-BE49-F238E27FC236}">
                <a16:creationId xmlns:a16="http://schemas.microsoft.com/office/drawing/2014/main" id="{AAADDD4F-5CF9-413C-B1C9-5312058B5D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11</a:t>
            </a:r>
          </a:p>
        </p:txBody>
      </p:sp>
      <p:sp>
        <p:nvSpPr>
          <p:cNvPr id="4" name="同一桿號，可能是不同批盤元">
            <a:extLst xmlns:a="http://schemas.openxmlformats.org/drawingml/2006/main">
              <a:ext uri="{FF2B5EF4-FFF2-40B4-BE49-F238E27FC236}">
                <a16:creationId xmlns:a16="http://schemas.microsoft.com/office/drawing/2014/main" id="{CEE0445E-5B15-4BC1-937A-64272561E6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同一桿號，可能是不同批盤元</a:t>
            </a:r>
          </a:p>
        </p:txBody>
      </p:sp>
      <p:sp>
        <p:nvSpPr>
          <p:cNvPr id="5" name="洗出完成後，11 號桿可能重新裝料；只以「11」作識別，會混">
            <a:extLst xmlns:a="http://schemas.openxmlformats.org/drawingml/2006/main">
              <a:ext uri="{FF2B5EF4-FFF2-40B4-BE49-F238E27FC236}">
                <a16:creationId xmlns:a16="http://schemas.microsoft.com/office/drawing/2014/main" id="{80A7B090-DD6C-4D64-9CB6-911747118C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洗出完成後，11 號桿可能重新裝料；只以「11」作識別，會混用新舊明細與作業狀態。</a:t>
            </a:r>
          </a:p>
        </p:txBody>
      </p:sp>
      <p:sp>
        <p:nvSpPr>
          <p:cNvPr id="6" name="桿次需綁定本次來源紀錄">
            <a:extLst xmlns:a="http://schemas.openxmlformats.org/drawingml/2006/main">
              <a:ext uri="{FF2B5EF4-FFF2-40B4-BE49-F238E27FC236}">
                <a16:creationId xmlns:a16="http://schemas.microsoft.com/office/drawing/2014/main" id="{E42D704F-1B44-4793-9058-668B59FA6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桿次需綁定本次來源紀錄</a:t>
            </a:r>
          </a:p>
        </p:txBody>
      </p:sp>
      <p:sp>
        <p:nvSpPr>
          <p:cNvPr id="7" name="以自主表與批次來源關聯保存本次逐顆明細；新批次建立獨立桿次，">
            <a:extLst xmlns:a="http://schemas.openxmlformats.org/drawingml/2006/main">
              <a:ext uri="{FF2B5EF4-FFF2-40B4-BE49-F238E27FC236}">
                <a16:creationId xmlns:a16="http://schemas.microsoft.com/office/drawing/2014/main" id="{D36AC8D1-2657-4BB7-9878-7AE29AE84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以自主表與批次來源關聯保存本次逐顆明細；新批次建立獨立桿次，不承接舊槽位、計時或急件。</a:t>
            </a:r>
          </a:p>
        </p:txBody>
      </p:sp>
      <p:sp>
        <p:nvSpPr>
          <p:cNvPr id="8" name="資料異常要能被看見">
            <a:extLst xmlns:a="http://schemas.openxmlformats.org/drawingml/2006/main">
              <a:ext uri="{FF2B5EF4-FFF2-40B4-BE49-F238E27FC236}">
                <a16:creationId xmlns:a16="http://schemas.microsoft.com/office/drawing/2014/main" id="{AEBC47AE-3A26-4D4C-B465-4BE6F4B39B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資料異常要能被看見</a:t>
            </a:r>
          </a:p>
        </p:txBody>
      </p:sp>
      <p:sp>
        <p:nvSpPr>
          <p:cNvPr id="9" name="重複顆別列為衝突，不能默默合併；補登、改桿、跨表與跨日案例列">
            <a:extLst xmlns:a="http://schemas.openxmlformats.org/drawingml/2006/main">
              <a:ext uri="{FF2B5EF4-FFF2-40B4-BE49-F238E27FC236}">
                <a16:creationId xmlns:a16="http://schemas.microsoft.com/office/drawing/2014/main" id="{F8AFF79B-99BB-40AD-88F6-F1B37CCA9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重複顆別列為衝突，不能默默合併；補登、改桿、跨表與跨日案例列入後續現場驗收。</a:t>
            </a:r>
          </a:p>
        </p:txBody>
      </p:sp>
      <p:sp>
        <p:nvSpPr>
          <p:cNvPr id="10" name="桿號方便現場辨認；本次批次識別負責確保資料不混用。">
            <a:extLst xmlns:a="http://schemas.openxmlformats.org/drawingml/2006/main">
              <a:ext uri="{FF2B5EF4-FFF2-40B4-BE49-F238E27FC236}">
                <a16:creationId xmlns:a16="http://schemas.microsoft.com/office/drawing/2014/main" id="{635555D6-0045-418D-A412-3E4B3BFADC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桿號方便現場辨認；本次批次識別負責確保資料不混用。</a:t>
            </a:r>
          </a:p>
        </p:txBody>
      </p:sp>
    </p:spTree>
    <p:extLst>
      <p:ext uri="{BB962C8B-B14F-4D97-AF65-F5344CB8AC3E}">
        <p14:creationId xmlns:p14="http://schemas.microsoft.com/office/powerpoint/2010/main" val="7476301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問題四｜資料已洗出，畫面卻要重整才消失">
            <a:extLst xmlns:a="http://schemas.openxmlformats.org/drawingml/2006/main">
              <a:ext uri="{FF2B5EF4-FFF2-40B4-BE49-F238E27FC236}">
                <a16:creationId xmlns:a16="http://schemas.microsoft.com/office/drawing/2014/main" id="{F6998BC4-1917-4F7F-8E72-234038313B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問題四｜資料已洗出，畫面卻要重整才消失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C72B2A67-6605-4487-8641-1B61CD0D5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2">
            <a:extLst xmlns:a="http://schemas.openxmlformats.org/drawingml/2006/main">
              <a:ext uri="{FF2B5EF4-FFF2-40B4-BE49-F238E27FC236}">
                <a16:creationId xmlns:a16="http://schemas.microsoft.com/office/drawing/2014/main" id="{4909193C-DEEC-488F-9EC3-2A666891B9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12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EE425D3-79AC-4363-BE3A-1A751668CC1F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3238500"/>
                <a:gridCol w="4476750"/>
                <a:gridCol w="32575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發現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預期行為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天車／3D 卡片更新延遲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約每 2 秒重新核對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切回分頁、恢復顯示時補查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不重整也能看到狀態變化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明細視窗仍停在舊桿次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資料變動更新內容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完成桿次消失時自動關閉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2D／3D 明細與卡片一致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舊模組或失敗回應仍留內容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上游不使用快取、版本化載入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讀取失敗清除舊 3D 字卡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避免把舊字卡當最新資料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已確認明細更新缺口；原卡片延遲的全部成因，仍缺真實請求紀錄。">
            <a:extLst xmlns:a="http://schemas.openxmlformats.org/drawingml/2006/main">
              <a:ext uri="{FF2B5EF4-FFF2-40B4-BE49-F238E27FC236}">
                <a16:creationId xmlns:a16="http://schemas.microsoft.com/office/drawing/2014/main" id="{77F1E541-A029-4F64-9AAA-04E411EC8B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已確認明細更新缺口；原卡片延遲的全部成因，仍缺真實請求紀錄。</a:t>
            </a:r>
          </a:p>
        </p:txBody>
      </p:sp>
    </p:spTree>
    <p:extLst>
      <p:ext uri="{BB962C8B-B14F-4D97-AF65-F5344CB8AC3E}">
        <p14:creationId xmlns:p14="http://schemas.microsoft.com/office/powerpoint/2010/main" val="1767438265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目前證據｜哪些完成，哪些仍待驗收？">
            <a:extLst xmlns:a="http://schemas.openxmlformats.org/drawingml/2006/main">
              <a:ext uri="{FF2B5EF4-FFF2-40B4-BE49-F238E27FC236}">
                <a16:creationId xmlns:a16="http://schemas.microsoft.com/office/drawing/2014/main" id="{4BDCD4AC-2F4C-4468-B3D2-B37ECB0D8A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目前證據｜哪些完成，哪些仍待驗收？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6994204-1C88-476C-BD5C-856F8F1056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3">
            <a:extLst xmlns:a="http://schemas.openxmlformats.org/drawingml/2006/main">
              <a:ext uri="{FF2B5EF4-FFF2-40B4-BE49-F238E27FC236}">
                <a16:creationId xmlns:a16="http://schemas.microsoft.com/office/drawing/2014/main" id="{818E7A0B-841D-479A-B88D-F606C2933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13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118B584-F5E5-4D2D-96F5-5AC1032CDC14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762250"/>
                <a:gridCol w="4762500"/>
                <a:gridCol w="3448050"/>
              </a:tblGrid>
              <a:tr h="976313"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驗證層級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目前結果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尚不能推論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來源資料與清理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9/29 OPEN 表、逐顆明細核對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清 DEMO，保留自主表桿次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不代表正式生產上線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程式與模擬瀏覽器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 → 2／3 → 完成移除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手機 393px／平板 1024px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不代表實際掃碼已整輪回測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976313"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使用者與現場驗收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先前 AR 急件修正獲確認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最新洗出／同步修正待實測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整班、多使用者、跨日</a:t>
                      </a:r>
                    </a:p>
                    <a:p>
                      <a:r>
                        <a:rPr sz="1725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斷線恢復及客訴效益未驗收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  <p:sp>
        <p:nvSpPr>
          <p:cNvPr id="5" name="可以報告「已部署 DEMO 並通過指定測試」，不能把假設寫成">
            <a:extLst xmlns:a="http://schemas.openxmlformats.org/drawingml/2006/main">
              <a:ext uri="{FF2B5EF4-FFF2-40B4-BE49-F238E27FC236}">
                <a16:creationId xmlns:a16="http://schemas.microsoft.com/office/drawing/2014/main" id="{B7A0EF72-E635-45D3-BB90-48C29939DC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可以報告「已部署 DEMO 並通過指定測試」，不能把假設寫成成效。</a:t>
            </a:r>
          </a:p>
        </p:txBody>
      </p:sp>
    </p:spTree>
    <p:extLst>
      <p:ext uri="{BB962C8B-B14F-4D97-AF65-F5344CB8AC3E}">
        <p14:creationId xmlns:p14="http://schemas.microsoft.com/office/powerpoint/2010/main" val="599211468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論文主軸｜比較現況與 MES＋即時 3D">
            <a:extLst xmlns:a="http://schemas.openxmlformats.org/drawingml/2006/main">
              <a:ext uri="{FF2B5EF4-FFF2-40B4-BE49-F238E27FC236}">
                <a16:creationId xmlns:a16="http://schemas.microsoft.com/office/drawing/2014/main" id="{06526378-D0A4-47EF-8DBA-0838DA3732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論文主軸｜比較現況與 MES＋即時 3D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D80365E7-CC6F-40A1-B6D7-8029313C2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4">
            <a:extLst xmlns:a="http://schemas.openxmlformats.org/drawingml/2006/main">
              <a:ext uri="{FF2B5EF4-FFF2-40B4-BE49-F238E27FC236}">
                <a16:creationId xmlns:a16="http://schemas.microsoft.com/office/drawing/2014/main" id="{71A8B98A-DDE1-48EC-AE9F-C3B588F5D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14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2447B97-6BC3-4A1D-8321-3FF322A41692}"/>
              </a:ext>
            </a:extLst>
          </p:cNvPr>
          <p:cNvGraphicFramePr/>
          <p:nvPr/>
        </p:nvGraphicFramePr>
        <p:xfrm>
          <a:off xmlns:a="http://schemas.openxmlformats.org/drawingml/2006/main" x="609600" y="1381125"/>
          <a:ext xmlns:a="http://schemas.openxmlformats.org/drawingml/2006/main" cx="10972800" cy="3905250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381250"/>
                <a:gridCol w="3905250"/>
                <a:gridCol w="4686300"/>
              </a:tblGrid>
              <a:tr h="781050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分析面向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現況限制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預定量測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入槽後辨識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標示帶被遮住、需再問資料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辨識時間、錯誤數、實物對應率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計時與交接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燈號與口頭交代分散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優先吊出辨識、交接理解時間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四台天車與急件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各自更新，有訊息時間差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狀態一致率、同步與急件反應時間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81050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批次與追溯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逐顆完成與歷程不易核對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整桿誤判數、LOG 完整率、查詢耗時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以相同任務做前後比較；訪談補充操作感受，事件紀錄支撐研究結論">
            <a:extLst xmlns:a="http://schemas.openxmlformats.org/drawingml/2006/main">
              <a:ext uri="{FF2B5EF4-FFF2-40B4-BE49-F238E27FC236}">
                <a16:creationId xmlns:a16="http://schemas.microsoft.com/office/drawing/2014/main" id="{BC640F23-5662-4FFE-9201-039600BF46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以相同任務做前後比較；訪談補充操作感受，事件紀錄支撐研究結論。</a:t>
            </a:r>
          </a:p>
        </p:txBody>
      </p:sp>
    </p:spTree>
    <p:extLst>
      <p:ext uri="{BB962C8B-B14F-4D97-AF65-F5344CB8AC3E}">
        <p14:creationId xmlns:p14="http://schemas.microsoft.com/office/powerpoint/2010/main" val="8591068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DA0DDD6-C768-403D-B764-B1F25A8D55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第一項：入槽後辨識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C23DF33-F186-4729-AAFD-D9C80069C1A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24460edb6394970"/>
          <a:stretch xmlns:a="http://schemas.openxmlformats.org/drawingml/2006/main"/>
        </p:blipFill>
        <p:spPr>
          <a:xfrm xmlns:a="http://schemas.openxmlformats.org/drawingml/2006/main">
            <a:off x="616664" y="1238250"/>
            <a:ext cx="7224872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9912D68-4DF0-4439-AEFC-77689D7596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730C76D-CF79-47F3-B1CC-FAAA7B1CBB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入槽後標示帶被槽液遮住，無法持續辨識顏色。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0505BD-A8D1-4EF2-A935-72D3C1A6EC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34FB4CC-6BE6-472D-82A1-2DA54EDBF6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3D 字卡可保留桿號與材料資料，協助操作員確認。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3FBA3C2-9C60-4D45-89FB-A687260587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觀察：辨識時間、錯誤數與實物對應率。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D2C2C92-D7E4-4C9C-922C-5C05B25D6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20077BD-3218-4923-BE42-03F11E1F9A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838E011-88E3-400F-BC2F-853768C679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15</a:t>
            </a:r>
          </a:p>
        </p:txBody>
      </p:sp>
    </p:spTree>
    <p:extLst>
      <p:ext uri="{BB962C8B-B14F-4D97-AF65-F5344CB8AC3E}">
        <p14:creationId xmlns:p14="http://schemas.microsoft.com/office/powerpoint/2010/main" val="1463421827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33828FA-9D7B-43C4-9C7D-A1A48697D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第二項：計時與交接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7AA8CE6-7958-4BA3-8672-19066AB5AA5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818438a5c94495c"/>
          <a:stretch xmlns:a="http://schemas.openxmlformats.org/drawingml/2006/main"/>
        </p:blipFill>
        <p:spPr>
          <a:xfrm xmlns:a="http://schemas.openxmlformats.org/drawingml/2006/main">
            <a:off x="644318" y="1238250"/>
            <a:ext cx="7169563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66A61C3-BEAD-4B2F-9044-6D58AAB531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A90ECAE-7FA9-4139-BB44-81083E24F3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操作員距離槽體較遠，燈號不容易確認。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B51159-2289-4192-B95A-A43A0019F5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1AC839-E13D-4DFB-AAD0-CBA8171BA5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集中顯示槽位計時與狀態，有助交接和判斷優先吊出。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CBF6A7-6BE4-4E8B-9F54-62392E5BC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觀察：判讀及交接理解時間。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B59044-7B1C-4738-B4A4-C20E57F86B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437CE89-9F8E-4E4E-A085-27410F4DF2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C47A79F-868A-44AB-B49E-B7A8B904D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16</a:t>
            </a:r>
          </a:p>
        </p:txBody>
      </p:sp>
    </p:spTree>
    <p:extLst>
      <p:ext uri="{BB962C8B-B14F-4D97-AF65-F5344CB8AC3E}">
        <p14:creationId xmlns:p14="http://schemas.microsoft.com/office/powerpoint/2010/main" val="544167506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14EAAC6B-28FB-4E18-A9DD-6BD33241D2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第三項：四台天車與急件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C1F4D1B-FDF8-4557-B9FA-8B56BE8A9B12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f13dd19e7774053"/>
          <a:stretch xmlns:a="http://schemas.openxmlformats.org/drawingml/2006/main"/>
        </p:blipFill>
        <p:spPr>
          <a:xfrm xmlns:a="http://schemas.openxmlformats.org/drawingml/2006/main">
            <a:off x="611568" y="1238250"/>
            <a:ext cx="723506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840ACA4-406D-4832-896A-308120AD6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AD94895-1D43-4EAB-819B-71BBB4754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急件主要依靠人員傳達，各台天車可能取得不同資訊。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82111A3-20C6-4C86-A542-1C1BAA434E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6992448-7049-4639-88E3-904590A5BE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主管標示急件順位，四台天車共享同一份最新狀態。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7897504D-F324-43A5-918C-EFC114455B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觀察：狀態一致率與急件反應時間。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45EF6FA-70B4-42BF-AF25-09B6818BB8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4162F00-BD7B-49BB-88F8-BC48EC4B9D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60904F25-30AF-46A5-A443-3850E0F09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17</a:t>
            </a:r>
          </a:p>
        </p:txBody>
      </p:sp>
    </p:spTree>
    <p:extLst>
      <p:ext uri="{BB962C8B-B14F-4D97-AF65-F5344CB8AC3E}">
        <p14:creationId xmlns:p14="http://schemas.microsoft.com/office/powerpoint/2010/main" val="1336273009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344011A-6D4A-4AE8-A373-D99C4B9690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第四項：批次與追溯</a:t>
            </a:r>
          </a:p>
        </p:txBody>
      </p:sp>
      <p:pic>
        <p:nvPic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F3423822-7F8E-4F48-977A-656540600D0A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3170810c6204291"/>
          <a:stretch xmlns:a="http://schemas.openxmlformats.org/drawingml/2006/main"/>
        </p:blipFill>
        <p:spPr>
          <a:xfrm xmlns:a="http://schemas.openxmlformats.org/drawingml/2006/main">
            <a:off x="616598" y="1238250"/>
            <a:ext cx="7225004" cy="4810125"/>
          </a:xfrm>
          <a:prstGeom xmlns:a="http://schemas.openxmlformats.org/drawingml/2006/main" prst="rect">
            <a:avLst/>
          </a:prstGeom>
        </p:spPr>
      </p:pic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C9C107-FD1A-4744-B40F-B298E009BE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4287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現場問題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105CD40-3277-46D1-B15E-FA52CF166F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1885950"/>
            <a:ext cx="3333750" cy="1123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機械計時器原未形成每桿、每槽的可查入槽 LOG。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53B4E1-32FE-48A8-8CD0-781E9A8988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12420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改善方向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E1C38BA-F4DC-439F-9286-A18677D25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3581400"/>
            <a:ext cx="3333750" cy="1190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MES 記錄桿次、槽位和作業事件，協助核對歷程。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4AA8558-0C92-4B26-A3B8-CDA92E8E57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0" y="5095875"/>
            <a:ext cx="333375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65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觀察：LOG 完整率、整桿誤判與查詢時間。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18753C6-7E84-41E9-B5CB-1922FA65B0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172200"/>
            <a:ext cx="7239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7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情境示意：圖中數據與畫面仍需依實際現場驗證。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7752300-685B-4DA9-BE33-D7A259B8E0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D6770F-F2CF-4545-8A96-92AA84817A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18</a:t>
            </a:r>
          </a:p>
        </p:txBody>
      </p:sp>
    </p:spTree>
    <p:extLst>
      <p:ext uri="{BB962C8B-B14F-4D97-AF65-F5344CB8AC3E}">
        <p14:creationId xmlns:p14="http://schemas.microsoft.com/office/powerpoint/2010/main" val="1437530228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5" name="至 11/10 的進度與驗收安排">
            <a:extLst xmlns:a="http://schemas.openxmlformats.org/drawingml/2006/main">
              <a:ext uri="{FF2B5EF4-FFF2-40B4-BE49-F238E27FC236}">
                <a16:creationId xmlns:a16="http://schemas.microsoft.com/office/drawing/2014/main" id="{3FD7F5E3-100B-4A8F-ACC4-B7755F3D5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至 11/10 的進度與驗收安排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6FD33CF8-55E3-4847-BF49-AAB49E1FD4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5">
            <a:extLst xmlns:a="http://schemas.openxmlformats.org/drawingml/2006/main">
              <a:ext uri="{FF2B5EF4-FFF2-40B4-BE49-F238E27FC236}">
                <a16:creationId xmlns:a16="http://schemas.microsoft.com/office/drawing/2014/main" id="{C9295525-9CCC-48BD-A51C-1DD27A5869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19</a:t>
            </a:r>
          </a:p>
        </p:txBody>
      </p:sp>
      <p:graphicFrame>
        <p:nvGraphicFrame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6CF783F-D28E-4CA8-868D-D71AF96307B9}"/>
              </a:ext>
            </a:extLst>
          </p:cNvPr>
          <p:cNvGraphicFramePr/>
          <p:nvPr/>
        </p:nvGraphicFramePr>
        <p:xfrm>
          <a:off xmlns:a="http://schemas.openxmlformats.org/drawingml/2006/main" x="609600" y="1333500"/>
          <a:ext xmlns:a="http://schemas.openxmlformats.org/drawingml/2006/main" cx="10972800" cy="4238625"/>
        </p:xfrm>
        <a:graphic xmlns:a="http://schemas.openxmlformats.org/drawingml/2006/main">
          <a:graphicData uri="http://schemas.openxmlformats.org/drawingml/2006/table">
            <a:tbl>
              <a:tblPr/>
              <a:tblGrid>
                <a:gridCol w="2524125"/>
                <a:gridCol w="4191000"/>
                <a:gridCol w="4257675"/>
              </a:tblGrid>
              <a:tr h="706438"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時程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工作重點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1">
                          <a:solidFill>
                            <a:srgbClr val="FFFFFF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應帶到報告的證據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T w="9525">
                      <a:solidFill>
                        <a:srgbClr val="D6DFE5"/>
                      </a:solidFill>
                      <a:prstDash val="solid"/>
                    </a:lnT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293F8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10/27｜上期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客訴 LOG 缺口與天車 AR 展示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現場問題與研究動機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10/28–29｜已進行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收斂 3D、自主表 DEMO、同步修正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版本、資料規則與測試結果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10/30–11/3｜預定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實際逐顆洗出與四台同步複測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1／3、2／3、完成移除與延遲紀錄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11/4–11/9｜預定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單台支架試行、異常案例與基準設計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準備時間、操作步驟、待驗收項目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FFFFFF"/>
                    </a:solidFill>
                  </a:tcPr>
                </a:tc>
              </a:tr>
              <a:tr h="706438"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11/10｜報告</a:t>
                      </a:r>
                    </a:p>
                  </a:txBody>
                  <a:tcPr marL="91440" marR="91440" marT="45720" marB="45720">
                    <a:lnL w="9525">
                      <a:solidFill>
                        <a:srgbClr val="D6DFE5"/>
                      </a:solidFill>
                      <a:prstDash val="solid"/>
                    </a:lnL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展示資料鏈，討論研究指標與樣本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650" b="0">
                          <a:solidFill>
                            <a:srgbClr val="1B304D"/>
                          </a:solidFill>
                          <a:latin typeface="Microsoft JhengHei"/>
                          <a:ea typeface="Microsoft JhengHei"/>
                          <a:cs typeface="Microsoft JhengHei"/>
                        </a:rPr>
                        <a:t>區分完成成果、限制及下一階段</a:t>
                      </a:r>
                    </a:p>
                  </a:txBody>
                  <a:tcPr marL="91440" marR="91440" marT="45720" marB="45720">
                    <a:lnR w="9525">
                      <a:solidFill>
                        <a:srgbClr val="D6DFE5"/>
                      </a:solidFill>
                      <a:prstDash val="solid"/>
                    </a:lnR>
                    <a:lnB w="9525">
                      <a:solidFill>
                        <a:srgbClr val="D6DFE5"/>
                      </a:solidFill>
                      <a:prstDash val="solid"/>
                    </a:lnB>
                    <a:solidFill>
                      <a:srgbClr val="EEF4F7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55147571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11/10 DEMO｜從真實來源到畫面一致">
            <a:extLst xmlns:a="http://schemas.openxmlformats.org/drawingml/2006/main">
              <a:ext uri="{FF2B5EF4-FFF2-40B4-BE49-F238E27FC236}">
                <a16:creationId xmlns:a16="http://schemas.microsoft.com/office/drawing/2014/main" id="{EF7A1323-551D-4C24-98CD-E5AB273E45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810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925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11/10 DEMO｜從真實來源到畫面一致</a:t>
            </a:r>
          </a:p>
        </p:txBody>
      </p:sp>
      <p:sp>
        <p:nvSpPr>
          <p:cNvPr id="2" name="李冠潾　2026/11/10 面談｜MES 結合即時 3D ">
            <a:extLst xmlns:a="http://schemas.openxmlformats.org/drawingml/2006/main">
              <a:ext uri="{FF2B5EF4-FFF2-40B4-BE49-F238E27FC236}">
                <a16:creationId xmlns:a16="http://schemas.microsoft.com/office/drawing/2014/main" id="{53D4AD30-F1FB-4660-B4EF-68CB647802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287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李冠潾　2026/11/10 面談｜MES 結合即時 3D 視覺化</a:t>
            </a:r>
          </a:p>
        </p:txBody>
      </p:sp>
      <p:sp>
        <p:nvSpPr>
          <p:cNvPr id="3" name="16">
            <a:extLst xmlns:a="http://schemas.openxmlformats.org/drawingml/2006/main">
              <a:ext uri="{FF2B5EF4-FFF2-40B4-BE49-F238E27FC236}">
                <a16:creationId xmlns:a16="http://schemas.microsoft.com/office/drawing/2014/main" id="{201E0E40-E0B6-43D1-915B-B589B831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0" y="6477000"/>
            <a:ext cx="5334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125" b="0">
                <a:solidFill>
                  <a:srgbClr val="75808A"/>
                </a:solidFill>
                <a:latin typeface="Microsoft JhengHei"/>
                <a:ea typeface="Microsoft JhengHei"/>
                <a:cs typeface="Microsoft JhengHei"/>
              </a:rPr>
              <a:t>20</a:t>
            </a:r>
          </a:p>
        </p:txBody>
      </p:sp>
      <p:sp>
        <p:nvSpPr>
          <p:cNvPr id="4" name="第一步：自主表入洗 → 待入槽">
            <a:extLst xmlns:a="http://schemas.openxmlformats.org/drawingml/2006/main">
              <a:ext uri="{FF2B5EF4-FFF2-40B4-BE49-F238E27FC236}">
                <a16:creationId xmlns:a16="http://schemas.microsoft.com/office/drawing/2014/main" id="{B89679A5-DA98-4330-9133-CD78B200D1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3811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第一步：自主表入洗 → 待入槽</a:t>
            </a:r>
          </a:p>
        </p:txBody>
      </p:sp>
      <p:sp>
        <p:nvSpPr>
          <p:cNvPr id="5" name="確認最新 OPEN 表與資料日期；查看同桿逐顆材料，台車選槽">
            <a:extLst xmlns:a="http://schemas.openxmlformats.org/drawingml/2006/main">
              <a:ext uri="{FF2B5EF4-FFF2-40B4-BE49-F238E27FC236}">
                <a16:creationId xmlns:a16="http://schemas.microsoft.com/office/drawing/2014/main" id="{49DB9DB2-9BB7-4EC3-90CB-BA11581764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8288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確認最新 OPEN 表與資料日期；查看同桿逐顆材料，台車選槽並計時，3D 顯示對應字卡。</a:t>
            </a:r>
          </a:p>
        </p:txBody>
      </p:sp>
      <p:sp>
        <p:nvSpPr>
          <p:cNvPr id="6" name="第二步：主管急件 → 四台共同查看">
            <a:extLst xmlns:a="http://schemas.openxmlformats.org/drawingml/2006/main">
              <a:ext uri="{FF2B5EF4-FFF2-40B4-BE49-F238E27FC236}">
                <a16:creationId xmlns:a16="http://schemas.microsoft.com/office/drawing/2014/main" id="{36C0803E-BF2B-4E34-8FA7-3C8AD9673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73367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第二步：主管急件 → 四台共同查看</a:t>
            </a:r>
          </a:p>
        </p:txBody>
      </p:sp>
      <p:sp>
        <p:nvSpPr>
          <p:cNvPr id="7" name="主管標示急件 1，確認台車、主管及 3D 看到相同桿次與順位">
            <a:extLst xmlns:a="http://schemas.openxmlformats.org/drawingml/2006/main">
              <a:ext uri="{FF2B5EF4-FFF2-40B4-BE49-F238E27FC236}">
                <a16:creationId xmlns:a16="http://schemas.microsoft.com/office/drawing/2014/main" id="{B62A05A7-47E1-4983-B192-06A0BC7362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18135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主管標示急件 1，確認台車、主管及 3D 看到相同桿次與順位；記錄各畫面更新時間。</a:t>
            </a:r>
          </a:p>
        </p:txBody>
      </p:sp>
      <p:sp>
        <p:nvSpPr>
          <p:cNvPr id="8" name="第三步：逐顆洗出 → 整桿完成">
            <a:extLst xmlns:a="http://schemas.openxmlformats.org/drawingml/2006/main">
              <a:ext uri="{FF2B5EF4-FFF2-40B4-BE49-F238E27FC236}">
                <a16:creationId xmlns:a16="http://schemas.microsoft.com/office/drawing/2014/main" id="{EACF1426-4AAA-41DF-A3FC-06EAD751D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86225"/>
            <a:ext cx="109728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00" b="1">
                <a:solidFill>
                  <a:srgbClr val="293F87"/>
                </a:solidFill>
                <a:latin typeface="Microsoft JhengHei"/>
                <a:ea typeface="Microsoft JhengHei"/>
                <a:cs typeface="Microsoft JhengHei"/>
              </a:rPr>
              <a:t>第三步：逐顆洗出 → 整桿完成</a:t>
            </a:r>
          </a:p>
        </p:txBody>
      </p:sp>
      <p:sp>
        <p:nvSpPr>
          <p:cNvPr id="9" name="依序驗證 1／3、2／3 保留；全數完成才移除卡片、關閉明細">
            <a:extLst xmlns:a="http://schemas.openxmlformats.org/drawingml/2006/main">
              <a:ext uri="{FF2B5EF4-FFF2-40B4-BE49-F238E27FC236}">
                <a16:creationId xmlns:a16="http://schemas.microsoft.com/office/drawing/2014/main" id="{ECF75E07-EAD7-4340-84E9-F5EDAD1E96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533900"/>
            <a:ext cx="10972800" cy="809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0">
                <a:solidFill>
                  <a:srgbClr val="1B304D"/>
                </a:solidFill>
                <a:latin typeface="Microsoft JhengHei"/>
                <a:ea typeface="Microsoft JhengHei"/>
                <a:cs typeface="Microsoft JhengHei"/>
              </a:rPr>
              <a:t>依序驗證 1／3、2／3 保留；全數完成才移除卡片、關閉明細，歷史仍可查，再驗證同桿換批。</a:t>
            </a:r>
          </a:p>
        </p:txBody>
      </p:sp>
      <p:sp>
        <p:nvSpPr>
          <p:cNvPr id="10" name="使用可測試的新桿次；來源業務操作由有權限人員確認。">
            <a:extLst xmlns:a="http://schemas.openxmlformats.org/drawingml/2006/main">
              <a:ext uri="{FF2B5EF4-FFF2-40B4-BE49-F238E27FC236}">
                <a16:creationId xmlns:a16="http://schemas.microsoft.com/office/drawing/2014/main" id="{E303791B-B289-4530-8B76-2C41FDF82D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857875"/>
            <a:ext cx="10972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/>
          <a:lstStyle xmlns:a="http://schemas.openxmlformats.org/drawingml/2006/main">
            <a:defPPr algn="l"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defPPr>
            <a:lvl1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1pPr>
            <a:lvl2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2pPr>
            <a:lvl3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3pPr>
            <a:lvl4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4pPr>
            <a:lvl5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5pPr>
            <a:lvl6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6pPr>
            <a:lvl7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7pPr>
            <a:lvl8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8pPr>
            <a:lvl9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 algn="l">
              <a:buNone/>
              <a:def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00" b="1">
                <a:solidFill>
                  <a:srgbClr val="B56800"/>
                </a:solidFill>
                <a:latin typeface="Microsoft JhengHei"/>
                <a:ea typeface="Microsoft JhengHei"/>
                <a:cs typeface="Microsoft JhengHei"/>
              </a:rPr>
              <a:t>使用可測試的新桿次；來源業務操作由有權限人員確認。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1039667215"/>
      </p:ext>
    </p:extLst>
  </p:cSld>
</p:sld>
</file>

<file path=ppt/slides/slide21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3085B62-2D36-45AB-BE0E-91D653B72D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1/4：既有加工需求的來源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136FFD6-0549-4DB7-B526-A060BDAA3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2866A32-6E27-4B6D-A129-DD28AD8DA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21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06F73E5C-7CDA-416F-8FEA-DA8022850EFB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01e29504b94999"/>
          <a:stretch xmlns:a="http://schemas.openxmlformats.org/drawingml/2006/main"/>
        </p:blipFill>
        <p:spPr>
          <a:xfrm xmlns:a="http://schemas.openxmlformats.org/drawingml/2006/main">
            <a:off x="88421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EFE4326-6E58-4040-A4CD-0CC203DD0CB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45c025a593a479a"/>
          <a:stretch xmlns:a="http://schemas.openxmlformats.org/drawingml/2006/main"/>
        </p:blipFill>
        <p:spPr>
          <a:xfrm xmlns:a="http://schemas.openxmlformats.org/drawingml/2006/main">
            <a:off x="4598962" y="1285875"/>
            <a:ext cx="2784527" cy="3857625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E30619D-5042-4F84-A834-B8474A5359F9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87bb4c29e3374bb7"/>
          <a:stretch xmlns:a="http://schemas.openxmlformats.org/drawingml/2006/main"/>
        </p:blipFill>
        <p:spPr>
          <a:xfrm xmlns:a="http://schemas.openxmlformats.org/drawingml/2006/main">
            <a:off x="8313712" y="1285875"/>
            <a:ext cx="2784527" cy="3857625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8055F38-4260-4CA5-A991-8EF79BDAEA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委外加工排程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FE55B3B-1D9B-40E0-912F-6830DC2AE5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盤元催料資料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5A6B0BCF-6793-479F-AFDA-3A66A13BA5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57800"/>
            <a:ext cx="3381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球化相關催料資料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AAD1AC-F06F-4F61-8C4B-6EB62A7C7E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既有單位決定加工安排；本系統接收需求，從實際入庫開始串接。</a:t>
            </a:r>
          </a:p>
        </p:txBody>
      </p:sp>
    </p:spTree>
    <p:extLst>
      <p:ext uri="{BB962C8B-B14F-4D97-AF65-F5344CB8AC3E}">
        <p14:creationId xmlns:p14="http://schemas.microsoft.com/office/powerpoint/2010/main" val="329344199"/>
      </p:ext>
    </p:extLst>
  </p:cSld>
</p:sld>
</file>

<file path=ppt/slides/slide22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B06FF42-B238-48B7-A452-F17EDC8CD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2/4：生管建立 MES 催料單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9024E29-B0DE-4227-ABC9-B19E4F9229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827265E-5D8A-4488-A91F-84A51217A5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22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BE98927-FCBA-4404-A00A-7E57687A70D0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fc551de3a754e4f"/>
          <a:stretch xmlns:a="http://schemas.openxmlformats.org/drawingml/2006/main"/>
        </p:blipFill>
        <p:spPr>
          <a:xfrm xmlns:a="http://schemas.openxmlformats.org/drawingml/2006/main">
            <a:off x="609600" y="1745601"/>
            <a:ext cx="10972800" cy="2033298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3BDF5F0-76DB-4226-B60A-46613239A8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1　核對工令與客戶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F808910-2F66-498D-8B02-BC899DC9AC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2　登錄規格與預計件數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83F6408-80C6-4BE4-A12C-B900338957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4286250"/>
            <a:ext cx="3571875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17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3　儲存催料單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35CB78E-F440-4788-94E9-883B45BF12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9728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紙本需求提供輸入依據，MES 保存工令、製程、材質、線徑與件數。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3C6C76E-9A7D-4B2E-9868-7E0EAF8630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此時只有預計加工資料，是否到場仍待收料人員確認。</a:t>
            </a:r>
          </a:p>
        </p:txBody>
      </p:sp>
    </p:spTree>
    <p:extLst>
      <p:ext uri="{BB962C8B-B14F-4D97-AF65-F5344CB8AC3E}">
        <p14:creationId xmlns:p14="http://schemas.microsoft.com/office/powerpoint/2010/main" val="414961674"/>
      </p:ext>
    </p:extLst>
  </p:cSld>
</p:sld>
</file>

<file path=ppt/slides/slide23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7EC1737-1832-4D80-B5A9-E4DA7B88D5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3/4：訂單找資料，條碼認物料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28B733-95B3-4658-94D6-72FD695DD5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A841221-CFC2-46BD-BC56-719F7E2A72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23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39C20A5-5C34-4386-857E-A9D87626CF76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5cfecc33e54045e9"/>
          <a:stretch xmlns:a="http://schemas.openxmlformats.org/drawingml/2006/main"/>
        </p:blipFill>
        <p:spPr>
          <a:xfrm xmlns:a="http://schemas.openxmlformats.org/drawingml/2006/main">
            <a:off x="633459" y="1381125"/>
            <a:ext cx="3381283" cy="3143250"/>
          </a:xfrm>
          <a:prstGeom xmlns:a="http://schemas.openxmlformats.org/drawingml/2006/main" prst="rect">
            <a:avLst/>
          </a:prstGeom>
        </p:spPr>
      </p:pic>
      <p:pic>
        <p:nvPic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C9C24AB-2A04-4FB8-8968-E3B0B8C2489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e922c956a10d49fe"/>
          <a:stretch xmlns:a="http://schemas.openxmlformats.org/drawingml/2006/main"/>
        </p:blipFill>
        <p:spPr>
          <a:xfrm xmlns:a="http://schemas.openxmlformats.org/drawingml/2006/main">
            <a:off x="5031921" y="1333500"/>
            <a:ext cx="2032909" cy="3333750"/>
          </a:xfrm>
          <a:prstGeom xmlns:a="http://schemas.openxmlformats.org/drawingml/2006/main" prst="rect">
            <a:avLst/>
          </a:prstGeom>
        </p:spPr>
      </p:pic>
      <p:pic>
        <p:nvPic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414459B-BDBD-487E-9573-35F67A7670CE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9f56cd2e67b4cb0"/>
          <a:stretch xmlns:a="http://schemas.openxmlformats.org/drawingml/2006/main"/>
        </p:blipFill>
        <p:spPr>
          <a:xfrm xmlns:a="http://schemas.openxmlformats.org/drawingml/2006/main">
            <a:off x="8512687" y="1333500"/>
            <a:ext cx="2500877" cy="3333750"/>
          </a:xfrm>
          <a:prstGeom xmlns:a="http://schemas.openxmlformats.org/drawingml/2006/main" prst="rect">
            <a:avLst/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58EB3E1-0004-4E18-BFB0-FA4F46FA31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訂單／工令號碼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DB717EA-72D1-450D-BD74-CFEB16153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搜尋對應催料單。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2CFEB0-8BF7-405E-99F3-34236D8A2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4667250"/>
            <a:ext cx="3429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原鐵牌條碼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4636F2B-A390-4177-876C-4E39D332DA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33875" y="5200650"/>
            <a:ext cx="342900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可讀取且能區分盤元時沿用。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FCA2EAB-96BC-4EC1-BD7C-B26C55129E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4667250"/>
            <a:ext cx="3333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2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備用 QR Code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9C5A32B-A00C-4A1E-919B-D97C47844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200650"/>
            <a:ext cx="3333750" cy="1095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0">
                <a:solidFill>
                  <a:srgbClr val="172B42"/>
                </a:solidFill>
                <a:latin typeface="Microsoft JhengHei"/>
                <a:ea typeface="Microsoft JhengHei"/>
                <a:cs typeface="Microsoft JhengHei"/>
              </a:rPr>
              <a:t>原碼損毀時才補貼。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99A9ECF-69F6-46C4-B9C3-E4FF06BE1F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同一工單可串接多顆盤元，每顆保存自己的識別碼與重量。</a:t>
            </a:r>
          </a:p>
        </p:txBody>
      </p:sp>
    </p:spTree>
    <p:extLst>
      <p:ext uri="{BB962C8B-B14F-4D97-AF65-F5344CB8AC3E}">
        <p14:creationId xmlns:p14="http://schemas.microsoft.com/office/powerpoint/2010/main" val="155012868"/>
      </p:ext>
    </p:extLst>
  </p:cSld>
</p:sld>
</file>

<file path=ppt/slides/slide24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0609B46-E30F-413B-9210-181D3BEAF4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入庫串接 4/4：收料人員確認入庫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747E104-099A-4A46-8EE4-FF60495DBF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D4437B-0E9B-4E95-94C1-17109506B1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24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E53B0D77-31AD-4EF7-96A9-74AB7AE33C78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fe9159fdb6ad4d31"/>
          <a:stretch xmlns:a="http://schemas.openxmlformats.org/drawingml/2006/main"/>
        </p:blipFill>
        <p:spPr>
          <a:xfrm xmlns:a="http://schemas.openxmlformats.org/drawingml/2006/main">
            <a:off x="654685" y="1285875"/>
            <a:ext cx="10882630" cy="3667125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80E049B-925A-4625-88D9-6C39E3F78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① 搜尋並選取工單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E8585BCF-FB17-4DF5-BAA8-D69222BE1B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② 核對物料資料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5ABF6BC-5D05-451E-A0B4-4F062D452B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③ 掃描條碼／QR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D5B6975-9213-4F40-B4D3-A08ED8FAEB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0" y="5143500"/>
            <a:ext cx="26860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9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④ 確認重量、入庫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A1F48EC-FF54-4F12-A930-B252B0E66C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完成入庫後，後續人員掃描同一識別碼，就能連到既有物料資料。</a:t>
            </a:r>
          </a:p>
        </p:txBody>
      </p:sp>
    </p:spTree>
    <p:extLst>
      <p:ext uri="{BB962C8B-B14F-4D97-AF65-F5344CB8AC3E}">
        <p14:creationId xmlns:p14="http://schemas.microsoft.com/office/powerpoint/2010/main" val="1682946538"/>
      </p:ext>
    </p:extLst>
  </p:cSld>
</p:sld>
</file>

<file path=ppt/slides/slide25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C231163-2DEB-40C1-A6DC-5BCF68F707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洗入回報：掃碼後記錄進場酸洗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C984C9-B405-4562-8EC7-BF2A9FB729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F0C28D2-64E7-4D13-A0F0-AA53CC3CD0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25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86A36F3-B5BC-40AA-8A2A-D5A9BA65EA4D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29929735f234e13"/>
          <a:stretch xmlns:a="http://schemas.openxmlformats.org/drawingml/2006/main"/>
        </p:blipFill>
        <p:spPr>
          <a:xfrm xmlns:a="http://schemas.openxmlformats.org/drawingml/2006/main">
            <a:off x="620183" y="1333500"/>
            <a:ext cx="10951633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F81DC6C1-98D8-4761-AF58-4B26304A2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選擇藍底「掃碼洗入」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8B15A08-893B-4CF6-9F38-73DCA57871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掃碼並填爐號、桿號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11DCFCE-0832-4604-BF32-681772DE9D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按下「確認洗入」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602A7885-435B-4867-96D5-3D23478508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系統回報入洗時間與物料資料，讓其他人知道這顆盤元已進入加工。</a:t>
            </a:r>
          </a:p>
        </p:txBody>
      </p:sp>
    </p:spTree>
    <p:extLst>
      <p:ext uri="{BB962C8B-B14F-4D97-AF65-F5344CB8AC3E}">
        <p14:creationId xmlns:p14="http://schemas.microsoft.com/office/powerpoint/2010/main" val="317723902"/>
      </p:ext>
    </p:extLst>
  </p:cSld>
</p:sld>
</file>

<file path=ppt/slides/slide26.xml><?xml version="1.0" encoding="utf-8"?>
<p:sld xmlns:p="http://schemas.openxmlformats.org/presentationml/2006/main">
  <p:cSld>
    <p:bg>
      <p:bgPr>
        <a:solidFill xmlns:a="http://schemas.openxmlformats.org/drawingml/2006/main">
          <a:srgbClr val="FFFFFF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E269F67-3435-442C-9A42-705CE71F2A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109728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3150" b="1">
                <a:solidFill>
                  <a:srgbClr val="273D7D"/>
                </a:solidFill>
                <a:latin typeface="Microsoft JhengHei"/>
                <a:ea typeface="Microsoft JhengHei"/>
                <a:cs typeface="Microsoft JhengHei"/>
              </a:rPr>
              <a:t>洗出回報：再次掃碼確認酸洗完工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85DCD11-5F5E-4A6A-8D95-3E92E4B8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77000"/>
            <a:ext cx="10477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李冠潾　2026/11/10 面談　MES 現場回報與資訊共享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CF8F43E-3E4C-43CF-AF94-487EB4E2A5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77000"/>
            <a:ext cx="428625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200" b="0">
                <a:solidFill>
                  <a:srgbClr val="596574"/>
                </a:solidFill>
                <a:latin typeface="Microsoft JhengHei"/>
                <a:ea typeface="Microsoft JhengHei"/>
                <a:cs typeface="Microsoft JhengHei"/>
              </a:rPr>
              <a:t>26</a:t>
            </a:r>
          </a:p>
        </p:txBody>
      </p:sp>
      <p:pic>
        <p:nvPic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DF09547D-246B-48F7-BA56-258B7490B854}"/>
              </a:ext>
            </a:extLst>
          </p:cNvPr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2299b545eb314d2d"/>
          <a:stretch xmlns:a="http://schemas.openxmlformats.org/drawingml/2006/main"/>
        </p:blipFill>
        <p:spPr>
          <a:xfrm xmlns:a="http://schemas.openxmlformats.org/drawingml/2006/main">
            <a:off x="793494" y="1333500"/>
            <a:ext cx="10605012" cy="3714750"/>
          </a:xfrm>
          <a:prstGeom xmlns:a="http://schemas.openxmlformats.org/drawingml/2006/main" prst="rect">
            <a:avLst/>
          </a:prstGeom>
        </p:spPr>
      </p:pic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5E1581A3-99A8-4EDD-B2E4-61F0E4A74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選擇橘底「掃碼洗出」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D1B40E3-72B4-47B9-AB1B-E0C0E9F33A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掃碼、核對原洗入資料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3EFF0E4-475B-4916-BEEB-CA0BD01B5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39100" y="5238750"/>
            <a:ext cx="3571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202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按下「確認洗出」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3645A718-17D2-48CC-9518-920C5A311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05500"/>
            <a:ext cx="109728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>
            <a:noAutofit/>
          </a:bodyPr>
          <a:lstStyle xmlns:a="http://schemas.openxmlformats.org/drawingml/2006/main">
            <a:defPPr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defPPr>
            <a:lvl1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1pPr>
            <a:lvl2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2pPr>
            <a:lvl3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3pPr>
            <a:lvl4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4pPr>
            <a:lvl5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5pPr>
            <a:lvl6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6pPr>
            <a:lvl7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7pPr>
            <a:lvl8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8pPr>
            <a:lvl9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lvl9pPr>
          </a:lstStyle>
          <a:p xmlns:a="http://schemas.openxmlformats.org/drawingml/2006/main">
            <a:pPr>
              <a:buNone/>
              <a:def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defRPr>
            </a:pPr>
            <a:r>
              <a:rPr sz="1875" b="1">
                <a:solidFill>
                  <a:srgbClr val="B56300"/>
                </a:solidFill>
                <a:latin typeface="Microsoft JhengHei"/>
                <a:ea typeface="Microsoft JhengHei"/>
                <a:cs typeface="Microsoft JhengHei"/>
              </a:rPr>
              <a:t>確認洗出才代表酸洗完工，洗出時間提供中央生管及下游準備依據。</a:t>
            </a:r>
          </a:p>
        </p:txBody>
      </p:sp>
    </p:spTree>
    <p:extLst>
      <p:ext uri="{BB962C8B-B14F-4D97-AF65-F5344CB8AC3E}">
        <p14:creationId xmlns:p14="http://schemas.microsoft.com/office/powerpoint/2010/main" val="687521212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">
      <a:majorFont>
        <a:latin typeface="Aptos"/>
        <a:ea typeface=""/>
        <a:cs typeface=""/>
      </a:majorFont>
      <a:minorFont>
        <a:latin typeface="Aptos"/>
        <a:ea typeface=""/>
        <a:cs typeface="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2026-10-30T02:28:48.5190000Z</dcterms:created>
  <dcterms:modified xsi:type="dcterms:W3CDTF">2026-10-30T02:28:48.5190000Z</dcterms:modified>
</coreProperties>
</file>